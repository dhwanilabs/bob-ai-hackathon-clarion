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Lst>
  <p:notesMasterIdLst>
    <p:notesMasterId r:id="rId10"/>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notesMaster" Target="notesMasters/notesMaster1.xml"/><Relationship Id="rId11" Type="http://schemas.openxmlformats.org/officeDocument/2006/relationships/presProps" Target="presProps.xml"/><Relationship Id="rId12" Type="http://schemas.openxmlformats.org/officeDocument/2006/relationships/viewProps" Target="viewProps.xml"/><Relationship Id="rId13" Type="http://schemas.openxmlformats.org/officeDocument/2006/relationships/theme" Target="theme/theme1.xml"/><Relationship Id="rId14"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Open simply: the watch floor is not short of data, it is short of decisions. Five sections follow.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Point at the lines converging on one team. Both failure modes — missing a threat and chasing a false alarm — come from the same cause: alerts are judged one at a time, inside the feed that produced them.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34 incidents include 28 that were set aside as false alarms — each with a written reason an analyst can overturn. That is what makes the reduction safe rather than reckless.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 it left to right once. The two bands at the bottom are layers, not steps: everything is logged, and the whole thing runs on watsonx.</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is the whole system in one story. Three alerts nobody would chase on their own. Say clearly that only the cyber alert is cyber activity — the radio and satellite alerts back it up, and that cross-check is what a single-feed system cannot do. Then the track: everything left of WE ARE HERE we have actually seen, with the time we saw it. Everything right of it is what we expect next, and each of those is something to go and look for. Finish by reading the brief aloud.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 any column top to bottom: what Bob did to build that step, the step itself, what watsonx does when it runs. If asked about AI making things up — Guardian checks every claim, and the ranking never touches a model, so if watsonx goes down the brief gets plainer but the priorities stay correct.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Do not claim a market size. The honest claim is narrower and stronger: the matching engine does not care what the feeds are about, so a new control room is new readers plus a list of what matters, not a rebuild.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Leave this up during questions. The repo link and the three numbers stay on screen. If nobody asks, offer the two you most want to answer: how the score is calculated, and what happens if watsonx goes down.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66928" y="1481328"/>
            <a:ext cx="8686800" cy="292608"/>
          </a:xfrm>
          <a:prstGeom prst="rect">
            <a:avLst/>
          </a:prstGeom>
          <a:noFill/>
          <a:ln/>
        </p:spPr>
        <p:txBody>
          <a:bodyPr wrap="square" lIns="0" tIns="0" rIns="0" bIns="0" rtlCol="0" anchor="ctr"/>
          <a:lstStyle/>
          <a:p>
            <a:pPr indent="0" marL="0">
              <a:buNone/>
            </a:pPr>
            <a:r>
              <a:rPr lang="en-US" sz="1300" b="1" spc="160" kern="0" dirty="0">
                <a:solidFill>
                  <a:srgbClr val="3E8695"/>
                </a:solidFill>
                <a:latin typeface="Calibri" pitchFamily="34" charset="0"/>
                <a:ea typeface="Calibri" pitchFamily="34" charset="-122"/>
                <a:cs typeface="Calibri" pitchFamily="34" charset="-120"/>
              </a:rPr>
              <a:t>Challenge D2  ·  Threat Intelligence Correlation &amp; Alert Prioritisation</a:t>
            </a:r>
            <a:endParaRPr lang="en-US" sz="1300" dirty="0"/>
          </a:p>
        </p:txBody>
      </p:sp>
      <p:sp>
        <p:nvSpPr>
          <p:cNvPr id="3" name="Text 1"/>
          <p:cNvSpPr txBox="1"/>
          <p:nvPr/>
        </p:nvSpPr>
        <p:spPr>
          <a:xfrm>
            <a:off x="566928" y="1920240"/>
            <a:ext cx="7863840" cy="1097280"/>
          </a:xfrm>
          <a:prstGeom prst="rect">
            <a:avLst/>
          </a:prstGeom>
          <a:noFill/>
          <a:ln/>
        </p:spPr>
        <p:txBody>
          <a:bodyPr wrap="square" lIns="0" tIns="0" rIns="0" bIns="0" rtlCol="0" anchor="ctr"/>
          <a:lstStyle/>
          <a:p>
            <a:pPr indent="0" marL="0">
              <a:buNone/>
            </a:pPr>
            <a:r>
              <a:rPr lang="en-US" sz="6800" b="1" spc="300" kern="0" dirty="0">
                <a:solidFill>
                  <a:srgbClr val="10212A"/>
                </a:solidFill>
                <a:latin typeface="Cambria" pitchFamily="34" charset="0"/>
                <a:ea typeface="Cambria" pitchFamily="34" charset="-122"/>
                <a:cs typeface="Cambria" pitchFamily="34" charset="-120"/>
              </a:rPr>
              <a:t>CLARION</a:t>
            </a:r>
            <a:endParaRPr lang="en-US" sz="6800" dirty="0"/>
          </a:p>
        </p:txBody>
      </p:sp>
      <p:sp>
        <p:nvSpPr>
          <p:cNvPr id="4" name="Text 2"/>
          <p:cNvSpPr txBox="1"/>
          <p:nvPr/>
        </p:nvSpPr>
        <p:spPr>
          <a:xfrm>
            <a:off x="566928" y="3054096"/>
            <a:ext cx="8046720" cy="502920"/>
          </a:xfrm>
          <a:prstGeom prst="rect">
            <a:avLst/>
          </a:prstGeom>
          <a:noFill/>
          <a:ln/>
        </p:spPr>
        <p:txBody>
          <a:bodyPr wrap="square" lIns="0" tIns="0" rIns="0" bIns="0" rtlCol="0" anchor="ctr"/>
          <a:lstStyle/>
          <a:p>
            <a:pPr indent="0" marL="0">
              <a:buNone/>
            </a:pPr>
            <a:r>
              <a:rPr lang="en-US" sz="2600" i="1" dirty="0">
                <a:solidFill>
                  <a:srgbClr val="B5781F"/>
                </a:solidFill>
                <a:latin typeface="Cambria" pitchFamily="34" charset="0"/>
                <a:ea typeface="Cambria" pitchFamily="34" charset="-122"/>
                <a:cs typeface="Cambria" pitchFamily="34" charset="-120"/>
              </a:rPr>
              <a:t>Turns 4,812 alerts into 6 decisions.</a:t>
            </a:r>
            <a:endParaRPr lang="en-US" sz="2600" dirty="0"/>
          </a:p>
        </p:txBody>
      </p:sp>
      <p:sp>
        <p:nvSpPr>
          <p:cNvPr id="5" name="Text 3"/>
          <p:cNvSpPr txBox="1"/>
          <p:nvPr/>
        </p:nvSpPr>
        <p:spPr>
          <a:xfrm>
            <a:off x="566928" y="3657600"/>
            <a:ext cx="7498080" cy="365760"/>
          </a:xfrm>
          <a:prstGeom prst="rect">
            <a:avLst/>
          </a:prstGeom>
          <a:noFill/>
          <a:ln/>
        </p:spPr>
        <p:txBody>
          <a:bodyPr wrap="square" lIns="0" tIns="0" rIns="0" bIns="0" rtlCol="0" anchor="ctr"/>
          <a:lstStyle/>
          <a:p>
            <a:pPr indent="0" marL="0">
              <a:buNone/>
            </a:pPr>
            <a:r>
              <a:rPr lang="en-US" sz="1700" dirty="0">
                <a:solidFill>
                  <a:srgbClr val="35474F"/>
                </a:solidFill>
                <a:latin typeface="Calibri" pitchFamily="34" charset="0"/>
                <a:ea typeface="Calibri" pitchFamily="34" charset="-122"/>
                <a:cs typeface="Calibri" pitchFamily="34" charset="-120"/>
              </a:rPr>
              <a:t>Threat correlation and plain-English briefing for the defence watch floor.</a:t>
            </a:r>
            <a:endParaRPr lang="en-US" sz="1700" dirty="0"/>
          </a:p>
        </p:txBody>
      </p:sp>
      <p:sp>
        <p:nvSpPr>
          <p:cNvPr id="6" name="Text 4"/>
          <p:cNvSpPr txBox="1"/>
          <p:nvPr/>
        </p:nvSpPr>
        <p:spPr>
          <a:xfrm>
            <a:off x="8412480" y="1874520"/>
            <a:ext cx="1463040" cy="685800"/>
          </a:xfrm>
          <a:prstGeom prst="rect">
            <a:avLst/>
          </a:prstGeom>
          <a:noFill/>
          <a:ln/>
        </p:spPr>
        <p:txBody>
          <a:bodyPr wrap="square" lIns="0" tIns="0" rIns="0" bIns="0" rtlCol="0" anchor="ctr"/>
          <a:lstStyle/>
          <a:p>
            <a:pPr algn="r" indent="0" marL="0">
              <a:buNone/>
            </a:pPr>
            <a:r>
              <a:rPr lang="en-US" sz="4600" b="1" dirty="0">
                <a:solidFill>
                  <a:srgbClr val="3E8695"/>
                </a:solidFill>
                <a:latin typeface="Cambria" pitchFamily="34" charset="0"/>
                <a:ea typeface="Cambria" pitchFamily="34" charset="-122"/>
                <a:cs typeface="Cambria" pitchFamily="34" charset="-120"/>
              </a:rPr>
              <a:t>6</a:t>
            </a:r>
            <a:endParaRPr lang="en-US" sz="4600" dirty="0"/>
          </a:p>
        </p:txBody>
      </p:sp>
      <p:sp>
        <p:nvSpPr>
          <p:cNvPr id="7" name="Text 5"/>
          <p:cNvSpPr txBox="1"/>
          <p:nvPr/>
        </p:nvSpPr>
        <p:spPr>
          <a:xfrm>
            <a:off x="10058400" y="2075688"/>
            <a:ext cx="1828800" cy="420624"/>
          </a:xfrm>
          <a:prstGeom prst="rect">
            <a:avLst/>
          </a:prstGeom>
          <a:noFill/>
          <a:ln/>
        </p:spPr>
        <p:txBody>
          <a:bodyPr wrap="square" lIns="0" tIns="0" rIns="0" bIns="0" rtlCol="0" anchor="ctr"/>
          <a:lstStyle/>
          <a:p>
            <a:pPr indent="0" marL="0">
              <a:buNone/>
            </a:pPr>
            <a:r>
              <a:rPr lang="en-US" sz="1400" dirty="0">
                <a:solidFill>
                  <a:srgbClr val="35474F"/>
                </a:solidFill>
                <a:latin typeface="Calibri" pitchFamily="34" charset="0"/>
                <a:ea typeface="Calibri" pitchFamily="34" charset="-122"/>
                <a:cs typeface="Calibri" pitchFamily="34" charset="-120"/>
              </a:rPr>
              <a:t>feeds fused</a:t>
            </a:r>
            <a:endParaRPr lang="en-US" sz="1400" dirty="0"/>
          </a:p>
        </p:txBody>
      </p:sp>
      <p:sp>
        <p:nvSpPr>
          <p:cNvPr id="8" name="Text 6"/>
          <p:cNvSpPr txBox="1"/>
          <p:nvPr/>
        </p:nvSpPr>
        <p:spPr>
          <a:xfrm>
            <a:off x="8412480" y="2743200"/>
            <a:ext cx="1463040" cy="685800"/>
          </a:xfrm>
          <a:prstGeom prst="rect">
            <a:avLst/>
          </a:prstGeom>
          <a:noFill/>
          <a:ln/>
        </p:spPr>
        <p:txBody>
          <a:bodyPr wrap="square" lIns="0" tIns="0" rIns="0" bIns="0" rtlCol="0" anchor="ctr"/>
          <a:lstStyle/>
          <a:p>
            <a:pPr algn="r" indent="0" marL="0">
              <a:buNone/>
            </a:pPr>
            <a:r>
              <a:rPr lang="en-US" sz="4600" b="1" dirty="0">
                <a:solidFill>
                  <a:srgbClr val="B5781F"/>
                </a:solidFill>
                <a:latin typeface="Cambria" pitchFamily="34" charset="0"/>
                <a:ea typeface="Cambria" pitchFamily="34" charset="-122"/>
                <a:cs typeface="Cambria" pitchFamily="34" charset="-120"/>
              </a:rPr>
              <a:t>34</a:t>
            </a:r>
            <a:endParaRPr lang="en-US" sz="4600" dirty="0"/>
          </a:p>
        </p:txBody>
      </p:sp>
      <p:sp>
        <p:nvSpPr>
          <p:cNvPr id="9" name="Text 7"/>
          <p:cNvSpPr txBox="1"/>
          <p:nvPr/>
        </p:nvSpPr>
        <p:spPr>
          <a:xfrm>
            <a:off x="10058400" y="2944368"/>
            <a:ext cx="1828800" cy="420624"/>
          </a:xfrm>
          <a:prstGeom prst="rect">
            <a:avLst/>
          </a:prstGeom>
          <a:noFill/>
          <a:ln/>
        </p:spPr>
        <p:txBody>
          <a:bodyPr wrap="square" lIns="0" tIns="0" rIns="0" bIns="0" rtlCol="0" anchor="ctr"/>
          <a:lstStyle/>
          <a:p>
            <a:pPr indent="0" marL="0">
              <a:buNone/>
            </a:pPr>
            <a:r>
              <a:rPr lang="en-US" sz="1400" dirty="0">
                <a:solidFill>
                  <a:srgbClr val="35474F"/>
                </a:solidFill>
                <a:latin typeface="Calibri" pitchFamily="34" charset="0"/>
                <a:ea typeface="Calibri" pitchFamily="34" charset="-122"/>
                <a:cs typeface="Calibri" pitchFamily="34" charset="-120"/>
              </a:rPr>
              <a:t>incidents found</a:t>
            </a:r>
            <a:endParaRPr lang="en-US" sz="1400" dirty="0"/>
          </a:p>
        </p:txBody>
      </p:sp>
      <p:sp>
        <p:nvSpPr>
          <p:cNvPr id="10" name="Text 8"/>
          <p:cNvSpPr txBox="1"/>
          <p:nvPr/>
        </p:nvSpPr>
        <p:spPr>
          <a:xfrm>
            <a:off x="8412480" y="3611880"/>
            <a:ext cx="1463040" cy="685800"/>
          </a:xfrm>
          <a:prstGeom prst="rect">
            <a:avLst/>
          </a:prstGeom>
          <a:noFill/>
          <a:ln/>
        </p:spPr>
        <p:txBody>
          <a:bodyPr wrap="square" lIns="0" tIns="0" rIns="0" bIns="0" rtlCol="0" anchor="ctr"/>
          <a:lstStyle/>
          <a:p>
            <a:pPr algn="r" indent="0" marL="0">
              <a:buNone/>
            </a:pPr>
            <a:r>
              <a:rPr lang="en-US" sz="4600" b="1" dirty="0">
                <a:solidFill>
                  <a:srgbClr val="D64545"/>
                </a:solidFill>
                <a:latin typeface="Cambria" pitchFamily="34" charset="0"/>
                <a:ea typeface="Cambria" pitchFamily="34" charset="-122"/>
                <a:cs typeface="Cambria" pitchFamily="34" charset="-120"/>
              </a:rPr>
              <a:t>6</a:t>
            </a:r>
            <a:endParaRPr lang="en-US" sz="4600" dirty="0"/>
          </a:p>
        </p:txBody>
      </p:sp>
      <p:sp>
        <p:nvSpPr>
          <p:cNvPr id="11" name="Text 9"/>
          <p:cNvSpPr txBox="1"/>
          <p:nvPr/>
        </p:nvSpPr>
        <p:spPr>
          <a:xfrm>
            <a:off x="10058400" y="3813048"/>
            <a:ext cx="1828800" cy="420624"/>
          </a:xfrm>
          <a:prstGeom prst="rect">
            <a:avLst/>
          </a:prstGeom>
          <a:noFill/>
          <a:ln/>
        </p:spPr>
        <p:txBody>
          <a:bodyPr wrap="square" lIns="0" tIns="0" rIns="0" bIns="0" rtlCol="0" anchor="ctr"/>
          <a:lstStyle/>
          <a:p>
            <a:pPr indent="0" marL="0">
              <a:buNone/>
            </a:pPr>
            <a:r>
              <a:rPr lang="en-US" sz="1400" dirty="0">
                <a:solidFill>
                  <a:srgbClr val="35474F"/>
                </a:solidFill>
                <a:latin typeface="Calibri" pitchFamily="34" charset="0"/>
                <a:ea typeface="Calibri" pitchFamily="34" charset="-122"/>
                <a:cs typeface="Calibri" pitchFamily="34" charset="-120"/>
              </a:rPr>
              <a:t>need a decision</a:t>
            </a:r>
            <a:endParaRPr lang="en-US" sz="1400" dirty="0"/>
          </a:p>
        </p:txBody>
      </p:sp>
      <p:sp>
        <p:nvSpPr>
          <p:cNvPr id="12" name="Shape 10"/>
          <p:cNvSpPr/>
          <p:nvPr/>
        </p:nvSpPr>
        <p:spPr>
          <a:xfrm>
            <a:off x="566928" y="4846320"/>
            <a:ext cx="2050085" cy="512064"/>
          </a:xfrm>
          <a:prstGeom prst="roundRect">
            <a:avLst>
              <a:gd name="adj" fmla="val 10714"/>
            </a:avLst>
          </a:prstGeom>
          <a:solidFill>
            <a:srgbClr val="FFFFFF"/>
          </a:solidFill>
          <a:ln w="15875">
            <a:solidFill>
              <a:srgbClr val="DDE4E4"/>
            </a:solidFill>
            <a:prstDash val="solid"/>
          </a:ln>
        </p:spPr>
      </p:sp>
      <p:sp>
        <p:nvSpPr>
          <p:cNvPr id="13" name="Text 11"/>
          <p:cNvSpPr txBox="1"/>
          <p:nvPr/>
        </p:nvSpPr>
        <p:spPr>
          <a:xfrm>
            <a:off x="731520" y="4846320"/>
            <a:ext cx="274320" cy="512064"/>
          </a:xfrm>
          <a:prstGeom prst="rect">
            <a:avLst/>
          </a:prstGeom>
          <a:noFill/>
          <a:ln/>
        </p:spPr>
        <p:txBody>
          <a:bodyPr wrap="square" lIns="0" tIns="0" rIns="0" bIns="0" rtlCol="0" anchor="ctr"/>
          <a:lstStyle/>
          <a:p>
            <a:pPr indent="0" marL="0">
              <a:buNone/>
            </a:pPr>
            <a:r>
              <a:rPr lang="en-US" sz="1300" b="1" dirty="0">
                <a:solidFill>
                  <a:srgbClr val="B5781F"/>
                </a:solidFill>
                <a:latin typeface="Calibri" pitchFamily="34" charset="0"/>
                <a:ea typeface="Calibri" pitchFamily="34" charset="-122"/>
                <a:cs typeface="Calibri" pitchFamily="34" charset="-120"/>
              </a:rPr>
              <a:t>1</a:t>
            </a:r>
            <a:endParaRPr lang="en-US" sz="1300" dirty="0"/>
          </a:p>
        </p:txBody>
      </p:sp>
      <p:sp>
        <p:nvSpPr>
          <p:cNvPr id="14" name="Text 12"/>
          <p:cNvSpPr txBox="1"/>
          <p:nvPr/>
        </p:nvSpPr>
        <p:spPr>
          <a:xfrm>
            <a:off x="1060704" y="4846320"/>
            <a:ext cx="1428293" cy="512064"/>
          </a:xfrm>
          <a:prstGeom prst="rect">
            <a:avLst/>
          </a:prstGeom>
          <a:noFill/>
          <a:ln/>
        </p:spPr>
        <p:txBody>
          <a:bodyPr wrap="square" lIns="0" tIns="0" rIns="0" bIns="0" rtlCol="0" anchor="ctr"/>
          <a:lstStyle/>
          <a:p>
            <a:pPr indent="0" marL="0">
              <a:buNone/>
            </a:pPr>
            <a:r>
              <a:rPr lang="en-US" sz="1300" dirty="0">
                <a:solidFill>
                  <a:srgbClr val="10212A"/>
                </a:solidFill>
                <a:latin typeface="Calibri" pitchFamily="34" charset="0"/>
                <a:ea typeface="Calibri" pitchFamily="34" charset="-122"/>
                <a:cs typeface="Calibri" pitchFamily="34" charset="-120"/>
              </a:rPr>
              <a:t>Problem</a:t>
            </a:r>
            <a:endParaRPr lang="en-US" sz="1300" dirty="0"/>
          </a:p>
        </p:txBody>
      </p:sp>
      <p:sp>
        <p:nvSpPr>
          <p:cNvPr id="15" name="Shape 13"/>
          <p:cNvSpPr/>
          <p:nvPr/>
        </p:nvSpPr>
        <p:spPr>
          <a:xfrm>
            <a:off x="2818181" y="4846320"/>
            <a:ext cx="2050085" cy="512064"/>
          </a:xfrm>
          <a:prstGeom prst="roundRect">
            <a:avLst>
              <a:gd name="adj" fmla="val 10714"/>
            </a:avLst>
          </a:prstGeom>
          <a:solidFill>
            <a:srgbClr val="FFFFFF"/>
          </a:solidFill>
          <a:ln w="15875">
            <a:solidFill>
              <a:srgbClr val="DDE4E4"/>
            </a:solidFill>
            <a:prstDash val="solid"/>
          </a:ln>
        </p:spPr>
      </p:sp>
      <p:sp>
        <p:nvSpPr>
          <p:cNvPr id="16" name="Text 14"/>
          <p:cNvSpPr txBox="1"/>
          <p:nvPr/>
        </p:nvSpPr>
        <p:spPr>
          <a:xfrm>
            <a:off x="2982773" y="4846320"/>
            <a:ext cx="274320" cy="512064"/>
          </a:xfrm>
          <a:prstGeom prst="rect">
            <a:avLst/>
          </a:prstGeom>
          <a:noFill/>
          <a:ln/>
        </p:spPr>
        <p:txBody>
          <a:bodyPr wrap="square" lIns="0" tIns="0" rIns="0" bIns="0" rtlCol="0" anchor="ctr"/>
          <a:lstStyle/>
          <a:p>
            <a:pPr indent="0" marL="0">
              <a:buNone/>
            </a:pPr>
            <a:r>
              <a:rPr lang="en-US" sz="1300" b="1" dirty="0">
                <a:solidFill>
                  <a:srgbClr val="B5781F"/>
                </a:solidFill>
                <a:latin typeface="Calibri" pitchFamily="34" charset="0"/>
                <a:ea typeface="Calibri" pitchFamily="34" charset="-122"/>
                <a:cs typeface="Calibri" pitchFamily="34" charset="-120"/>
              </a:rPr>
              <a:t>2</a:t>
            </a:r>
            <a:endParaRPr lang="en-US" sz="1300" dirty="0"/>
          </a:p>
        </p:txBody>
      </p:sp>
      <p:sp>
        <p:nvSpPr>
          <p:cNvPr id="17" name="Text 15"/>
          <p:cNvSpPr txBox="1"/>
          <p:nvPr/>
        </p:nvSpPr>
        <p:spPr>
          <a:xfrm>
            <a:off x="3311957" y="4846320"/>
            <a:ext cx="1428293" cy="512064"/>
          </a:xfrm>
          <a:prstGeom prst="rect">
            <a:avLst/>
          </a:prstGeom>
          <a:noFill/>
          <a:ln/>
        </p:spPr>
        <p:txBody>
          <a:bodyPr wrap="square" lIns="0" tIns="0" rIns="0" bIns="0" rtlCol="0" anchor="ctr"/>
          <a:lstStyle/>
          <a:p>
            <a:pPr indent="0" marL="0">
              <a:buNone/>
            </a:pPr>
            <a:r>
              <a:rPr lang="en-US" sz="1300" dirty="0">
                <a:solidFill>
                  <a:srgbClr val="10212A"/>
                </a:solidFill>
                <a:latin typeface="Calibri" pitchFamily="34" charset="0"/>
                <a:ea typeface="Calibri" pitchFamily="34" charset="-122"/>
                <a:cs typeface="Calibri" pitchFamily="34" charset="-120"/>
              </a:rPr>
              <a:t>Solution</a:t>
            </a:r>
            <a:endParaRPr lang="en-US" sz="1300" dirty="0"/>
          </a:p>
        </p:txBody>
      </p:sp>
      <p:sp>
        <p:nvSpPr>
          <p:cNvPr id="18" name="Shape 16"/>
          <p:cNvSpPr/>
          <p:nvPr/>
        </p:nvSpPr>
        <p:spPr>
          <a:xfrm>
            <a:off x="5069434" y="4846320"/>
            <a:ext cx="2050085" cy="512064"/>
          </a:xfrm>
          <a:prstGeom prst="roundRect">
            <a:avLst>
              <a:gd name="adj" fmla="val 10714"/>
            </a:avLst>
          </a:prstGeom>
          <a:solidFill>
            <a:srgbClr val="FFFFFF"/>
          </a:solidFill>
          <a:ln w="15875">
            <a:solidFill>
              <a:srgbClr val="DDE4E4"/>
            </a:solidFill>
            <a:prstDash val="solid"/>
          </a:ln>
        </p:spPr>
      </p:sp>
      <p:sp>
        <p:nvSpPr>
          <p:cNvPr id="19" name="Text 17"/>
          <p:cNvSpPr txBox="1"/>
          <p:nvPr/>
        </p:nvSpPr>
        <p:spPr>
          <a:xfrm>
            <a:off x="5234026" y="4846320"/>
            <a:ext cx="274320" cy="512064"/>
          </a:xfrm>
          <a:prstGeom prst="rect">
            <a:avLst/>
          </a:prstGeom>
          <a:noFill/>
          <a:ln/>
        </p:spPr>
        <p:txBody>
          <a:bodyPr wrap="square" lIns="0" tIns="0" rIns="0" bIns="0" rtlCol="0" anchor="ctr"/>
          <a:lstStyle/>
          <a:p>
            <a:pPr indent="0" marL="0">
              <a:buNone/>
            </a:pPr>
            <a:r>
              <a:rPr lang="en-US" sz="1300" b="1" dirty="0">
                <a:solidFill>
                  <a:srgbClr val="B5781F"/>
                </a:solidFill>
                <a:latin typeface="Calibri" pitchFamily="34" charset="0"/>
                <a:ea typeface="Calibri" pitchFamily="34" charset="-122"/>
                <a:cs typeface="Calibri" pitchFamily="34" charset="-120"/>
              </a:rPr>
              <a:t>3</a:t>
            </a:r>
            <a:endParaRPr lang="en-US" sz="1300" dirty="0"/>
          </a:p>
        </p:txBody>
      </p:sp>
      <p:sp>
        <p:nvSpPr>
          <p:cNvPr id="20" name="Text 18"/>
          <p:cNvSpPr txBox="1"/>
          <p:nvPr/>
        </p:nvSpPr>
        <p:spPr>
          <a:xfrm>
            <a:off x="5563210" y="4846320"/>
            <a:ext cx="1428293" cy="512064"/>
          </a:xfrm>
          <a:prstGeom prst="rect">
            <a:avLst/>
          </a:prstGeom>
          <a:noFill/>
          <a:ln/>
        </p:spPr>
        <p:txBody>
          <a:bodyPr wrap="square" lIns="0" tIns="0" rIns="0" bIns="0" rtlCol="0" anchor="ctr"/>
          <a:lstStyle/>
          <a:p>
            <a:pPr indent="0" marL="0">
              <a:buNone/>
            </a:pPr>
            <a:r>
              <a:rPr lang="en-US" sz="1300" dirty="0">
                <a:solidFill>
                  <a:srgbClr val="10212A"/>
                </a:solidFill>
                <a:latin typeface="Calibri" pitchFamily="34" charset="0"/>
                <a:ea typeface="Calibri" pitchFamily="34" charset="-122"/>
                <a:cs typeface="Calibri" pitchFamily="34" charset="-120"/>
              </a:rPr>
              <a:t>Architecture</a:t>
            </a:r>
            <a:endParaRPr lang="en-US" sz="1300" dirty="0"/>
          </a:p>
        </p:txBody>
      </p:sp>
      <p:sp>
        <p:nvSpPr>
          <p:cNvPr id="21" name="Shape 19"/>
          <p:cNvSpPr/>
          <p:nvPr/>
        </p:nvSpPr>
        <p:spPr>
          <a:xfrm>
            <a:off x="7320686" y="4846320"/>
            <a:ext cx="2050085" cy="512064"/>
          </a:xfrm>
          <a:prstGeom prst="roundRect">
            <a:avLst>
              <a:gd name="adj" fmla="val 10714"/>
            </a:avLst>
          </a:prstGeom>
          <a:solidFill>
            <a:srgbClr val="FFFFFF"/>
          </a:solidFill>
          <a:ln w="15875">
            <a:solidFill>
              <a:srgbClr val="DDE4E4"/>
            </a:solidFill>
            <a:prstDash val="solid"/>
          </a:ln>
        </p:spPr>
      </p:sp>
      <p:sp>
        <p:nvSpPr>
          <p:cNvPr id="22" name="Text 20"/>
          <p:cNvSpPr txBox="1"/>
          <p:nvPr/>
        </p:nvSpPr>
        <p:spPr>
          <a:xfrm>
            <a:off x="7485278" y="4846320"/>
            <a:ext cx="274320" cy="512064"/>
          </a:xfrm>
          <a:prstGeom prst="rect">
            <a:avLst/>
          </a:prstGeom>
          <a:noFill/>
          <a:ln/>
        </p:spPr>
        <p:txBody>
          <a:bodyPr wrap="square" lIns="0" tIns="0" rIns="0" bIns="0" rtlCol="0" anchor="ctr"/>
          <a:lstStyle/>
          <a:p>
            <a:pPr indent="0" marL="0">
              <a:buNone/>
            </a:pPr>
            <a:r>
              <a:rPr lang="en-US" sz="1300" b="1" dirty="0">
                <a:solidFill>
                  <a:srgbClr val="B5781F"/>
                </a:solidFill>
                <a:latin typeface="Calibri" pitchFamily="34" charset="0"/>
                <a:ea typeface="Calibri" pitchFamily="34" charset="-122"/>
                <a:cs typeface="Calibri" pitchFamily="34" charset="-120"/>
              </a:rPr>
              <a:t>4</a:t>
            </a:r>
            <a:endParaRPr lang="en-US" sz="1300" dirty="0"/>
          </a:p>
        </p:txBody>
      </p:sp>
      <p:sp>
        <p:nvSpPr>
          <p:cNvPr id="23" name="Text 21"/>
          <p:cNvSpPr txBox="1"/>
          <p:nvPr/>
        </p:nvSpPr>
        <p:spPr>
          <a:xfrm>
            <a:off x="7814462" y="4846320"/>
            <a:ext cx="1428293" cy="512064"/>
          </a:xfrm>
          <a:prstGeom prst="rect">
            <a:avLst/>
          </a:prstGeom>
          <a:noFill/>
          <a:ln/>
        </p:spPr>
        <p:txBody>
          <a:bodyPr wrap="square" lIns="0" tIns="0" rIns="0" bIns="0" rtlCol="0" anchor="ctr"/>
          <a:lstStyle/>
          <a:p>
            <a:pPr indent="0" marL="0">
              <a:buNone/>
            </a:pPr>
            <a:r>
              <a:rPr lang="en-US" sz="1300" dirty="0">
                <a:solidFill>
                  <a:srgbClr val="10212A"/>
                </a:solidFill>
                <a:latin typeface="Calibri" pitchFamily="34" charset="0"/>
                <a:ea typeface="Calibri" pitchFamily="34" charset="-122"/>
                <a:cs typeface="Calibri" pitchFamily="34" charset="-120"/>
              </a:rPr>
              <a:t>IBM technology</a:t>
            </a:r>
            <a:endParaRPr lang="en-US" sz="1300" dirty="0"/>
          </a:p>
        </p:txBody>
      </p:sp>
      <p:sp>
        <p:nvSpPr>
          <p:cNvPr id="24" name="Shape 22"/>
          <p:cNvSpPr/>
          <p:nvPr/>
        </p:nvSpPr>
        <p:spPr>
          <a:xfrm>
            <a:off x="9571939" y="4846320"/>
            <a:ext cx="2050085" cy="512064"/>
          </a:xfrm>
          <a:prstGeom prst="roundRect">
            <a:avLst>
              <a:gd name="adj" fmla="val 10714"/>
            </a:avLst>
          </a:prstGeom>
          <a:solidFill>
            <a:srgbClr val="FFFFFF"/>
          </a:solidFill>
          <a:ln w="15875">
            <a:solidFill>
              <a:srgbClr val="DDE4E4"/>
            </a:solidFill>
            <a:prstDash val="solid"/>
          </a:ln>
        </p:spPr>
      </p:sp>
      <p:sp>
        <p:nvSpPr>
          <p:cNvPr id="25" name="Text 23"/>
          <p:cNvSpPr txBox="1"/>
          <p:nvPr/>
        </p:nvSpPr>
        <p:spPr>
          <a:xfrm>
            <a:off x="9736531" y="4846320"/>
            <a:ext cx="274320" cy="512064"/>
          </a:xfrm>
          <a:prstGeom prst="rect">
            <a:avLst/>
          </a:prstGeom>
          <a:noFill/>
          <a:ln/>
        </p:spPr>
        <p:txBody>
          <a:bodyPr wrap="square" lIns="0" tIns="0" rIns="0" bIns="0" rtlCol="0" anchor="ctr"/>
          <a:lstStyle/>
          <a:p>
            <a:pPr indent="0" marL="0">
              <a:buNone/>
            </a:pPr>
            <a:r>
              <a:rPr lang="en-US" sz="1300" b="1" dirty="0">
                <a:solidFill>
                  <a:srgbClr val="B5781F"/>
                </a:solidFill>
                <a:latin typeface="Calibri" pitchFamily="34" charset="0"/>
                <a:ea typeface="Calibri" pitchFamily="34" charset="-122"/>
                <a:cs typeface="Calibri" pitchFamily="34" charset="-120"/>
              </a:rPr>
              <a:t>5</a:t>
            </a:r>
            <a:endParaRPr lang="en-US" sz="1300" dirty="0"/>
          </a:p>
        </p:txBody>
      </p:sp>
      <p:sp>
        <p:nvSpPr>
          <p:cNvPr id="26" name="Text 24"/>
          <p:cNvSpPr txBox="1"/>
          <p:nvPr/>
        </p:nvSpPr>
        <p:spPr>
          <a:xfrm>
            <a:off x="10065715" y="4846320"/>
            <a:ext cx="1428293" cy="512064"/>
          </a:xfrm>
          <a:prstGeom prst="rect">
            <a:avLst/>
          </a:prstGeom>
          <a:noFill/>
          <a:ln/>
        </p:spPr>
        <p:txBody>
          <a:bodyPr wrap="square" lIns="0" tIns="0" rIns="0" bIns="0" rtlCol="0" anchor="ctr"/>
          <a:lstStyle/>
          <a:p>
            <a:pPr indent="0" marL="0">
              <a:buNone/>
            </a:pPr>
            <a:r>
              <a:rPr lang="en-US" sz="1300" dirty="0">
                <a:solidFill>
                  <a:srgbClr val="10212A"/>
                </a:solidFill>
                <a:latin typeface="Calibri" pitchFamily="34" charset="0"/>
                <a:ea typeface="Calibri" pitchFamily="34" charset="-122"/>
                <a:cs typeface="Calibri" pitchFamily="34" charset="-120"/>
              </a:rPr>
              <a:t>Impact</a:t>
            </a:r>
            <a:endParaRPr lang="en-US" sz="1300" dirty="0"/>
          </a:p>
        </p:txBody>
      </p:sp>
      <p:sp>
        <p:nvSpPr>
          <p:cNvPr id="27" name="Text 25"/>
          <p:cNvSpPr txBox="1"/>
          <p:nvPr/>
        </p:nvSpPr>
        <p:spPr>
          <a:xfrm>
            <a:off x="566928" y="5504688"/>
            <a:ext cx="4572000" cy="274320"/>
          </a:xfrm>
          <a:prstGeom prst="rect">
            <a:avLst/>
          </a:prstGeom>
          <a:noFill/>
          <a:ln/>
        </p:spPr>
        <p:txBody>
          <a:bodyPr wrap="square" lIns="0" tIns="0" rIns="0" bIns="0" rtlCol="0" anchor="ctr"/>
          <a:lstStyle/>
          <a:p>
            <a:pPr indent="0" marL="0">
              <a:buNone/>
            </a:pPr>
            <a:r>
              <a:rPr lang="en-US" sz="1300" b="1" spc="120" kern="0" dirty="0">
                <a:solidFill>
                  <a:srgbClr val="B5781F"/>
                </a:solidFill>
                <a:latin typeface="Calibri" pitchFamily="34" charset="0"/>
                <a:ea typeface="Calibri" pitchFamily="34" charset="-122"/>
                <a:cs typeface="Calibri" pitchFamily="34" charset="-120"/>
              </a:rPr>
              <a:t>TEAM [TEAM NAME]</a:t>
            </a:r>
            <a:endParaRPr lang="en-US" sz="1300" dirty="0"/>
          </a:p>
        </p:txBody>
      </p:sp>
      <p:sp>
        <p:nvSpPr>
          <p:cNvPr id="28" name="Text 26"/>
          <p:cNvSpPr txBox="1"/>
          <p:nvPr/>
        </p:nvSpPr>
        <p:spPr>
          <a:xfrm>
            <a:off x="566928" y="5797296"/>
            <a:ext cx="6400800" cy="274320"/>
          </a:xfrm>
          <a:prstGeom prst="rect">
            <a:avLst/>
          </a:prstGeom>
          <a:noFill/>
          <a:ln/>
        </p:spPr>
        <p:txBody>
          <a:bodyPr wrap="square" lIns="0" tIns="0" rIns="0" bIns="0" rtlCol="0" anchor="ctr"/>
          <a:lstStyle/>
          <a:p>
            <a:pPr indent="0" marL="0">
              <a:buNone/>
            </a:pPr>
            <a:r>
              <a:rPr lang="en-US" sz="1300" dirty="0">
                <a:solidFill>
                  <a:srgbClr val="10212A"/>
                </a:solidFill>
                <a:latin typeface="Calibri" pitchFamily="34" charset="0"/>
                <a:ea typeface="Calibri" pitchFamily="34" charset="-122"/>
                <a:cs typeface="Calibri" pitchFamily="34" charset="-120"/>
              </a:rPr>
              <a:t>[Member 1]  ·  [Member 2]  ·  [Member 3]  ·  [Member 4]</a:t>
            </a:r>
            <a:endParaRPr lang="en-US" sz="1300" dirty="0"/>
          </a:p>
        </p:txBody>
      </p:sp>
      <p:sp>
        <p:nvSpPr>
          <p:cNvPr id="29" name="Text 27"/>
          <p:cNvSpPr txBox="1"/>
          <p:nvPr/>
        </p:nvSpPr>
        <p:spPr>
          <a:xfrm>
            <a:off x="566928" y="6089904"/>
            <a:ext cx="6400800" cy="274320"/>
          </a:xfrm>
          <a:prstGeom prst="rect">
            <a:avLst/>
          </a:prstGeom>
          <a:noFill/>
          <a:ln/>
        </p:spPr>
        <p:txBody>
          <a:bodyPr wrap="square" lIns="0" tIns="0" rIns="0" bIns="0" rtlCol="0" anchor="ctr"/>
          <a:lstStyle/>
          <a:p>
            <a:pPr indent="0" marL="0">
              <a:buNone/>
            </a:pPr>
            <a:r>
              <a:rPr lang="en-US" sz="1200" dirty="0">
                <a:solidFill>
                  <a:srgbClr val="3E8695"/>
                </a:solidFill>
                <a:latin typeface="Courier New" pitchFamily="34" charset="0"/>
                <a:ea typeface="Courier New" pitchFamily="34" charset="-122"/>
                <a:cs typeface="Courier New" pitchFamily="34" charset="-120"/>
              </a:rPr>
              <a:t>github.com/[org]/clarion</a:t>
            </a:r>
            <a:endParaRPr lang="en-US" sz="1200" dirty="0"/>
          </a:p>
        </p:txBody>
      </p:sp>
      <p:sp>
        <p:nvSpPr>
          <p:cNvPr id="30" name="Text 28"/>
          <p:cNvSpPr txBox="1"/>
          <p:nvPr/>
        </p:nvSpPr>
        <p:spPr>
          <a:xfrm>
            <a:off x="7223760" y="6089904"/>
            <a:ext cx="4572000" cy="274320"/>
          </a:xfrm>
          <a:prstGeom prst="rect">
            <a:avLst/>
          </a:prstGeom>
          <a:noFill/>
          <a:ln/>
        </p:spPr>
        <p:txBody>
          <a:bodyPr wrap="square" lIns="0" tIns="0" rIns="0" bIns="0" rtlCol="0" anchor="ctr"/>
          <a:lstStyle/>
          <a:p>
            <a:pPr indent="0" marL="0">
              <a:buNone/>
            </a:pPr>
            <a:r>
              <a:rPr lang="en-US" sz="1100" dirty="0">
                <a:solidFill>
                  <a:srgbClr val="6A8087"/>
                </a:solidFill>
                <a:latin typeface="Calibri" pitchFamily="34" charset="0"/>
                <a:ea typeface="Calibri" pitchFamily="34" charset="-122"/>
                <a:cs typeface="Calibri" pitchFamily="34" charset="-120"/>
              </a:rPr>
              <a:t>Built with IBM Bob  ·  watsonx.ai (Granite)  ·  watsonx Orchestrate</a:t>
            </a:r>
            <a:endParaRPr lang="en-US" sz="11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66928" y="237744"/>
            <a:ext cx="11055096" cy="256032"/>
          </a:xfrm>
          <a:prstGeom prst="rect">
            <a:avLst/>
          </a:prstGeom>
          <a:noFill/>
          <a:ln/>
        </p:spPr>
        <p:txBody>
          <a:bodyPr wrap="square" lIns="0" tIns="0" rIns="0" bIns="0" rtlCol="0" anchor="ctr"/>
          <a:lstStyle/>
          <a:p>
            <a:pPr indent="0" marL="0">
              <a:buNone/>
            </a:pPr>
            <a:r>
              <a:rPr lang="en-US" sz="1300" b="1" spc="140" kern="0" dirty="0">
                <a:solidFill>
                  <a:srgbClr val="3E8695"/>
                </a:solidFill>
                <a:latin typeface="Calibri" pitchFamily="34" charset="0"/>
                <a:ea typeface="Calibri" pitchFamily="34" charset="-122"/>
                <a:cs typeface="Calibri" pitchFamily="34" charset="-120"/>
              </a:rPr>
              <a:t>PROBLEM</a:t>
            </a:r>
            <a:endParaRPr lang="en-US" sz="1300" dirty="0"/>
          </a:p>
        </p:txBody>
      </p:sp>
      <p:sp>
        <p:nvSpPr>
          <p:cNvPr id="3" name="Text 1"/>
          <p:cNvSpPr txBox="1"/>
          <p:nvPr/>
        </p:nvSpPr>
        <p:spPr>
          <a:xfrm>
            <a:off x="566928" y="457200"/>
            <a:ext cx="11055096" cy="713232"/>
          </a:xfrm>
          <a:prstGeom prst="rect">
            <a:avLst/>
          </a:prstGeom>
          <a:noFill/>
          <a:ln/>
        </p:spPr>
        <p:txBody>
          <a:bodyPr wrap="square" lIns="0" tIns="0" rIns="0" bIns="0" rtlCol="0" anchor="ctr"/>
          <a:lstStyle/>
          <a:p>
            <a:pPr indent="0" marL="0">
              <a:buNone/>
            </a:pPr>
            <a:r>
              <a:rPr lang="en-US" sz="3600" b="1" dirty="0">
                <a:solidFill>
                  <a:srgbClr val="10212A"/>
                </a:solidFill>
                <a:latin typeface="Cambria" pitchFamily="34" charset="0"/>
                <a:ea typeface="Cambria" pitchFamily="34" charset="-122"/>
                <a:cs typeface="Cambria" pitchFamily="34" charset="-120"/>
              </a:rPr>
              <a:t>Too many alerts. Too few people.</a:t>
            </a:r>
            <a:endParaRPr lang="en-US" sz="3600" dirty="0"/>
          </a:p>
        </p:txBody>
      </p:sp>
      <p:sp>
        <p:nvSpPr>
          <p:cNvPr id="4" name="Shape 2"/>
          <p:cNvSpPr/>
          <p:nvPr/>
        </p:nvSpPr>
        <p:spPr>
          <a:xfrm>
            <a:off x="2532888" y="1892808"/>
            <a:ext cx="1993392" cy="1124712"/>
          </a:xfrm>
          <a:prstGeom prst="line">
            <a:avLst/>
          </a:prstGeom>
          <a:noFill/>
          <a:ln w="15875">
            <a:solidFill>
              <a:srgbClr val="B9C6C6"/>
            </a:solidFill>
            <a:prstDash val="solid"/>
          </a:ln>
        </p:spPr>
      </p:sp>
      <p:sp>
        <p:nvSpPr>
          <p:cNvPr id="5" name="Shape 3"/>
          <p:cNvSpPr/>
          <p:nvPr/>
        </p:nvSpPr>
        <p:spPr>
          <a:xfrm>
            <a:off x="2532888" y="2350008"/>
            <a:ext cx="1993392" cy="667512"/>
          </a:xfrm>
          <a:prstGeom prst="line">
            <a:avLst/>
          </a:prstGeom>
          <a:noFill/>
          <a:ln w="15875">
            <a:solidFill>
              <a:srgbClr val="B9C6C6"/>
            </a:solidFill>
            <a:prstDash val="solid"/>
          </a:ln>
        </p:spPr>
      </p:sp>
      <p:sp>
        <p:nvSpPr>
          <p:cNvPr id="6" name="Shape 4"/>
          <p:cNvSpPr/>
          <p:nvPr/>
        </p:nvSpPr>
        <p:spPr>
          <a:xfrm>
            <a:off x="2532888" y="2807208"/>
            <a:ext cx="1993392" cy="210312"/>
          </a:xfrm>
          <a:prstGeom prst="line">
            <a:avLst/>
          </a:prstGeom>
          <a:noFill/>
          <a:ln w="15875">
            <a:solidFill>
              <a:srgbClr val="B9C6C6"/>
            </a:solidFill>
            <a:prstDash val="solid"/>
          </a:ln>
        </p:spPr>
      </p:sp>
      <p:sp>
        <p:nvSpPr>
          <p:cNvPr id="7" name="Shape 5"/>
          <p:cNvSpPr/>
          <p:nvPr/>
        </p:nvSpPr>
        <p:spPr>
          <a:xfrm flipV="1">
            <a:off x="2532888" y="3017520"/>
            <a:ext cx="1993392" cy="246888"/>
          </a:xfrm>
          <a:prstGeom prst="line">
            <a:avLst/>
          </a:prstGeom>
          <a:noFill/>
          <a:ln w="15875">
            <a:solidFill>
              <a:srgbClr val="B9C6C6"/>
            </a:solidFill>
            <a:prstDash val="solid"/>
          </a:ln>
        </p:spPr>
      </p:sp>
      <p:sp>
        <p:nvSpPr>
          <p:cNvPr id="8" name="Shape 6"/>
          <p:cNvSpPr/>
          <p:nvPr/>
        </p:nvSpPr>
        <p:spPr>
          <a:xfrm flipV="1">
            <a:off x="2532888" y="3017520"/>
            <a:ext cx="1993392" cy="704088"/>
          </a:xfrm>
          <a:prstGeom prst="line">
            <a:avLst/>
          </a:prstGeom>
          <a:noFill/>
          <a:ln w="15875">
            <a:solidFill>
              <a:srgbClr val="B9C6C6"/>
            </a:solidFill>
            <a:prstDash val="solid"/>
          </a:ln>
        </p:spPr>
      </p:sp>
      <p:sp>
        <p:nvSpPr>
          <p:cNvPr id="9" name="Shape 7"/>
          <p:cNvSpPr/>
          <p:nvPr/>
        </p:nvSpPr>
        <p:spPr>
          <a:xfrm flipV="1">
            <a:off x="2532888" y="3017520"/>
            <a:ext cx="1993392" cy="1161288"/>
          </a:xfrm>
          <a:prstGeom prst="line">
            <a:avLst/>
          </a:prstGeom>
          <a:noFill/>
          <a:ln w="15875">
            <a:solidFill>
              <a:srgbClr val="B9C6C6"/>
            </a:solidFill>
            <a:prstDash val="solid"/>
          </a:ln>
        </p:spPr>
      </p:sp>
      <p:sp>
        <p:nvSpPr>
          <p:cNvPr id="10" name="Shape 8"/>
          <p:cNvSpPr/>
          <p:nvPr/>
        </p:nvSpPr>
        <p:spPr>
          <a:xfrm>
            <a:off x="566928" y="1691640"/>
            <a:ext cx="1965960" cy="402336"/>
          </a:xfrm>
          <a:prstGeom prst="roundRect">
            <a:avLst>
              <a:gd name="adj" fmla="val 13636"/>
            </a:avLst>
          </a:prstGeom>
          <a:solidFill>
            <a:srgbClr val="FFFFFF"/>
          </a:solidFill>
          <a:ln w="15875">
            <a:solidFill>
              <a:srgbClr val="DDE4E4"/>
            </a:solidFill>
            <a:prstDash val="solid"/>
          </a:ln>
        </p:spPr>
      </p:sp>
      <p:sp>
        <p:nvSpPr>
          <p:cNvPr id="11" name="Text 9"/>
          <p:cNvSpPr txBox="1"/>
          <p:nvPr/>
        </p:nvSpPr>
        <p:spPr>
          <a:xfrm>
            <a:off x="566928" y="1691640"/>
            <a:ext cx="1965960" cy="402336"/>
          </a:xfrm>
          <a:prstGeom prst="rect">
            <a:avLst/>
          </a:prstGeom>
          <a:noFill/>
          <a:ln/>
        </p:spPr>
        <p:txBody>
          <a:bodyPr wrap="square" lIns="0" tIns="0" rIns="0" bIns="0" rtlCol="0" anchor="ctr"/>
          <a:lstStyle/>
          <a:p>
            <a:pPr algn="ctr" indent="0" marL="0">
              <a:buNone/>
            </a:pPr>
            <a:r>
              <a:rPr lang="en-US" sz="1250" dirty="0">
                <a:solidFill>
                  <a:srgbClr val="35474F"/>
                </a:solidFill>
                <a:latin typeface="Calibri" pitchFamily="34" charset="0"/>
                <a:ea typeface="Calibri" pitchFamily="34" charset="-122"/>
                <a:cs typeface="Calibri" pitchFamily="34" charset="-120"/>
              </a:rPr>
              <a:t>SIEM</a:t>
            </a:r>
            <a:endParaRPr lang="en-US" sz="1250" dirty="0"/>
          </a:p>
        </p:txBody>
      </p:sp>
      <p:sp>
        <p:nvSpPr>
          <p:cNvPr id="12" name="Shape 10"/>
          <p:cNvSpPr/>
          <p:nvPr/>
        </p:nvSpPr>
        <p:spPr>
          <a:xfrm>
            <a:off x="566928" y="2148840"/>
            <a:ext cx="1965960" cy="402336"/>
          </a:xfrm>
          <a:prstGeom prst="roundRect">
            <a:avLst>
              <a:gd name="adj" fmla="val 13636"/>
            </a:avLst>
          </a:prstGeom>
          <a:solidFill>
            <a:srgbClr val="FFFFFF"/>
          </a:solidFill>
          <a:ln w="15875">
            <a:solidFill>
              <a:srgbClr val="DDE4E4"/>
            </a:solidFill>
            <a:prstDash val="solid"/>
          </a:ln>
        </p:spPr>
      </p:sp>
      <p:sp>
        <p:nvSpPr>
          <p:cNvPr id="13" name="Text 11"/>
          <p:cNvSpPr txBox="1"/>
          <p:nvPr/>
        </p:nvSpPr>
        <p:spPr>
          <a:xfrm>
            <a:off x="566928" y="2148840"/>
            <a:ext cx="1965960" cy="402336"/>
          </a:xfrm>
          <a:prstGeom prst="rect">
            <a:avLst/>
          </a:prstGeom>
          <a:noFill/>
          <a:ln/>
        </p:spPr>
        <p:txBody>
          <a:bodyPr wrap="square" lIns="0" tIns="0" rIns="0" bIns="0" rtlCol="0" anchor="ctr"/>
          <a:lstStyle/>
          <a:p>
            <a:pPr algn="ctr" indent="0" marL="0">
              <a:buNone/>
            </a:pPr>
            <a:r>
              <a:rPr lang="en-US" sz="1250" dirty="0">
                <a:solidFill>
                  <a:srgbClr val="35474F"/>
                </a:solidFill>
                <a:latin typeface="Calibri" pitchFamily="34" charset="0"/>
                <a:ea typeface="Calibri" pitchFamily="34" charset="-122"/>
                <a:cs typeface="Calibri" pitchFamily="34" charset="-120"/>
              </a:rPr>
              <a:t>EDR</a:t>
            </a:r>
            <a:endParaRPr lang="en-US" sz="1250" dirty="0"/>
          </a:p>
        </p:txBody>
      </p:sp>
      <p:sp>
        <p:nvSpPr>
          <p:cNvPr id="14" name="Shape 12"/>
          <p:cNvSpPr/>
          <p:nvPr/>
        </p:nvSpPr>
        <p:spPr>
          <a:xfrm>
            <a:off x="566928" y="2606040"/>
            <a:ext cx="1965960" cy="402336"/>
          </a:xfrm>
          <a:prstGeom prst="roundRect">
            <a:avLst>
              <a:gd name="adj" fmla="val 13636"/>
            </a:avLst>
          </a:prstGeom>
          <a:solidFill>
            <a:srgbClr val="FFFFFF"/>
          </a:solidFill>
          <a:ln w="15875">
            <a:solidFill>
              <a:srgbClr val="DDE4E4"/>
            </a:solidFill>
            <a:prstDash val="solid"/>
          </a:ln>
        </p:spPr>
      </p:sp>
      <p:sp>
        <p:nvSpPr>
          <p:cNvPr id="15" name="Text 13"/>
          <p:cNvSpPr txBox="1"/>
          <p:nvPr/>
        </p:nvSpPr>
        <p:spPr>
          <a:xfrm>
            <a:off x="566928" y="2606040"/>
            <a:ext cx="1965960" cy="402336"/>
          </a:xfrm>
          <a:prstGeom prst="rect">
            <a:avLst/>
          </a:prstGeom>
          <a:noFill/>
          <a:ln/>
        </p:spPr>
        <p:txBody>
          <a:bodyPr wrap="square" lIns="0" tIns="0" rIns="0" bIns="0" rtlCol="0" anchor="ctr"/>
          <a:lstStyle/>
          <a:p>
            <a:pPr algn="ctr" indent="0" marL="0">
              <a:buNone/>
            </a:pPr>
            <a:r>
              <a:rPr lang="en-US" sz="1250" dirty="0">
                <a:solidFill>
                  <a:srgbClr val="35474F"/>
                </a:solidFill>
                <a:latin typeface="Calibri" pitchFamily="34" charset="0"/>
                <a:ea typeface="Calibri" pitchFamily="34" charset="-122"/>
                <a:cs typeface="Calibri" pitchFamily="34" charset="-120"/>
              </a:rPr>
              <a:t>Network sensors</a:t>
            </a:r>
            <a:endParaRPr lang="en-US" sz="1250" dirty="0"/>
          </a:p>
        </p:txBody>
      </p:sp>
      <p:sp>
        <p:nvSpPr>
          <p:cNvPr id="16" name="Shape 14"/>
          <p:cNvSpPr/>
          <p:nvPr/>
        </p:nvSpPr>
        <p:spPr>
          <a:xfrm>
            <a:off x="566928" y="3063240"/>
            <a:ext cx="1965960" cy="402336"/>
          </a:xfrm>
          <a:prstGeom prst="roundRect">
            <a:avLst>
              <a:gd name="adj" fmla="val 13636"/>
            </a:avLst>
          </a:prstGeom>
          <a:solidFill>
            <a:srgbClr val="FFFFFF"/>
          </a:solidFill>
          <a:ln w="15875">
            <a:solidFill>
              <a:srgbClr val="DDE4E4"/>
            </a:solidFill>
            <a:prstDash val="solid"/>
          </a:ln>
        </p:spPr>
      </p:sp>
      <p:sp>
        <p:nvSpPr>
          <p:cNvPr id="17" name="Text 15"/>
          <p:cNvSpPr txBox="1"/>
          <p:nvPr/>
        </p:nvSpPr>
        <p:spPr>
          <a:xfrm>
            <a:off x="566928" y="3063240"/>
            <a:ext cx="1965960" cy="402336"/>
          </a:xfrm>
          <a:prstGeom prst="rect">
            <a:avLst/>
          </a:prstGeom>
          <a:noFill/>
          <a:ln/>
        </p:spPr>
        <p:txBody>
          <a:bodyPr wrap="square" lIns="0" tIns="0" rIns="0" bIns="0" rtlCol="0" anchor="ctr"/>
          <a:lstStyle/>
          <a:p>
            <a:pPr algn="ctr" indent="0" marL="0">
              <a:buNone/>
            </a:pPr>
            <a:r>
              <a:rPr lang="en-US" sz="1250" dirty="0">
                <a:solidFill>
                  <a:srgbClr val="35474F"/>
                </a:solidFill>
                <a:latin typeface="Calibri" pitchFamily="34" charset="0"/>
                <a:ea typeface="Calibri" pitchFamily="34" charset="-122"/>
                <a:cs typeface="Calibri" pitchFamily="34" charset="-120"/>
              </a:rPr>
              <a:t>Radio / SIGINT</a:t>
            </a:r>
            <a:endParaRPr lang="en-US" sz="1250" dirty="0"/>
          </a:p>
        </p:txBody>
      </p:sp>
      <p:sp>
        <p:nvSpPr>
          <p:cNvPr id="18" name="Shape 16"/>
          <p:cNvSpPr/>
          <p:nvPr/>
        </p:nvSpPr>
        <p:spPr>
          <a:xfrm>
            <a:off x="566928" y="3520440"/>
            <a:ext cx="1965960" cy="402336"/>
          </a:xfrm>
          <a:prstGeom prst="roundRect">
            <a:avLst>
              <a:gd name="adj" fmla="val 13636"/>
            </a:avLst>
          </a:prstGeom>
          <a:solidFill>
            <a:srgbClr val="FFFFFF"/>
          </a:solidFill>
          <a:ln w="15875">
            <a:solidFill>
              <a:srgbClr val="DDE4E4"/>
            </a:solidFill>
            <a:prstDash val="solid"/>
          </a:ln>
        </p:spPr>
      </p:sp>
      <p:sp>
        <p:nvSpPr>
          <p:cNvPr id="19" name="Text 17"/>
          <p:cNvSpPr txBox="1"/>
          <p:nvPr/>
        </p:nvSpPr>
        <p:spPr>
          <a:xfrm>
            <a:off x="566928" y="3520440"/>
            <a:ext cx="1965960" cy="402336"/>
          </a:xfrm>
          <a:prstGeom prst="rect">
            <a:avLst/>
          </a:prstGeom>
          <a:noFill/>
          <a:ln/>
        </p:spPr>
        <p:txBody>
          <a:bodyPr wrap="square" lIns="0" tIns="0" rIns="0" bIns="0" rtlCol="0" anchor="ctr"/>
          <a:lstStyle/>
          <a:p>
            <a:pPr algn="ctr" indent="0" marL="0">
              <a:buNone/>
            </a:pPr>
            <a:r>
              <a:rPr lang="en-US" sz="1250" dirty="0">
                <a:solidFill>
                  <a:srgbClr val="35474F"/>
                </a:solidFill>
                <a:latin typeface="Calibri" pitchFamily="34" charset="0"/>
                <a:ea typeface="Calibri" pitchFamily="34" charset="-122"/>
                <a:cs typeface="Calibri" pitchFamily="34" charset="-120"/>
              </a:rPr>
              <a:t>Satellite ISR</a:t>
            </a:r>
            <a:endParaRPr lang="en-US" sz="1250" dirty="0"/>
          </a:p>
        </p:txBody>
      </p:sp>
      <p:sp>
        <p:nvSpPr>
          <p:cNvPr id="20" name="Shape 18"/>
          <p:cNvSpPr/>
          <p:nvPr/>
        </p:nvSpPr>
        <p:spPr>
          <a:xfrm>
            <a:off x="566928" y="3977640"/>
            <a:ext cx="1965960" cy="402336"/>
          </a:xfrm>
          <a:prstGeom prst="roundRect">
            <a:avLst>
              <a:gd name="adj" fmla="val 13636"/>
            </a:avLst>
          </a:prstGeom>
          <a:solidFill>
            <a:srgbClr val="FFFFFF"/>
          </a:solidFill>
          <a:ln w="15875">
            <a:solidFill>
              <a:srgbClr val="DDE4E4"/>
            </a:solidFill>
            <a:prstDash val="solid"/>
          </a:ln>
        </p:spPr>
      </p:sp>
      <p:sp>
        <p:nvSpPr>
          <p:cNvPr id="21" name="Text 19"/>
          <p:cNvSpPr txBox="1"/>
          <p:nvPr/>
        </p:nvSpPr>
        <p:spPr>
          <a:xfrm>
            <a:off x="566928" y="3977640"/>
            <a:ext cx="1965960" cy="402336"/>
          </a:xfrm>
          <a:prstGeom prst="rect">
            <a:avLst/>
          </a:prstGeom>
          <a:noFill/>
          <a:ln/>
        </p:spPr>
        <p:txBody>
          <a:bodyPr wrap="square" lIns="0" tIns="0" rIns="0" bIns="0" rtlCol="0" anchor="ctr"/>
          <a:lstStyle/>
          <a:p>
            <a:pPr algn="ctr" indent="0" marL="0">
              <a:buNone/>
            </a:pPr>
            <a:r>
              <a:rPr lang="en-US" sz="1250" dirty="0">
                <a:solidFill>
                  <a:srgbClr val="35474F"/>
                </a:solidFill>
                <a:latin typeface="Calibri" pitchFamily="34" charset="0"/>
                <a:ea typeface="Calibri" pitchFamily="34" charset="-122"/>
                <a:cs typeface="Calibri" pitchFamily="34" charset="-120"/>
              </a:rPr>
              <a:t>Written reports</a:t>
            </a:r>
            <a:endParaRPr lang="en-US" sz="1250" dirty="0"/>
          </a:p>
        </p:txBody>
      </p:sp>
      <p:sp>
        <p:nvSpPr>
          <p:cNvPr id="22" name="Shape 20"/>
          <p:cNvSpPr/>
          <p:nvPr/>
        </p:nvSpPr>
        <p:spPr>
          <a:xfrm>
            <a:off x="4526280" y="2560320"/>
            <a:ext cx="2103120" cy="914400"/>
          </a:xfrm>
          <a:prstGeom prst="roundRect">
            <a:avLst>
              <a:gd name="adj" fmla="val 6000"/>
            </a:avLst>
          </a:prstGeom>
          <a:solidFill>
            <a:srgbClr val="EAF3F4"/>
          </a:solidFill>
          <a:ln w="15875">
            <a:solidFill>
              <a:srgbClr val="3E8695"/>
            </a:solidFill>
            <a:prstDash val="solid"/>
          </a:ln>
        </p:spPr>
      </p:sp>
      <p:sp>
        <p:nvSpPr>
          <p:cNvPr id="23" name="Text 21"/>
          <p:cNvSpPr txBox="1"/>
          <p:nvPr/>
        </p:nvSpPr>
        <p:spPr>
          <a:xfrm>
            <a:off x="4526280" y="2651760"/>
            <a:ext cx="2103120" cy="402336"/>
          </a:xfrm>
          <a:prstGeom prst="rect">
            <a:avLst/>
          </a:prstGeom>
          <a:noFill/>
          <a:ln/>
        </p:spPr>
        <p:txBody>
          <a:bodyPr wrap="square" lIns="0" tIns="0" rIns="0" bIns="0" rtlCol="0" anchor="ctr"/>
          <a:lstStyle/>
          <a:p>
            <a:pPr algn="ctr" indent="0" marL="0">
              <a:buNone/>
            </a:pPr>
            <a:r>
              <a:rPr lang="en-US" sz="2300" b="1" dirty="0">
                <a:solidFill>
                  <a:srgbClr val="10212A"/>
                </a:solidFill>
                <a:latin typeface="Cambria" pitchFamily="34" charset="0"/>
                <a:ea typeface="Cambria" pitchFamily="34" charset="-122"/>
                <a:cs typeface="Cambria" pitchFamily="34" charset="-120"/>
              </a:rPr>
              <a:t>4,812 alerts</a:t>
            </a:r>
            <a:endParaRPr lang="en-US" sz="2300" dirty="0"/>
          </a:p>
        </p:txBody>
      </p:sp>
      <p:sp>
        <p:nvSpPr>
          <p:cNvPr id="24" name="Text 22"/>
          <p:cNvSpPr txBox="1"/>
          <p:nvPr/>
        </p:nvSpPr>
        <p:spPr>
          <a:xfrm>
            <a:off x="4526280" y="3054096"/>
            <a:ext cx="2103120" cy="292608"/>
          </a:xfrm>
          <a:prstGeom prst="rect">
            <a:avLst/>
          </a:prstGeom>
          <a:noFill/>
          <a:ln/>
        </p:spPr>
        <p:txBody>
          <a:bodyPr wrap="square" lIns="0" tIns="0" rIns="0" bIns="0" rtlCol="0" anchor="ctr"/>
          <a:lstStyle/>
          <a:p>
            <a:pPr algn="ctr" indent="0" marL="0">
              <a:buNone/>
            </a:pPr>
            <a:r>
              <a:rPr lang="en-US" sz="1200" dirty="0">
                <a:solidFill>
                  <a:srgbClr val="6A8087"/>
                </a:solidFill>
                <a:latin typeface="Calibri" pitchFamily="34" charset="0"/>
                <a:ea typeface="Calibri" pitchFamily="34" charset="-122"/>
                <a:cs typeface="Calibri" pitchFamily="34" charset="-120"/>
              </a:rPr>
              <a:t>in one 24-hour watch</a:t>
            </a:r>
            <a:endParaRPr lang="en-US" sz="1200" dirty="0"/>
          </a:p>
        </p:txBody>
      </p:sp>
      <p:sp>
        <p:nvSpPr>
          <p:cNvPr id="25" name="Text 23"/>
          <p:cNvSpPr txBox="1"/>
          <p:nvPr/>
        </p:nvSpPr>
        <p:spPr>
          <a:xfrm>
            <a:off x="5349240" y="3529584"/>
            <a:ext cx="457200" cy="274320"/>
          </a:xfrm>
          <a:prstGeom prst="rect">
            <a:avLst/>
          </a:prstGeom>
          <a:noFill/>
          <a:ln/>
        </p:spPr>
        <p:txBody>
          <a:bodyPr wrap="square" lIns="0" tIns="0" rIns="0" bIns="0" rtlCol="0" anchor="ctr"/>
          <a:lstStyle/>
          <a:p>
            <a:pPr algn="ctr" indent="0" marL="0">
              <a:buNone/>
            </a:pPr>
            <a:r>
              <a:rPr lang="en-US" sz="2000" b="1" dirty="0">
                <a:solidFill>
                  <a:srgbClr val="D64545"/>
                </a:solidFill>
                <a:latin typeface="Calibri" pitchFamily="34" charset="0"/>
                <a:ea typeface="Calibri" pitchFamily="34" charset="-122"/>
                <a:cs typeface="Calibri" pitchFamily="34" charset="-120"/>
              </a:rPr>
              <a:t>↓</a:t>
            </a:r>
            <a:endParaRPr lang="en-US" sz="2000" dirty="0"/>
          </a:p>
        </p:txBody>
      </p:sp>
      <p:sp>
        <p:nvSpPr>
          <p:cNvPr id="26" name="Shape 24"/>
          <p:cNvSpPr/>
          <p:nvPr/>
        </p:nvSpPr>
        <p:spPr>
          <a:xfrm>
            <a:off x="4526280" y="3858768"/>
            <a:ext cx="2103120" cy="603504"/>
          </a:xfrm>
          <a:prstGeom prst="roundRect">
            <a:avLst>
              <a:gd name="adj" fmla="val 9091"/>
            </a:avLst>
          </a:prstGeom>
          <a:solidFill>
            <a:srgbClr val="FCEFEE"/>
          </a:solidFill>
          <a:ln w="15875">
            <a:solidFill>
              <a:srgbClr val="D64545"/>
            </a:solidFill>
            <a:prstDash val="solid"/>
          </a:ln>
        </p:spPr>
      </p:sp>
      <p:sp>
        <p:nvSpPr>
          <p:cNvPr id="27" name="Text 25"/>
          <p:cNvSpPr txBox="1"/>
          <p:nvPr/>
        </p:nvSpPr>
        <p:spPr>
          <a:xfrm>
            <a:off x="4526280" y="3858768"/>
            <a:ext cx="2103120" cy="603504"/>
          </a:xfrm>
          <a:prstGeom prst="rect">
            <a:avLst/>
          </a:prstGeom>
          <a:noFill/>
          <a:ln/>
        </p:spPr>
        <p:txBody>
          <a:bodyPr wrap="square" lIns="0" tIns="0" rIns="0" bIns="0" rtlCol="0" anchor="ctr"/>
          <a:lstStyle/>
          <a:p>
            <a:pPr algn="ctr" indent="0" marL="0">
              <a:buNone/>
            </a:pPr>
            <a:r>
              <a:rPr lang="en-US" sz="1400" b="1" dirty="0">
                <a:solidFill>
                  <a:srgbClr val="10212A"/>
                </a:solidFill>
                <a:latin typeface="Calibri" pitchFamily="34" charset="0"/>
                <a:ea typeface="Calibri" pitchFamily="34" charset="-122"/>
                <a:cs typeface="Calibri" pitchFamily="34" charset="-120"/>
              </a:rPr>
              <a:t>One duty team</a:t>
            </a:r>
            <a:endParaRPr lang="en-US" sz="1400" dirty="0"/>
          </a:p>
        </p:txBody>
      </p:sp>
      <p:sp>
        <p:nvSpPr>
          <p:cNvPr id="28" name="Text 26"/>
          <p:cNvSpPr txBox="1"/>
          <p:nvPr/>
        </p:nvSpPr>
        <p:spPr>
          <a:xfrm>
            <a:off x="566928" y="4617720"/>
            <a:ext cx="6035040" cy="310896"/>
          </a:xfrm>
          <a:prstGeom prst="rect">
            <a:avLst/>
          </a:prstGeom>
          <a:noFill/>
          <a:ln/>
        </p:spPr>
        <p:txBody>
          <a:bodyPr wrap="square" lIns="0" tIns="0" rIns="0" bIns="0" rtlCol="0" anchor="ctr"/>
          <a:lstStyle/>
          <a:p>
            <a:pPr indent="0" marL="0">
              <a:buNone/>
            </a:pPr>
            <a:r>
              <a:rPr lang="en-US" sz="1300" i="1" dirty="0">
                <a:solidFill>
                  <a:srgbClr val="6A8087"/>
                </a:solidFill>
                <a:latin typeface="Calibri" pitchFamily="34" charset="0"/>
                <a:ea typeface="Calibri" pitchFamily="34" charset="-122"/>
                <a:cs typeface="Calibri" pitchFamily="34" charset="-120"/>
              </a:rPr>
              <a:t>Six systems. Six formats. None of them talk to each other.</a:t>
            </a:r>
            <a:endParaRPr lang="en-US" sz="1300" dirty="0"/>
          </a:p>
        </p:txBody>
      </p:sp>
      <p:sp>
        <p:nvSpPr>
          <p:cNvPr id="29" name="Shape 27"/>
          <p:cNvSpPr/>
          <p:nvPr/>
        </p:nvSpPr>
        <p:spPr>
          <a:xfrm>
            <a:off x="6903720" y="1554480"/>
            <a:ext cx="4718304" cy="1097280"/>
          </a:xfrm>
          <a:prstGeom prst="roundRect">
            <a:avLst>
              <a:gd name="adj" fmla="val 5000"/>
            </a:avLst>
          </a:prstGeom>
          <a:solidFill>
            <a:srgbClr val="FFFFFF"/>
          </a:solidFill>
          <a:ln w="15875">
            <a:solidFill>
              <a:srgbClr val="DDE4E4"/>
            </a:solidFill>
            <a:prstDash val="solid"/>
          </a:ln>
        </p:spPr>
      </p:sp>
      <p:sp>
        <p:nvSpPr>
          <p:cNvPr id="30" name="Text 28"/>
          <p:cNvSpPr txBox="1"/>
          <p:nvPr/>
        </p:nvSpPr>
        <p:spPr>
          <a:xfrm>
            <a:off x="7178040" y="1682496"/>
            <a:ext cx="4206240" cy="310896"/>
          </a:xfrm>
          <a:prstGeom prst="rect">
            <a:avLst/>
          </a:prstGeom>
          <a:noFill/>
          <a:ln/>
        </p:spPr>
        <p:txBody>
          <a:bodyPr wrap="square" lIns="0" tIns="0" rIns="0" bIns="0" rtlCol="0" anchor="ctr"/>
          <a:lstStyle/>
          <a:p>
            <a:pPr indent="0" marL="0">
              <a:buNone/>
            </a:pPr>
            <a:r>
              <a:rPr lang="en-US" sz="2000" b="1" dirty="0">
                <a:solidFill>
                  <a:srgbClr val="10212A"/>
                </a:solidFill>
                <a:latin typeface="Cambria" pitchFamily="34" charset="0"/>
                <a:ea typeface="Cambria" pitchFamily="34" charset="-122"/>
                <a:cs typeface="Cambria" pitchFamily="34" charset="-120"/>
              </a:rPr>
              <a:t>Who</a:t>
            </a:r>
            <a:endParaRPr lang="en-US" sz="2000" dirty="0"/>
          </a:p>
        </p:txBody>
      </p:sp>
      <p:sp>
        <p:nvSpPr>
          <p:cNvPr id="31" name="Text 29"/>
          <p:cNvSpPr txBox="1"/>
          <p:nvPr/>
        </p:nvSpPr>
        <p:spPr>
          <a:xfrm>
            <a:off x="7178040" y="2048256"/>
            <a:ext cx="4169664" cy="548640"/>
          </a:xfrm>
          <a:prstGeom prst="rect">
            <a:avLst/>
          </a:prstGeom>
          <a:noFill/>
          <a:ln/>
        </p:spPr>
        <p:txBody>
          <a:bodyPr wrap="square" lIns="0" tIns="0" rIns="0" bIns="0" rtlCol="0" anchor="ctr"/>
          <a:lstStyle/>
          <a:p>
            <a:pPr indent="0" marL="0">
              <a:lnSpc>
                <a:spcPts val="1800"/>
              </a:lnSpc>
              <a:buNone/>
            </a:pPr>
            <a:r>
              <a:rPr lang="en-US" sz="1400" dirty="0">
                <a:solidFill>
                  <a:srgbClr val="35474F"/>
                </a:solidFill>
                <a:latin typeface="Calibri" pitchFamily="34" charset="0"/>
                <a:ea typeface="Calibri" pitchFamily="34" charset="-122"/>
                <a:cs typeface="Calibri" pitchFamily="34" charset="-120"/>
              </a:rPr>
              <a:t>A handful of analysts and one commander per shift.</a:t>
            </a:r>
            <a:endParaRPr lang="en-US" sz="1400" dirty="0"/>
          </a:p>
        </p:txBody>
      </p:sp>
      <p:sp>
        <p:nvSpPr>
          <p:cNvPr id="32" name="Shape 30"/>
          <p:cNvSpPr/>
          <p:nvPr/>
        </p:nvSpPr>
        <p:spPr>
          <a:xfrm>
            <a:off x="6903720" y="2743200"/>
            <a:ext cx="4718304" cy="1097280"/>
          </a:xfrm>
          <a:prstGeom prst="roundRect">
            <a:avLst>
              <a:gd name="adj" fmla="val 5000"/>
            </a:avLst>
          </a:prstGeom>
          <a:solidFill>
            <a:srgbClr val="FFFFFF"/>
          </a:solidFill>
          <a:ln w="15875">
            <a:solidFill>
              <a:srgbClr val="DDE4E4"/>
            </a:solidFill>
            <a:prstDash val="solid"/>
          </a:ln>
        </p:spPr>
      </p:sp>
      <p:sp>
        <p:nvSpPr>
          <p:cNvPr id="33" name="Text 31"/>
          <p:cNvSpPr txBox="1"/>
          <p:nvPr/>
        </p:nvSpPr>
        <p:spPr>
          <a:xfrm>
            <a:off x="7178040" y="2871216"/>
            <a:ext cx="4206240" cy="310896"/>
          </a:xfrm>
          <a:prstGeom prst="rect">
            <a:avLst/>
          </a:prstGeom>
          <a:noFill/>
          <a:ln/>
        </p:spPr>
        <p:txBody>
          <a:bodyPr wrap="square" lIns="0" tIns="0" rIns="0" bIns="0" rtlCol="0" anchor="ctr"/>
          <a:lstStyle/>
          <a:p>
            <a:pPr indent="0" marL="0">
              <a:buNone/>
            </a:pPr>
            <a:r>
              <a:rPr lang="en-US" sz="2000" b="1" dirty="0">
                <a:solidFill>
                  <a:srgbClr val="10212A"/>
                </a:solidFill>
                <a:latin typeface="Cambria" pitchFamily="34" charset="0"/>
                <a:ea typeface="Cambria" pitchFamily="34" charset="-122"/>
                <a:cs typeface="Cambria" pitchFamily="34" charset="-120"/>
              </a:rPr>
              <a:t>What</a:t>
            </a:r>
            <a:endParaRPr lang="en-US" sz="2000" dirty="0"/>
          </a:p>
        </p:txBody>
      </p:sp>
      <p:sp>
        <p:nvSpPr>
          <p:cNvPr id="34" name="Text 32"/>
          <p:cNvSpPr txBox="1"/>
          <p:nvPr/>
        </p:nvSpPr>
        <p:spPr>
          <a:xfrm>
            <a:off x="7178040" y="3236976"/>
            <a:ext cx="4169664" cy="548640"/>
          </a:xfrm>
          <a:prstGeom prst="rect">
            <a:avLst/>
          </a:prstGeom>
          <a:noFill/>
          <a:ln/>
        </p:spPr>
        <p:txBody>
          <a:bodyPr wrap="square" lIns="0" tIns="0" rIns="0" bIns="0" rtlCol="0" anchor="ctr"/>
          <a:lstStyle/>
          <a:p>
            <a:pPr indent="0" marL="0">
              <a:lnSpc>
                <a:spcPts val="1800"/>
              </a:lnSpc>
              <a:buNone/>
            </a:pPr>
            <a:r>
              <a:rPr lang="en-US" sz="1400" dirty="0">
                <a:solidFill>
                  <a:srgbClr val="35474F"/>
                </a:solidFill>
                <a:latin typeface="Calibri" pitchFamily="34" charset="0"/>
                <a:ea typeface="Calibri" pitchFamily="34" charset="-122"/>
                <a:cs typeface="Calibri" pitchFamily="34" charset="-120"/>
              </a:rPr>
              <a:t>Alerts from six systems that share no common format.</a:t>
            </a:r>
            <a:endParaRPr lang="en-US" sz="1400" dirty="0"/>
          </a:p>
        </p:txBody>
      </p:sp>
      <p:sp>
        <p:nvSpPr>
          <p:cNvPr id="35" name="Shape 33"/>
          <p:cNvSpPr/>
          <p:nvPr/>
        </p:nvSpPr>
        <p:spPr>
          <a:xfrm>
            <a:off x="6903720" y="3931920"/>
            <a:ext cx="4718304" cy="1097280"/>
          </a:xfrm>
          <a:prstGeom prst="roundRect">
            <a:avLst>
              <a:gd name="adj" fmla="val 5000"/>
            </a:avLst>
          </a:prstGeom>
          <a:solidFill>
            <a:srgbClr val="FFFFFF"/>
          </a:solidFill>
          <a:ln w="15875">
            <a:solidFill>
              <a:srgbClr val="DDE4E4"/>
            </a:solidFill>
            <a:prstDash val="solid"/>
          </a:ln>
        </p:spPr>
      </p:sp>
      <p:sp>
        <p:nvSpPr>
          <p:cNvPr id="36" name="Text 34"/>
          <p:cNvSpPr txBox="1"/>
          <p:nvPr/>
        </p:nvSpPr>
        <p:spPr>
          <a:xfrm>
            <a:off x="7178040" y="4059936"/>
            <a:ext cx="4206240" cy="310896"/>
          </a:xfrm>
          <a:prstGeom prst="rect">
            <a:avLst/>
          </a:prstGeom>
          <a:noFill/>
          <a:ln/>
        </p:spPr>
        <p:txBody>
          <a:bodyPr wrap="square" lIns="0" tIns="0" rIns="0" bIns="0" rtlCol="0" anchor="ctr"/>
          <a:lstStyle/>
          <a:p>
            <a:pPr indent="0" marL="0">
              <a:buNone/>
            </a:pPr>
            <a:r>
              <a:rPr lang="en-US" sz="2000" b="1" dirty="0">
                <a:solidFill>
                  <a:srgbClr val="10212A"/>
                </a:solidFill>
                <a:latin typeface="Cambria" pitchFamily="34" charset="0"/>
                <a:ea typeface="Cambria" pitchFamily="34" charset="-122"/>
                <a:cs typeface="Cambria" pitchFamily="34" charset="-120"/>
              </a:rPr>
              <a:t>Why it hurts</a:t>
            </a:r>
            <a:endParaRPr lang="en-US" sz="2000" dirty="0"/>
          </a:p>
        </p:txBody>
      </p:sp>
      <p:sp>
        <p:nvSpPr>
          <p:cNvPr id="37" name="Text 35"/>
          <p:cNvSpPr txBox="1"/>
          <p:nvPr/>
        </p:nvSpPr>
        <p:spPr>
          <a:xfrm>
            <a:off x="7178040" y="4425696"/>
            <a:ext cx="4169664" cy="548640"/>
          </a:xfrm>
          <a:prstGeom prst="rect">
            <a:avLst/>
          </a:prstGeom>
          <a:noFill/>
          <a:ln/>
        </p:spPr>
        <p:txBody>
          <a:bodyPr wrap="square" lIns="0" tIns="0" rIns="0" bIns="0" rtlCol="0" anchor="ctr"/>
          <a:lstStyle/>
          <a:p>
            <a:pPr indent="0" marL="0">
              <a:lnSpc>
                <a:spcPts val="1800"/>
              </a:lnSpc>
              <a:buNone/>
            </a:pPr>
            <a:r>
              <a:rPr lang="en-US" sz="1400" dirty="0">
                <a:solidFill>
                  <a:srgbClr val="35474F"/>
                </a:solidFill>
                <a:latin typeface="Calibri" pitchFamily="34" charset="0"/>
                <a:ea typeface="Calibri" pitchFamily="34" charset="-122"/>
                <a:cs typeface="Calibri" pitchFamily="34" charset="-120"/>
              </a:rPr>
              <a:t>The real threat is a faint signal spread across three feeds. Nobody joins them up in time.</a:t>
            </a:r>
            <a:endParaRPr lang="en-US" sz="1400" dirty="0"/>
          </a:p>
        </p:txBody>
      </p:sp>
      <p:sp>
        <p:nvSpPr>
          <p:cNvPr id="38" name="Shape 36"/>
          <p:cNvSpPr/>
          <p:nvPr/>
        </p:nvSpPr>
        <p:spPr>
          <a:xfrm>
            <a:off x="566928" y="5074920"/>
            <a:ext cx="11055096" cy="1005840"/>
          </a:xfrm>
          <a:prstGeom prst="roundRect">
            <a:avLst>
              <a:gd name="adj" fmla="val 5455"/>
            </a:avLst>
          </a:prstGeom>
          <a:solidFill>
            <a:srgbClr val="FCEFEE"/>
          </a:solidFill>
          <a:ln w="15875">
            <a:solidFill>
              <a:srgbClr val="D64545"/>
            </a:solidFill>
            <a:prstDash val="solid"/>
          </a:ln>
        </p:spPr>
      </p:sp>
      <p:sp>
        <p:nvSpPr>
          <p:cNvPr id="39" name="Text 37"/>
          <p:cNvSpPr txBox="1"/>
          <p:nvPr/>
        </p:nvSpPr>
        <p:spPr>
          <a:xfrm>
            <a:off x="978408" y="5074920"/>
            <a:ext cx="10232136" cy="1005840"/>
          </a:xfrm>
          <a:prstGeom prst="rect">
            <a:avLst/>
          </a:prstGeom>
          <a:noFill/>
          <a:ln/>
        </p:spPr>
        <p:txBody>
          <a:bodyPr wrap="square" lIns="0" tIns="0" rIns="0" bIns="0" rtlCol="0" anchor="ctr"/>
          <a:lstStyle/>
          <a:p>
            <a:pPr indent="0" marL="0">
              <a:lnSpc>
                <a:spcPts val="2400"/>
              </a:lnSpc>
              <a:buNone/>
            </a:pPr>
            <a:r>
              <a:rPr lang="en-US" sz="1900" b="1" dirty="0">
                <a:solidFill>
                  <a:srgbClr val="10212A"/>
                </a:solidFill>
                <a:latin typeface="Cambria" pitchFamily="34" charset="0"/>
                <a:ea typeface="Cambria" pitchFamily="34" charset="-122"/>
                <a:cs typeface="Cambria" pitchFamily="34" charset="-120"/>
              </a:rPr>
              <a:t>Miss a real threat and the damage is done. Chase a false one and the real attack runs free.</a:t>
            </a:r>
            <a:endParaRPr lang="en-US" sz="19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66928" y="237744"/>
            <a:ext cx="11055096" cy="256032"/>
          </a:xfrm>
          <a:prstGeom prst="rect">
            <a:avLst/>
          </a:prstGeom>
          <a:noFill/>
          <a:ln/>
        </p:spPr>
        <p:txBody>
          <a:bodyPr wrap="square" lIns="0" tIns="0" rIns="0" bIns="0" rtlCol="0" anchor="ctr"/>
          <a:lstStyle/>
          <a:p>
            <a:pPr indent="0" marL="0">
              <a:buNone/>
            </a:pPr>
            <a:r>
              <a:rPr lang="en-US" sz="1300" b="1" spc="140" kern="0" dirty="0">
                <a:solidFill>
                  <a:srgbClr val="3E8695"/>
                </a:solidFill>
                <a:latin typeface="Calibri" pitchFamily="34" charset="0"/>
                <a:ea typeface="Calibri" pitchFamily="34" charset="-122"/>
                <a:cs typeface="Calibri" pitchFamily="34" charset="-120"/>
              </a:rPr>
              <a:t>SOLUTION</a:t>
            </a:r>
            <a:endParaRPr lang="en-US" sz="1300" dirty="0"/>
          </a:p>
        </p:txBody>
      </p:sp>
      <p:sp>
        <p:nvSpPr>
          <p:cNvPr id="3" name="Text 1"/>
          <p:cNvSpPr txBox="1"/>
          <p:nvPr/>
        </p:nvSpPr>
        <p:spPr>
          <a:xfrm>
            <a:off x="566928" y="457200"/>
            <a:ext cx="11055096" cy="713232"/>
          </a:xfrm>
          <a:prstGeom prst="rect">
            <a:avLst/>
          </a:prstGeom>
          <a:noFill/>
          <a:ln/>
        </p:spPr>
        <p:txBody>
          <a:bodyPr wrap="square" lIns="0" tIns="0" rIns="0" bIns="0" rtlCol="0" anchor="ctr"/>
          <a:lstStyle/>
          <a:p>
            <a:pPr indent="0" marL="0">
              <a:buNone/>
            </a:pPr>
            <a:r>
              <a:rPr lang="en-US" sz="3600" b="1" dirty="0">
                <a:solidFill>
                  <a:srgbClr val="10212A"/>
                </a:solidFill>
                <a:latin typeface="Cambria" pitchFamily="34" charset="0"/>
                <a:ea typeface="Cambria" pitchFamily="34" charset="-122"/>
                <a:cs typeface="Cambria" pitchFamily="34" charset="-120"/>
              </a:rPr>
              <a:t>CLARION finds the few alerts that matter</a:t>
            </a:r>
            <a:endParaRPr lang="en-US" sz="3600" dirty="0"/>
          </a:p>
        </p:txBody>
      </p:sp>
      <p:sp>
        <p:nvSpPr>
          <p:cNvPr id="4" name="Shape 2"/>
          <p:cNvSpPr/>
          <p:nvPr/>
        </p:nvSpPr>
        <p:spPr>
          <a:xfrm>
            <a:off x="566928" y="1417320"/>
            <a:ext cx="2489454" cy="1920240"/>
          </a:xfrm>
          <a:prstGeom prst="roundRect">
            <a:avLst>
              <a:gd name="adj" fmla="val 2857"/>
            </a:avLst>
          </a:prstGeom>
          <a:solidFill>
            <a:srgbClr val="FFFFFF"/>
          </a:solidFill>
          <a:ln w="15875">
            <a:solidFill>
              <a:srgbClr val="DDE4E4"/>
            </a:solidFill>
            <a:prstDash val="solid"/>
          </a:ln>
        </p:spPr>
      </p:sp>
      <p:sp>
        <p:nvSpPr>
          <p:cNvPr id="5" name="Shape 3"/>
          <p:cNvSpPr/>
          <p:nvPr/>
        </p:nvSpPr>
        <p:spPr>
          <a:xfrm>
            <a:off x="841248" y="1627632"/>
            <a:ext cx="438912" cy="438912"/>
          </a:xfrm>
          <a:prstGeom prst="ellipse">
            <a:avLst/>
          </a:prstGeom>
          <a:solidFill>
            <a:srgbClr val="4E9AA8"/>
          </a:solidFill>
          <a:ln w="12700">
            <a:solidFill>
              <a:srgbClr val="4E9AA8"/>
            </a:solidFill>
            <a:prstDash val="solid"/>
          </a:ln>
        </p:spPr>
      </p:sp>
      <p:sp>
        <p:nvSpPr>
          <p:cNvPr id="6" name="Text 4"/>
          <p:cNvSpPr txBox="1"/>
          <p:nvPr/>
        </p:nvSpPr>
        <p:spPr>
          <a:xfrm>
            <a:off x="841248" y="1627632"/>
            <a:ext cx="438912" cy="438912"/>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1</a:t>
            </a:r>
            <a:endParaRPr lang="en-US" sz="1600" dirty="0"/>
          </a:p>
        </p:txBody>
      </p:sp>
      <p:sp>
        <p:nvSpPr>
          <p:cNvPr id="7" name="Text 5"/>
          <p:cNvSpPr txBox="1"/>
          <p:nvPr/>
        </p:nvSpPr>
        <p:spPr>
          <a:xfrm>
            <a:off x="841248" y="2157984"/>
            <a:ext cx="1940814" cy="347472"/>
          </a:xfrm>
          <a:prstGeom prst="rect">
            <a:avLst/>
          </a:prstGeom>
          <a:noFill/>
          <a:ln/>
        </p:spPr>
        <p:txBody>
          <a:bodyPr wrap="square" lIns="0" tIns="0" rIns="0" bIns="0" rtlCol="0" anchor="ctr"/>
          <a:lstStyle/>
          <a:p>
            <a:pPr indent="0" marL="0">
              <a:buNone/>
            </a:pPr>
            <a:r>
              <a:rPr lang="en-US" sz="2200" b="1" dirty="0">
                <a:solidFill>
                  <a:srgbClr val="10212A"/>
                </a:solidFill>
                <a:latin typeface="Cambria" pitchFamily="34" charset="0"/>
                <a:ea typeface="Cambria" pitchFamily="34" charset="-122"/>
                <a:cs typeface="Cambria" pitchFamily="34" charset="-120"/>
              </a:rPr>
              <a:t>Read</a:t>
            </a:r>
            <a:endParaRPr lang="en-US" sz="2200" dirty="0"/>
          </a:p>
        </p:txBody>
      </p:sp>
      <p:sp>
        <p:nvSpPr>
          <p:cNvPr id="8" name="Text 6"/>
          <p:cNvSpPr txBox="1"/>
          <p:nvPr/>
        </p:nvSpPr>
        <p:spPr>
          <a:xfrm>
            <a:off x="841248" y="2542032"/>
            <a:ext cx="1940814" cy="731520"/>
          </a:xfrm>
          <a:prstGeom prst="rect">
            <a:avLst/>
          </a:prstGeom>
          <a:noFill/>
          <a:ln/>
        </p:spPr>
        <p:txBody>
          <a:bodyPr wrap="square" lIns="0" tIns="0" rIns="0" bIns="0" rtlCol="0" anchor="ctr"/>
          <a:lstStyle/>
          <a:p>
            <a:pPr indent="0" marL="0">
              <a:lnSpc>
                <a:spcPts val="1800"/>
              </a:lnSpc>
              <a:buNone/>
            </a:pPr>
            <a:r>
              <a:rPr lang="en-US" sz="1400" dirty="0">
                <a:solidFill>
                  <a:srgbClr val="35474F"/>
                </a:solidFill>
                <a:latin typeface="Calibri" pitchFamily="34" charset="0"/>
                <a:ea typeface="Calibri" pitchFamily="34" charset="-122"/>
                <a:cs typeface="Calibri" pitchFamily="34" charset="-120"/>
              </a:rPr>
              <a:t>Turns all six feeds into one common format.</a:t>
            </a:r>
            <a:endParaRPr lang="en-US" sz="1400" dirty="0"/>
          </a:p>
        </p:txBody>
      </p:sp>
      <p:sp>
        <p:nvSpPr>
          <p:cNvPr id="9" name="Text 7"/>
          <p:cNvSpPr txBox="1"/>
          <p:nvPr/>
        </p:nvSpPr>
        <p:spPr>
          <a:xfrm>
            <a:off x="3056382" y="2194560"/>
            <a:ext cx="365760" cy="274320"/>
          </a:xfrm>
          <a:prstGeom prst="rect">
            <a:avLst/>
          </a:prstGeom>
          <a:noFill/>
          <a:ln/>
        </p:spPr>
        <p:txBody>
          <a:bodyPr wrap="square" lIns="0" tIns="0" rIns="0" bIns="0" rtlCol="0" anchor="ctr"/>
          <a:lstStyle/>
          <a:p>
            <a:pPr algn="ctr" indent="0" marL="0">
              <a:buNone/>
            </a:pPr>
            <a:r>
              <a:rPr lang="en-US" sz="1800" b="1" dirty="0">
                <a:solidFill>
                  <a:srgbClr val="B9C6C6"/>
                </a:solidFill>
                <a:latin typeface="Calibri" pitchFamily="34" charset="0"/>
                <a:ea typeface="Calibri" pitchFamily="34" charset="-122"/>
                <a:cs typeface="Calibri" pitchFamily="34" charset="-120"/>
              </a:rPr>
              <a:t>→</a:t>
            </a:r>
            <a:endParaRPr lang="en-US" sz="1800" dirty="0"/>
          </a:p>
        </p:txBody>
      </p:sp>
      <p:sp>
        <p:nvSpPr>
          <p:cNvPr id="10" name="Shape 8"/>
          <p:cNvSpPr/>
          <p:nvPr/>
        </p:nvSpPr>
        <p:spPr>
          <a:xfrm>
            <a:off x="3422142" y="1417320"/>
            <a:ext cx="2489454" cy="1920240"/>
          </a:xfrm>
          <a:prstGeom prst="roundRect">
            <a:avLst>
              <a:gd name="adj" fmla="val 2857"/>
            </a:avLst>
          </a:prstGeom>
          <a:solidFill>
            <a:srgbClr val="FFFFFF"/>
          </a:solidFill>
          <a:ln w="15875">
            <a:solidFill>
              <a:srgbClr val="DDE4E4"/>
            </a:solidFill>
            <a:prstDash val="solid"/>
          </a:ln>
        </p:spPr>
      </p:sp>
      <p:sp>
        <p:nvSpPr>
          <p:cNvPr id="11" name="Shape 9"/>
          <p:cNvSpPr/>
          <p:nvPr/>
        </p:nvSpPr>
        <p:spPr>
          <a:xfrm>
            <a:off x="3696462" y="1627632"/>
            <a:ext cx="438912" cy="438912"/>
          </a:xfrm>
          <a:prstGeom prst="ellipse">
            <a:avLst/>
          </a:prstGeom>
          <a:solidFill>
            <a:srgbClr val="4E9AA8"/>
          </a:solidFill>
          <a:ln w="12700">
            <a:solidFill>
              <a:srgbClr val="4E9AA8"/>
            </a:solidFill>
            <a:prstDash val="solid"/>
          </a:ln>
        </p:spPr>
      </p:sp>
      <p:sp>
        <p:nvSpPr>
          <p:cNvPr id="12" name="Text 10"/>
          <p:cNvSpPr txBox="1"/>
          <p:nvPr/>
        </p:nvSpPr>
        <p:spPr>
          <a:xfrm>
            <a:off x="3696462" y="1627632"/>
            <a:ext cx="438912" cy="438912"/>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2</a:t>
            </a:r>
            <a:endParaRPr lang="en-US" sz="1600" dirty="0"/>
          </a:p>
        </p:txBody>
      </p:sp>
      <p:sp>
        <p:nvSpPr>
          <p:cNvPr id="13" name="Text 11"/>
          <p:cNvSpPr txBox="1"/>
          <p:nvPr/>
        </p:nvSpPr>
        <p:spPr>
          <a:xfrm>
            <a:off x="3696462" y="2157984"/>
            <a:ext cx="1940814" cy="347472"/>
          </a:xfrm>
          <a:prstGeom prst="rect">
            <a:avLst/>
          </a:prstGeom>
          <a:noFill/>
          <a:ln/>
        </p:spPr>
        <p:txBody>
          <a:bodyPr wrap="square" lIns="0" tIns="0" rIns="0" bIns="0" rtlCol="0" anchor="ctr"/>
          <a:lstStyle/>
          <a:p>
            <a:pPr indent="0" marL="0">
              <a:buNone/>
            </a:pPr>
            <a:r>
              <a:rPr lang="en-US" sz="2200" b="1" dirty="0">
                <a:solidFill>
                  <a:srgbClr val="10212A"/>
                </a:solidFill>
                <a:latin typeface="Cambria" pitchFamily="34" charset="0"/>
                <a:ea typeface="Cambria" pitchFamily="34" charset="-122"/>
                <a:cs typeface="Cambria" pitchFamily="34" charset="-120"/>
              </a:rPr>
              <a:t>Connect</a:t>
            </a:r>
            <a:endParaRPr lang="en-US" sz="2200" dirty="0"/>
          </a:p>
        </p:txBody>
      </p:sp>
      <p:sp>
        <p:nvSpPr>
          <p:cNvPr id="14" name="Text 12"/>
          <p:cNvSpPr txBox="1"/>
          <p:nvPr/>
        </p:nvSpPr>
        <p:spPr>
          <a:xfrm>
            <a:off x="3696462" y="2542032"/>
            <a:ext cx="1940814" cy="731520"/>
          </a:xfrm>
          <a:prstGeom prst="rect">
            <a:avLst/>
          </a:prstGeom>
          <a:noFill/>
          <a:ln/>
        </p:spPr>
        <p:txBody>
          <a:bodyPr wrap="square" lIns="0" tIns="0" rIns="0" bIns="0" rtlCol="0" anchor="ctr"/>
          <a:lstStyle/>
          <a:p>
            <a:pPr indent="0" marL="0">
              <a:lnSpc>
                <a:spcPts val="1800"/>
              </a:lnSpc>
              <a:buNone/>
            </a:pPr>
            <a:r>
              <a:rPr lang="en-US" sz="1400" dirty="0">
                <a:solidFill>
                  <a:srgbClr val="35474F"/>
                </a:solidFill>
                <a:latin typeface="Calibri" pitchFamily="34" charset="0"/>
                <a:ea typeface="Calibri" pitchFamily="34" charset="-122"/>
                <a:cs typeface="Calibri" pitchFamily="34" charset="-120"/>
              </a:rPr>
              <a:t>Groups alerts that share a machine, person or place.</a:t>
            </a:r>
            <a:endParaRPr lang="en-US" sz="1400" dirty="0"/>
          </a:p>
        </p:txBody>
      </p:sp>
      <p:sp>
        <p:nvSpPr>
          <p:cNvPr id="15" name="Text 13"/>
          <p:cNvSpPr txBox="1"/>
          <p:nvPr/>
        </p:nvSpPr>
        <p:spPr>
          <a:xfrm>
            <a:off x="5911596" y="2194560"/>
            <a:ext cx="365760" cy="274320"/>
          </a:xfrm>
          <a:prstGeom prst="rect">
            <a:avLst/>
          </a:prstGeom>
          <a:noFill/>
          <a:ln/>
        </p:spPr>
        <p:txBody>
          <a:bodyPr wrap="square" lIns="0" tIns="0" rIns="0" bIns="0" rtlCol="0" anchor="ctr"/>
          <a:lstStyle/>
          <a:p>
            <a:pPr algn="ctr" indent="0" marL="0">
              <a:buNone/>
            </a:pPr>
            <a:r>
              <a:rPr lang="en-US" sz="1800" b="1" dirty="0">
                <a:solidFill>
                  <a:srgbClr val="B9C6C6"/>
                </a:solidFill>
                <a:latin typeface="Calibri" pitchFamily="34" charset="0"/>
                <a:ea typeface="Calibri" pitchFamily="34" charset="-122"/>
                <a:cs typeface="Calibri" pitchFamily="34" charset="-120"/>
              </a:rPr>
              <a:t>→</a:t>
            </a:r>
            <a:endParaRPr lang="en-US" sz="1800" dirty="0"/>
          </a:p>
        </p:txBody>
      </p:sp>
      <p:sp>
        <p:nvSpPr>
          <p:cNvPr id="16" name="Shape 14"/>
          <p:cNvSpPr/>
          <p:nvPr/>
        </p:nvSpPr>
        <p:spPr>
          <a:xfrm>
            <a:off x="6277356" y="1417320"/>
            <a:ext cx="2489454" cy="1920240"/>
          </a:xfrm>
          <a:prstGeom prst="roundRect">
            <a:avLst>
              <a:gd name="adj" fmla="val 2857"/>
            </a:avLst>
          </a:prstGeom>
          <a:solidFill>
            <a:srgbClr val="FFFFFF"/>
          </a:solidFill>
          <a:ln w="15875">
            <a:solidFill>
              <a:srgbClr val="DDE4E4"/>
            </a:solidFill>
            <a:prstDash val="solid"/>
          </a:ln>
        </p:spPr>
      </p:sp>
      <p:sp>
        <p:nvSpPr>
          <p:cNvPr id="17" name="Shape 15"/>
          <p:cNvSpPr/>
          <p:nvPr/>
        </p:nvSpPr>
        <p:spPr>
          <a:xfrm>
            <a:off x="6551676" y="1627632"/>
            <a:ext cx="438912" cy="438912"/>
          </a:xfrm>
          <a:prstGeom prst="ellipse">
            <a:avLst/>
          </a:prstGeom>
          <a:solidFill>
            <a:srgbClr val="E8A33D"/>
          </a:solidFill>
          <a:ln w="12700">
            <a:solidFill>
              <a:srgbClr val="E8A33D"/>
            </a:solidFill>
            <a:prstDash val="solid"/>
          </a:ln>
        </p:spPr>
      </p:sp>
      <p:sp>
        <p:nvSpPr>
          <p:cNvPr id="18" name="Text 16"/>
          <p:cNvSpPr txBox="1"/>
          <p:nvPr/>
        </p:nvSpPr>
        <p:spPr>
          <a:xfrm>
            <a:off x="6551676" y="1627632"/>
            <a:ext cx="438912" cy="438912"/>
          </a:xfrm>
          <a:prstGeom prst="rect">
            <a:avLst/>
          </a:prstGeom>
          <a:noFill/>
          <a:ln/>
        </p:spPr>
        <p:txBody>
          <a:bodyPr wrap="square" lIns="0" tIns="0" rIns="0" bIns="0" rtlCol="0" anchor="ctr"/>
          <a:lstStyle/>
          <a:p>
            <a:pPr algn="ctr" indent="0" marL="0">
              <a:buNone/>
            </a:pPr>
            <a:r>
              <a:rPr lang="en-US" sz="1600" b="1" dirty="0">
                <a:solidFill>
                  <a:srgbClr val="10212A"/>
                </a:solidFill>
                <a:latin typeface="Calibri" pitchFamily="34" charset="0"/>
                <a:ea typeface="Calibri" pitchFamily="34" charset="-122"/>
                <a:cs typeface="Calibri" pitchFamily="34" charset="-120"/>
              </a:rPr>
              <a:t>3</a:t>
            </a:r>
            <a:endParaRPr lang="en-US" sz="1600" dirty="0"/>
          </a:p>
        </p:txBody>
      </p:sp>
      <p:sp>
        <p:nvSpPr>
          <p:cNvPr id="19" name="Text 17"/>
          <p:cNvSpPr txBox="1"/>
          <p:nvPr/>
        </p:nvSpPr>
        <p:spPr>
          <a:xfrm>
            <a:off x="6551676" y="2157984"/>
            <a:ext cx="1940814" cy="347472"/>
          </a:xfrm>
          <a:prstGeom prst="rect">
            <a:avLst/>
          </a:prstGeom>
          <a:noFill/>
          <a:ln/>
        </p:spPr>
        <p:txBody>
          <a:bodyPr wrap="square" lIns="0" tIns="0" rIns="0" bIns="0" rtlCol="0" anchor="ctr"/>
          <a:lstStyle/>
          <a:p>
            <a:pPr indent="0" marL="0">
              <a:buNone/>
            </a:pPr>
            <a:r>
              <a:rPr lang="en-US" sz="2200" b="1" dirty="0">
                <a:solidFill>
                  <a:srgbClr val="10212A"/>
                </a:solidFill>
                <a:latin typeface="Cambria" pitchFamily="34" charset="0"/>
                <a:ea typeface="Cambria" pitchFamily="34" charset="-122"/>
                <a:cs typeface="Cambria" pitchFamily="34" charset="-120"/>
              </a:rPr>
              <a:t>Rank</a:t>
            </a:r>
            <a:endParaRPr lang="en-US" sz="2200" dirty="0"/>
          </a:p>
        </p:txBody>
      </p:sp>
      <p:sp>
        <p:nvSpPr>
          <p:cNvPr id="20" name="Text 18"/>
          <p:cNvSpPr txBox="1"/>
          <p:nvPr/>
        </p:nvSpPr>
        <p:spPr>
          <a:xfrm>
            <a:off x="6551676" y="2542032"/>
            <a:ext cx="1940814" cy="731520"/>
          </a:xfrm>
          <a:prstGeom prst="rect">
            <a:avLst/>
          </a:prstGeom>
          <a:noFill/>
          <a:ln/>
        </p:spPr>
        <p:txBody>
          <a:bodyPr wrap="square" lIns="0" tIns="0" rIns="0" bIns="0" rtlCol="0" anchor="ctr"/>
          <a:lstStyle/>
          <a:p>
            <a:pPr indent="0" marL="0">
              <a:lnSpc>
                <a:spcPts val="1800"/>
              </a:lnSpc>
              <a:buNone/>
            </a:pPr>
            <a:r>
              <a:rPr lang="en-US" sz="1400" dirty="0">
                <a:solidFill>
                  <a:srgbClr val="35474F"/>
                </a:solidFill>
                <a:latin typeface="Calibri" pitchFamily="34" charset="0"/>
                <a:ea typeface="Calibri" pitchFamily="34" charset="-122"/>
                <a:cs typeface="Calibri" pitchFamily="34" charset="-120"/>
              </a:rPr>
              <a:t>Scores each group and matches known attacker behaviour.</a:t>
            </a:r>
            <a:endParaRPr lang="en-US" sz="1400" dirty="0"/>
          </a:p>
        </p:txBody>
      </p:sp>
      <p:sp>
        <p:nvSpPr>
          <p:cNvPr id="21" name="Text 19"/>
          <p:cNvSpPr txBox="1"/>
          <p:nvPr/>
        </p:nvSpPr>
        <p:spPr>
          <a:xfrm>
            <a:off x="8766810" y="2194560"/>
            <a:ext cx="365760" cy="274320"/>
          </a:xfrm>
          <a:prstGeom prst="rect">
            <a:avLst/>
          </a:prstGeom>
          <a:noFill/>
          <a:ln/>
        </p:spPr>
        <p:txBody>
          <a:bodyPr wrap="square" lIns="0" tIns="0" rIns="0" bIns="0" rtlCol="0" anchor="ctr"/>
          <a:lstStyle/>
          <a:p>
            <a:pPr algn="ctr" indent="0" marL="0">
              <a:buNone/>
            </a:pPr>
            <a:r>
              <a:rPr lang="en-US" sz="1800" b="1" dirty="0">
                <a:solidFill>
                  <a:srgbClr val="B9C6C6"/>
                </a:solidFill>
                <a:latin typeface="Calibri" pitchFamily="34" charset="0"/>
                <a:ea typeface="Calibri" pitchFamily="34" charset="-122"/>
                <a:cs typeface="Calibri" pitchFamily="34" charset="-120"/>
              </a:rPr>
              <a:t>→</a:t>
            </a:r>
            <a:endParaRPr lang="en-US" sz="1800" dirty="0"/>
          </a:p>
        </p:txBody>
      </p:sp>
      <p:sp>
        <p:nvSpPr>
          <p:cNvPr id="22" name="Shape 20"/>
          <p:cNvSpPr/>
          <p:nvPr/>
        </p:nvSpPr>
        <p:spPr>
          <a:xfrm>
            <a:off x="9132570" y="1417320"/>
            <a:ext cx="2489454" cy="1920240"/>
          </a:xfrm>
          <a:prstGeom prst="roundRect">
            <a:avLst>
              <a:gd name="adj" fmla="val 2857"/>
            </a:avLst>
          </a:prstGeom>
          <a:solidFill>
            <a:srgbClr val="FFFFFF"/>
          </a:solidFill>
          <a:ln w="15875">
            <a:solidFill>
              <a:srgbClr val="DDE4E4"/>
            </a:solidFill>
            <a:prstDash val="solid"/>
          </a:ln>
        </p:spPr>
      </p:sp>
      <p:sp>
        <p:nvSpPr>
          <p:cNvPr id="23" name="Shape 21"/>
          <p:cNvSpPr/>
          <p:nvPr/>
        </p:nvSpPr>
        <p:spPr>
          <a:xfrm>
            <a:off x="9406890" y="1627632"/>
            <a:ext cx="438912" cy="438912"/>
          </a:xfrm>
          <a:prstGeom prst="ellipse">
            <a:avLst/>
          </a:prstGeom>
          <a:solidFill>
            <a:srgbClr val="D64545"/>
          </a:solidFill>
          <a:ln w="12700">
            <a:solidFill>
              <a:srgbClr val="D64545"/>
            </a:solidFill>
            <a:prstDash val="solid"/>
          </a:ln>
        </p:spPr>
      </p:sp>
      <p:sp>
        <p:nvSpPr>
          <p:cNvPr id="24" name="Text 22"/>
          <p:cNvSpPr txBox="1"/>
          <p:nvPr/>
        </p:nvSpPr>
        <p:spPr>
          <a:xfrm>
            <a:off x="9406890" y="1627632"/>
            <a:ext cx="438912" cy="438912"/>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4</a:t>
            </a:r>
            <a:endParaRPr lang="en-US" sz="1600" dirty="0"/>
          </a:p>
        </p:txBody>
      </p:sp>
      <p:sp>
        <p:nvSpPr>
          <p:cNvPr id="25" name="Text 23"/>
          <p:cNvSpPr txBox="1"/>
          <p:nvPr/>
        </p:nvSpPr>
        <p:spPr>
          <a:xfrm>
            <a:off x="9406890" y="2157984"/>
            <a:ext cx="1940814" cy="347472"/>
          </a:xfrm>
          <a:prstGeom prst="rect">
            <a:avLst/>
          </a:prstGeom>
          <a:noFill/>
          <a:ln/>
        </p:spPr>
        <p:txBody>
          <a:bodyPr wrap="square" lIns="0" tIns="0" rIns="0" bIns="0" rtlCol="0" anchor="ctr"/>
          <a:lstStyle/>
          <a:p>
            <a:pPr indent="0" marL="0">
              <a:buNone/>
            </a:pPr>
            <a:r>
              <a:rPr lang="en-US" sz="2200" b="1" dirty="0">
                <a:solidFill>
                  <a:srgbClr val="10212A"/>
                </a:solidFill>
                <a:latin typeface="Cambria" pitchFamily="34" charset="0"/>
                <a:ea typeface="Cambria" pitchFamily="34" charset="-122"/>
                <a:cs typeface="Cambria" pitchFamily="34" charset="-120"/>
              </a:rPr>
              <a:t>Brief</a:t>
            </a:r>
            <a:endParaRPr lang="en-US" sz="2200" dirty="0"/>
          </a:p>
        </p:txBody>
      </p:sp>
      <p:sp>
        <p:nvSpPr>
          <p:cNvPr id="26" name="Text 24"/>
          <p:cNvSpPr txBox="1"/>
          <p:nvPr/>
        </p:nvSpPr>
        <p:spPr>
          <a:xfrm>
            <a:off x="9406890" y="2542032"/>
            <a:ext cx="1940814" cy="731520"/>
          </a:xfrm>
          <a:prstGeom prst="rect">
            <a:avLst/>
          </a:prstGeom>
          <a:noFill/>
          <a:ln/>
        </p:spPr>
        <p:txBody>
          <a:bodyPr wrap="square" lIns="0" tIns="0" rIns="0" bIns="0" rtlCol="0" anchor="ctr"/>
          <a:lstStyle/>
          <a:p>
            <a:pPr indent="0" marL="0">
              <a:lnSpc>
                <a:spcPts val="1800"/>
              </a:lnSpc>
              <a:buNone/>
            </a:pPr>
            <a:r>
              <a:rPr lang="en-US" sz="1400" dirty="0">
                <a:solidFill>
                  <a:srgbClr val="35474F"/>
                </a:solidFill>
                <a:latin typeface="Calibri" pitchFamily="34" charset="0"/>
                <a:ea typeface="Calibri" pitchFamily="34" charset="-122"/>
                <a:cs typeface="Calibri" pitchFamily="34" charset="-120"/>
              </a:rPr>
              <a:t>Writes a short, plain brief for the commander.</a:t>
            </a:r>
            <a:endParaRPr lang="en-US" sz="1400" dirty="0"/>
          </a:p>
        </p:txBody>
      </p:sp>
      <p:sp>
        <p:nvSpPr>
          <p:cNvPr id="27" name="Text 25"/>
          <p:cNvSpPr txBox="1"/>
          <p:nvPr/>
        </p:nvSpPr>
        <p:spPr>
          <a:xfrm>
            <a:off x="566928" y="3493008"/>
            <a:ext cx="11055096" cy="310896"/>
          </a:xfrm>
          <a:prstGeom prst="rect">
            <a:avLst/>
          </a:prstGeom>
          <a:noFill/>
          <a:ln/>
        </p:spPr>
        <p:txBody>
          <a:bodyPr wrap="square" lIns="0" tIns="0" rIns="0" bIns="0" rtlCol="0" anchor="ctr"/>
          <a:lstStyle/>
          <a:p>
            <a:pPr indent="0" marL="0">
              <a:buNone/>
            </a:pPr>
            <a:r>
              <a:rPr lang="en-US" sz="1500" b="1" dirty="0">
                <a:solidFill>
                  <a:srgbClr val="10212A"/>
                </a:solidFill>
                <a:latin typeface="Calibri" pitchFamily="34" charset="0"/>
                <a:ea typeface="Calibri" pitchFamily="34" charset="-122"/>
                <a:cs typeface="Calibri" pitchFamily="34" charset="-120"/>
              </a:rPr>
              <a:t>What happens to 4,812 alerts in one watch</a:t>
            </a:r>
            <a:endParaRPr lang="en-US" sz="1500" dirty="0"/>
          </a:p>
        </p:txBody>
      </p:sp>
      <p:sp>
        <p:nvSpPr>
          <p:cNvPr id="28" name="Shape 26"/>
          <p:cNvSpPr/>
          <p:nvPr/>
        </p:nvSpPr>
        <p:spPr>
          <a:xfrm>
            <a:off x="566928" y="3840480"/>
            <a:ext cx="2420874" cy="1188720"/>
          </a:xfrm>
          <a:prstGeom prst="roundRect">
            <a:avLst>
              <a:gd name="adj" fmla="val 4615"/>
            </a:avLst>
          </a:prstGeom>
          <a:solidFill>
            <a:srgbClr val="FFFFFF"/>
          </a:solidFill>
          <a:ln w="15875">
            <a:solidFill>
              <a:srgbClr val="DDE4E4"/>
            </a:solidFill>
            <a:prstDash val="solid"/>
          </a:ln>
        </p:spPr>
      </p:sp>
      <p:sp>
        <p:nvSpPr>
          <p:cNvPr id="29" name="Text 27"/>
          <p:cNvSpPr txBox="1"/>
          <p:nvPr/>
        </p:nvSpPr>
        <p:spPr>
          <a:xfrm>
            <a:off x="566928" y="4005072"/>
            <a:ext cx="2420874" cy="548640"/>
          </a:xfrm>
          <a:prstGeom prst="rect">
            <a:avLst/>
          </a:prstGeom>
          <a:noFill/>
          <a:ln/>
        </p:spPr>
        <p:txBody>
          <a:bodyPr wrap="square" lIns="0" tIns="0" rIns="0" bIns="0" rtlCol="0" anchor="ctr"/>
          <a:lstStyle/>
          <a:p>
            <a:pPr algn="ctr" indent="0" marL="0">
              <a:buNone/>
            </a:pPr>
            <a:r>
              <a:rPr lang="en-US" sz="3600" b="1" dirty="0">
                <a:solidFill>
                  <a:srgbClr val="3E8695"/>
                </a:solidFill>
                <a:latin typeface="Cambria" pitchFamily="34" charset="0"/>
                <a:ea typeface="Cambria" pitchFamily="34" charset="-122"/>
                <a:cs typeface="Cambria" pitchFamily="34" charset="-120"/>
              </a:rPr>
              <a:t>4,812</a:t>
            </a:r>
            <a:endParaRPr lang="en-US" sz="3600" dirty="0"/>
          </a:p>
        </p:txBody>
      </p:sp>
      <p:sp>
        <p:nvSpPr>
          <p:cNvPr id="30" name="Text 28"/>
          <p:cNvSpPr txBox="1"/>
          <p:nvPr/>
        </p:nvSpPr>
        <p:spPr>
          <a:xfrm>
            <a:off x="704088" y="4572000"/>
            <a:ext cx="2146554" cy="365760"/>
          </a:xfrm>
          <a:prstGeom prst="rect">
            <a:avLst/>
          </a:prstGeom>
          <a:noFill/>
          <a:ln/>
        </p:spPr>
        <p:txBody>
          <a:bodyPr wrap="square" lIns="0" tIns="0" rIns="0" bIns="0" rtlCol="0" anchor="ctr"/>
          <a:lstStyle/>
          <a:p>
            <a:pPr algn="ctr" indent="0" marL="0">
              <a:buNone/>
            </a:pPr>
            <a:r>
              <a:rPr lang="en-US" sz="1300" dirty="0">
                <a:solidFill>
                  <a:srgbClr val="35474F"/>
                </a:solidFill>
                <a:latin typeface="Calibri" pitchFamily="34" charset="0"/>
                <a:ea typeface="Calibri" pitchFamily="34" charset="-122"/>
                <a:cs typeface="Calibri" pitchFamily="34" charset="-120"/>
              </a:rPr>
              <a:t>alerts arrive</a:t>
            </a:r>
            <a:endParaRPr lang="en-US" sz="1300" dirty="0"/>
          </a:p>
        </p:txBody>
      </p:sp>
      <p:sp>
        <p:nvSpPr>
          <p:cNvPr id="31" name="Text 29"/>
          <p:cNvSpPr txBox="1"/>
          <p:nvPr/>
        </p:nvSpPr>
        <p:spPr>
          <a:xfrm>
            <a:off x="2987802" y="4325112"/>
            <a:ext cx="457200" cy="274320"/>
          </a:xfrm>
          <a:prstGeom prst="rect">
            <a:avLst/>
          </a:prstGeom>
          <a:noFill/>
          <a:ln/>
        </p:spPr>
        <p:txBody>
          <a:bodyPr wrap="square" lIns="0" tIns="0" rIns="0" bIns="0" rtlCol="0" anchor="ctr"/>
          <a:lstStyle/>
          <a:p>
            <a:pPr algn="ctr" indent="0" marL="0">
              <a:buNone/>
            </a:pPr>
            <a:r>
              <a:rPr lang="en-US" sz="2000" b="1" dirty="0">
                <a:solidFill>
                  <a:srgbClr val="B9C6C6"/>
                </a:solidFill>
                <a:latin typeface="Calibri" pitchFamily="34" charset="0"/>
                <a:ea typeface="Calibri" pitchFamily="34" charset="-122"/>
                <a:cs typeface="Calibri" pitchFamily="34" charset="-120"/>
              </a:rPr>
              <a:t>→</a:t>
            </a:r>
            <a:endParaRPr lang="en-US" sz="2000" dirty="0"/>
          </a:p>
        </p:txBody>
      </p:sp>
      <p:sp>
        <p:nvSpPr>
          <p:cNvPr id="32" name="Shape 30"/>
          <p:cNvSpPr/>
          <p:nvPr/>
        </p:nvSpPr>
        <p:spPr>
          <a:xfrm>
            <a:off x="3445002" y="3840480"/>
            <a:ext cx="2420874" cy="1188720"/>
          </a:xfrm>
          <a:prstGeom prst="roundRect">
            <a:avLst>
              <a:gd name="adj" fmla="val 4615"/>
            </a:avLst>
          </a:prstGeom>
          <a:solidFill>
            <a:srgbClr val="FFFFFF"/>
          </a:solidFill>
          <a:ln w="15875">
            <a:solidFill>
              <a:srgbClr val="DDE4E4"/>
            </a:solidFill>
            <a:prstDash val="solid"/>
          </a:ln>
        </p:spPr>
      </p:sp>
      <p:sp>
        <p:nvSpPr>
          <p:cNvPr id="33" name="Text 31"/>
          <p:cNvSpPr txBox="1"/>
          <p:nvPr/>
        </p:nvSpPr>
        <p:spPr>
          <a:xfrm>
            <a:off x="3445002" y="4005072"/>
            <a:ext cx="2420874" cy="548640"/>
          </a:xfrm>
          <a:prstGeom prst="rect">
            <a:avLst/>
          </a:prstGeom>
          <a:noFill/>
          <a:ln/>
        </p:spPr>
        <p:txBody>
          <a:bodyPr wrap="square" lIns="0" tIns="0" rIns="0" bIns="0" rtlCol="0" anchor="ctr"/>
          <a:lstStyle/>
          <a:p>
            <a:pPr algn="ctr" indent="0" marL="0">
              <a:buNone/>
            </a:pPr>
            <a:r>
              <a:rPr lang="en-US" sz="3600" b="1" dirty="0">
                <a:solidFill>
                  <a:srgbClr val="3E8695"/>
                </a:solidFill>
                <a:latin typeface="Cambria" pitchFamily="34" charset="0"/>
                <a:ea typeface="Cambria" pitchFamily="34" charset="-122"/>
                <a:cs typeface="Cambria" pitchFamily="34" charset="-120"/>
              </a:rPr>
              <a:t>1,206</a:t>
            </a:r>
            <a:endParaRPr lang="en-US" sz="3600" dirty="0"/>
          </a:p>
        </p:txBody>
      </p:sp>
      <p:sp>
        <p:nvSpPr>
          <p:cNvPr id="34" name="Text 32"/>
          <p:cNvSpPr txBox="1"/>
          <p:nvPr/>
        </p:nvSpPr>
        <p:spPr>
          <a:xfrm>
            <a:off x="3582162" y="4572000"/>
            <a:ext cx="2146554" cy="365760"/>
          </a:xfrm>
          <a:prstGeom prst="rect">
            <a:avLst/>
          </a:prstGeom>
          <a:noFill/>
          <a:ln/>
        </p:spPr>
        <p:txBody>
          <a:bodyPr wrap="square" lIns="0" tIns="0" rIns="0" bIns="0" rtlCol="0" anchor="ctr"/>
          <a:lstStyle/>
          <a:p>
            <a:pPr algn="ctr" indent="0" marL="0">
              <a:buNone/>
            </a:pPr>
            <a:r>
              <a:rPr lang="en-US" sz="1300" dirty="0">
                <a:solidFill>
                  <a:srgbClr val="35474F"/>
                </a:solidFill>
                <a:latin typeface="Calibri" pitchFamily="34" charset="0"/>
                <a:ea typeface="Calibri" pitchFamily="34" charset="-122"/>
                <a:cs typeface="Calibri" pitchFamily="34" charset="-120"/>
              </a:rPr>
              <a:t>left after duplicates removed</a:t>
            </a:r>
            <a:endParaRPr lang="en-US" sz="1300" dirty="0"/>
          </a:p>
        </p:txBody>
      </p:sp>
      <p:sp>
        <p:nvSpPr>
          <p:cNvPr id="35" name="Text 33"/>
          <p:cNvSpPr txBox="1"/>
          <p:nvPr/>
        </p:nvSpPr>
        <p:spPr>
          <a:xfrm>
            <a:off x="5865876" y="4325112"/>
            <a:ext cx="457200" cy="274320"/>
          </a:xfrm>
          <a:prstGeom prst="rect">
            <a:avLst/>
          </a:prstGeom>
          <a:noFill/>
          <a:ln/>
        </p:spPr>
        <p:txBody>
          <a:bodyPr wrap="square" lIns="0" tIns="0" rIns="0" bIns="0" rtlCol="0" anchor="ctr"/>
          <a:lstStyle/>
          <a:p>
            <a:pPr algn="ctr" indent="0" marL="0">
              <a:buNone/>
            </a:pPr>
            <a:r>
              <a:rPr lang="en-US" sz="2000" b="1" dirty="0">
                <a:solidFill>
                  <a:srgbClr val="B9C6C6"/>
                </a:solidFill>
                <a:latin typeface="Calibri" pitchFamily="34" charset="0"/>
                <a:ea typeface="Calibri" pitchFamily="34" charset="-122"/>
                <a:cs typeface="Calibri" pitchFamily="34" charset="-120"/>
              </a:rPr>
              <a:t>→</a:t>
            </a:r>
            <a:endParaRPr lang="en-US" sz="2000" dirty="0"/>
          </a:p>
        </p:txBody>
      </p:sp>
      <p:sp>
        <p:nvSpPr>
          <p:cNvPr id="36" name="Shape 34"/>
          <p:cNvSpPr/>
          <p:nvPr/>
        </p:nvSpPr>
        <p:spPr>
          <a:xfrm>
            <a:off x="6323076" y="3840480"/>
            <a:ext cx="2420874" cy="1188720"/>
          </a:xfrm>
          <a:prstGeom prst="roundRect">
            <a:avLst>
              <a:gd name="adj" fmla="val 4615"/>
            </a:avLst>
          </a:prstGeom>
          <a:solidFill>
            <a:srgbClr val="FFFFFF"/>
          </a:solidFill>
          <a:ln w="15875">
            <a:solidFill>
              <a:srgbClr val="DDE4E4"/>
            </a:solidFill>
            <a:prstDash val="solid"/>
          </a:ln>
        </p:spPr>
      </p:sp>
      <p:sp>
        <p:nvSpPr>
          <p:cNvPr id="37" name="Text 35"/>
          <p:cNvSpPr txBox="1"/>
          <p:nvPr/>
        </p:nvSpPr>
        <p:spPr>
          <a:xfrm>
            <a:off x="6323076" y="4005072"/>
            <a:ext cx="2420874" cy="548640"/>
          </a:xfrm>
          <a:prstGeom prst="rect">
            <a:avLst/>
          </a:prstGeom>
          <a:noFill/>
          <a:ln/>
        </p:spPr>
        <p:txBody>
          <a:bodyPr wrap="square" lIns="0" tIns="0" rIns="0" bIns="0" rtlCol="0" anchor="ctr"/>
          <a:lstStyle/>
          <a:p>
            <a:pPr algn="ctr" indent="0" marL="0">
              <a:buNone/>
            </a:pPr>
            <a:r>
              <a:rPr lang="en-US" sz="3600" b="1" dirty="0">
                <a:solidFill>
                  <a:srgbClr val="B5781F"/>
                </a:solidFill>
                <a:latin typeface="Cambria" pitchFamily="34" charset="0"/>
                <a:ea typeface="Cambria" pitchFamily="34" charset="-122"/>
                <a:cs typeface="Cambria" pitchFamily="34" charset="-120"/>
              </a:rPr>
              <a:t>34</a:t>
            </a:r>
            <a:endParaRPr lang="en-US" sz="3600" dirty="0"/>
          </a:p>
        </p:txBody>
      </p:sp>
      <p:sp>
        <p:nvSpPr>
          <p:cNvPr id="38" name="Text 36"/>
          <p:cNvSpPr txBox="1"/>
          <p:nvPr/>
        </p:nvSpPr>
        <p:spPr>
          <a:xfrm>
            <a:off x="6460236" y="4572000"/>
            <a:ext cx="2146554" cy="365760"/>
          </a:xfrm>
          <a:prstGeom prst="rect">
            <a:avLst/>
          </a:prstGeom>
          <a:noFill/>
          <a:ln/>
        </p:spPr>
        <p:txBody>
          <a:bodyPr wrap="square" lIns="0" tIns="0" rIns="0" bIns="0" rtlCol="0" anchor="ctr"/>
          <a:lstStyle/>
          <a:p>
            <a:pPr algn="ctr" indent="0" marL="0">
              <a:buNone/>
            </a:pPr>
            <a:r>
              <a:rPr lang="en-US" sz="1300" dirty="0">
                <a:solidFill>
                  <a:srgbClr val="35474F"/>
                </a:solidFill>
                <a:latin typeface="Calibri" pitchFamily="34" charset="0"/>
                <a:ea typeface="Calibri" pitchFamily="34" charset="-122"/>
                <a:cs typeface="Calibri" pitchFamily="34" charset="-120"/>
              </a:rPr>
              <a:t>real incidents found</a:t>
            </a:r>
            <a:endParaRPr lang="en-US" sz="1300" dirty="0"/>
          </a:p>
        </p:txBody>
      </p:sp>
      <p:sp>
        <p:nvSpPr>
          <p:cNvPr id="39" name="Text 37"/>
          <p:cNvSpPr txBox="1"/>
          <p:nvPr/>
        </p:nvSpPr>
        <p:spPr>
          <a:xfrm>
            <a:off x="8743950" y="4325112"/>
            <a:ext cx="457200" cy="274320"/>
          </a:xfrm>
          <a:prstGeom prst="rect">
            <a:avLst/>
          </a:prstGeom>
          <a:noFill/>
          <a:ln/>
        </p:spPr>
        <p:txBody>
          <a:bodyPr wrap="square" lIns="0" tIns="0" rIns="0" bIns="0" rtlCol="0" anchor="ctr"/>
          <a:lstStyle/>
          <a:p>
            <a:pPr algn="ctr" indent="0" marL="0">
              <a:buNone/>
            </a:pPr>
            <a:r>
              <a:rPr lang="en-US" sz="2000" b="1" dirty="0">
                <a:solidFill>
                  <a:srgbClr val="B9C6C6"/>
                </a:solidFill>
                <a:latin typeface="Calibri" pitchFamily="34" charset="0"/>
                <a:ea typeface="Calibri" pitchFamily="34" charset="-122"/>
                <a:cs typeface="Calibri" pitchFamily="34" charset="-120"/>
              </a:rPr>
              <a:t>→</a:t>
            </a:r>
            <a:endParaRPr lang="en-US" sz="2000" dirty="0"/>
          </a:p>
        </p:txBody>
      </p:sp>
      <p:sp>
        <p:nvSpPr>
          <p:cNvPr id="40" name="Shape 38"/>
          <p:cNvSpPr/>
          <p:nvPr/>
        </p:nvSpPr>
        <p:spPr>
          <a:xfrm>
            <a:off x="9201150" y="3840480"/>
            <a:ext cx="2420874" cy="1188720"/>
          </a:xfrm>
          <a:prstGeom prst="roundRect">
            <a:avLst>
              <a:gd name="adj" fmla="val 4615"/>
            </a:avLst>
          </a:prstGeom>
          <a:solidFill>
            <a:srgbClr val="FFFFFF"/>
          </a:solidFill>
          <a:ln w="15875">
            <a:solidFill>
              <a:srgbClr val="DDE4E4"/>
            </a:solidFill>
            <a:prstDash val="solid"/>
          </a:ln>
        </p:spPr>
      </p:sp>
      <p:sp>
        <p:nvSpPr>
          <p:cNvPr id="41" name="Text 39"/>
          <p:cNvSpPr txBox="1"/>
          <p:nvPr/>
        </p:nvSpPr>
        <p:spPr>
          <a:xfrm>
            <a:off x="9201150" y="4005072"/>
            <a:ext cx="2420874" cy="548640"/>
          </a:xfrm>
          <a:prstGeom prst="rect">
            <a:avLst/>
          </a:prstGeom>
          <a:noFill/>
          <a:ln/>
        </p:spPr>
        <p:txBody>
          <a:bodyPr wrap="square" lIns="0" tIns="0" rIns="0" bIns="0" rtlCol="0" anchor="ctr"/>
          <a:lstStyle/>
          <a:p>
            <a:pPr algn="ctr" indent="0" marL="0">
              <a:buNone/>
            </a:pPr>
            <a:r>
              <a:rPr lang="en-US" sz="3600" b="1" dirty="0">
                <a:solidFill>
                  <a:srgbClr val="D64545"/>
                </a:solidFill>
                <a:latin typeface="Cambria" pitchFamily="34" charset="0"/>
                <a:ea typeface="Cambria" pitchFamily="34" charset="-122"/>
                <a:cs typeface="Cambria" pitchFamily="34" charset="-120"/>
              </a:rPr>
              <a:t>6</a:t>
            </a:r>
            <a:endParaRPr lang="en-US" sz="3600" dirty="0"/>
          </a:p>
        </p:txBody>
      </p:sp>
      <p:sp>
        <p:nvSpPr>
          <p:cNvPr id="42" name="Text 40"/>
          <p:cNvSpPr txBox="1"/>
          <p:nvPr/>
        </p:nvSpPr>
        <p:spPr>
          <a:xfrm>
            <a:off x="9338310" y="4572000"/>
            <a:ext cx="2146554" cy="365760"/>
          </a:xfrm>
          <a:prstGeom prst="rect">
            <a:avLst/>
          </a:prstGeom>
          <a:noFill/>
          <a:ln/>
        </p:spPr>
        <p:txBody>
          <a:bodyPr wrap="square" lIns="0" tIns="0" rIns="0" bIns="0" rtlCol="0" anchor="ctr"/>
          <a:lstStyle/>
          <a:p>
            <a:pPr algn="ctr" indent="0" marL="0">
              <a:buNone/>
            </a:pPr>
            <a:r>
              <a:rPr lang="en-US" sz="1300" dirty="0">
                <a:solidFill>
                  <a:srgbClr val="35474F"/>
                </a:solidFill>
                <a:latin typeface="Calibri" pitchFamily="34" charset="0"/>
                <a:ea typeface="Calibri" pitchFamily="34" charset="-122"/>
                <a:cs typeface="Calibri" pitchFamily="34" charset="-120"/>
              </a:rPr>
              <a:t>sent to the commander</a:t>
            </a:r>
            <a:endParaRPr lang="en-US" sz="1300" dirty="0"/>
          </a:p>
        </p:txBody>
      </p:sp>
      <p:sp>
        <p:nvSpPr>
          <p:cNvPr id="43" name="Shape 41"/>
          <p:cNvSpPr/>
          <p:nvPr/>
        </p:nvSpPr>
        <p:spPr>
          <a:xfrm>
            <a:off x="566928" y="5212080"/>
            <a:ext cx="11055096" cy="868680"/>
          </a:xfrm>
          <a:prstGeom prst="roundRect">
            <a:avLst>
              <a:gd name="adj" fmla="val 6316"/>
            </a:avLst>
          </a:prstGeom>
          <a:solidFill>
            <a:srgbClr val="EAF3F4"/>
          </a:solidFill>
          <a:ln w="15875">
            <a:solidFill>
              <a:srgbClr val="3E8695"/>
            </a:solidFill>
            <a:prstDash val="solid"/>
          </a:ln>
        </p:spPr>
      </p:sp>
      <p:sp>
        <p:nvSpPr>
          <p:cNvPr id="44" name="Text 42"/>
          <p:cNvSpPr txBox="1"/>
          <p:nvPr/>
        </p:nvSpPr>
        <p:spPr>
          <a:xfrm>
            <a:off x="978408" y="5212080"/>
            <a:ext cx="10232136" cy="868680"/>
          </a:xfrm>
          <a:prstGeom prst="rect">
            <a:avLst/>
          </a:prstGeom>
          <a:noFill/>
          <a:ln/>
        </p:spPr>
        <p:txBody>
          <a:bodyPr wrap="square" lIns="0" tIns="0" rIns="0" bIns="0" rtlCol="0" anchor="ctr"/>
          <a:lstStyle/>
          <a:p>
            <a:pPr indent="0" marL="0">
              <a:lnSpc>
                <a:spcPts val="2400"/>
              </a:lnSpc>
              <a:buNone/>
            </a:pPr>
            <a:r>
              <a:rPr lang="en-US" sz="1900" b="1" dirty="0">
                <a:solidFill>
                  <a:srgbClr val="10212A"/>
                </a:solidFill>
                <a:latin typeface="Cambria" pitchFamily="34" charset="0"/>
                <a:ea typeface="Cambria" pitchFamily="34" charset="-122"/>
                <a:cs typeface="Cambria" pitchFamily="34" charset="-120"/>
              </a:rPr>
              <a:t>Scoring is fixed rules, not AI guesswork. AI reads reports in and writes the brief out.</a:t>
            </a:r>
            <a:endParaRPr lang="en-US" sz="19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66928" y="237744"/>
            <a:ext cx="11055096" cy="256032"/>
          </a:xfrm>
          <a:prstGeom prst="rect">
            <a:avLst/>
          </a:prstGeom>
          <a:noFill/>
          <a:ln/>
        </p:spPr>
        <p:txBody>
          <a:bodyPr wrap="square" lIns="0" tIns="0" rIns="0" bIns="0" rtlCol="0" anchor="ctr"/>
          <a:lstStyle/>
          <a:p>
            <a:pPr indent="0" marL="0">
              <a:buNone/>
            </a:pPr>
            <a:r>
              <a:rPr lang="en-US" sz="1300" b="1" spc="140" kern="0" dirty="0">
                <a:solidFill>
                  <a:srgbClr val="3E8695"/>
                </a:solidFill>
                <a:latin typeface="Calibri" pitchFamily="34" charset="0"/>
                <a:ea typeface="Calibri" pitchFamily="34" charset="-122"/>
                <a:cs typeface="Calibri" pitchFamily="34" charset="-120"/>
              </a:rPr>
              <a:t>ARCHITECTURE</a:t>
            </a:r>
            <a:endParaRPr lang="en-US" sz="1300" dirty="0"/>
          </a:p>
        </p:txBody>
      </p:sp>
      <p:sp>
        <p:nvSpPr>
          <p:cNvPr id="3" name="Text 1"/>
          <p:cNvSpPr txBox="1"/>
          <p:nvPr/>
        </p:nvSpPr>
        <p:spPr>
          <a:xfrm>
            <a:off x="566928" y="457200"/>
            <a:ext cx="11055096" cy="713232"/>
          </a:xfrm>
          <a:prstGeom prst="rect">
            <a:avLst/>
          </a:prstGeom>
          <a:noFill/>
          <a:ln/>
        </p:spPr>
        <p:txBody>
          <a:bodyPr wrap="square" lIns="0" tIns="0" rIns="0" bIns="0" rtlCol="0" anchor="ctr"/>
          <a:lstStyle/>
          <a:p>
            <a:pPr indent="0" marL="0">
              <a:buNone/>
            </a:pPr>
            <a:r>
              <a:rPr lang="en-US" sz="3600" b="1" dirty="0">
                <a:solidFill>
                  <a:srgbClr val="10212A"/>
                </a:solidFill>
                <a:latin typeface="Cambria" pitchFamily="34" charset="0"/>
                <a:ea typeface="Cambria" pitchFamily="34" charset="-122"/>
                <a:cs typeface="Cambria" pitchFamily="34" charset="-120"/>
              </a:rPr>
              <a:t>How it is built</a:t>
            </a:r>
            <a:endParaRPr lang="en-US" sz="3600" dirty="0"/>
          </a:p>
        </p:txBody>
      </p:sp>
      <p:sp>
        <p:nvSpPr>
          <p:cNvPr id="4" name="Text 2"/>
          <p:cNvSpPr txBox="1"/>
          <p:nvPr/>
        </p:nvSpPr>
        <p:spPr>
          <a:xfrm>
            <a:off x="566928" y="1207008"/>
            <a:ext cx="1828800" cy="256032"/>
          </a:xfrm>
          <a:prstGeom prst="rect">
            <a:avLst/>
          </a:prstGeom>
          <a:noFill/>
          <a:ln/>
        </p:spPr>
        <p:txBody>
          <a:bodyPr wrap="square" lIns="0" tIns="0" rIns="0" bIns="0" rtlCol="0" anchor="ctr"/>
          <a:lstStyle/>
          <a:p>
            <a:pPr algn="ctr" indent="0" marL="0">
              <a:buNone/>
            </a:pPr>
            <a:r>
              <a:rPr lang="en-US" sz="1150" b="1" spc="120" kern="0" dirty="0">
                <a:solidFill>
                  <a:srgbClr val="3E8695"/>
                </a:solidFill>
                <a:latin typeface="Calibri" pitchFamily="34" charset="0"/>
                <a:ea typeface="Calibri" pitchFamily="34" charset="-122"/>
                <a:cs typeface="Calibri" pitchFamily="34" charset="-120"/>
              </a:rPr>
              <a:t>FEEDS IN</a:t>
            </a:r>
            <a:endParaRPr lang="en-US" sz="1150" dirty="0"/>
          </a:p>
        </p:txBody>
      </p:sp>
      <p:sp>
        <p:nvSpPr>
          <p:cNvPr id="5" name="Text 3"/>
          <p:cNvSpPr txBox="1"/>
          <p:nvPr/>
        </p:nvSpPr>
        <p:spPr>
          <a:xfrm>
            <a:off x="2743200" y="1207008"/>
            <a:ext cx="7333488" cy="256032"/>
          </a:xfrm>
          <a:prstGeom prst="rect">
            <a:avLst/>
          </a:prstGeom>
          <a:noFill/>
          <a:ln/>
        </p:spPr>
        <p:txBody>
          <a:bodyPr wrap="square" lIns="0" tIns="0" rIns="0" bIns="0" rtlCol="0" anchor="ctr"/>
          <a:lstStyle/>
          <a:p>
            <a:pPr algn="ctr" indent="0" marL="0">
              <a:buNone/>
            </a:pPr>
            <a:r>
              <a:rPr lang="en-US" sz="1150" b="1" spc="120" kern="0" dirty="0">
                <a:solidFill>
                  <a:srgbClr val="3E8695"/>
                </a:solidFill>
                <a:latin typeface="Calibri" pitchFamily="34" charset="0"/>
                <a:ea typeface="Calibri" pitchFamily="34" charset="-122"/>
                <a:cs typeface="Calibri" pitchFamily="34" charset="-120"/>
              </a:rPr>
              <a:t>FOUR STEPS</a:t>
            </a:r>
            <a:endParaRPr lang="en-US" sz="1150" dirty="0"/>
          </a:p>
        </p:txBody>
      </p:sp>
      <p:sp>
        <p:nvSpPr>
          <p:cNvPr id="6" name="Text 4"/>
          <p:cNvSpPr txBox="1"/>
          <p:nvPr/>
        </p:nvSpPr>
        <p:spPr>
          <a:xfrm>
            <a:off x="10351008" y="1207008"/>
            <a:ext cx="1271016" cy="256032"/>
          </a:xfrm>
          <a:prstGeom prst="rect">
            <a:avLst/>
          </a:prstGeom>
          <a:noFill/>
          <a:ln/>
        </p:spPr>
        <p:txBody>
          <a:bodyPr wrap="square" lIns="0" tIns="0" rIns="0" bIns="0" rtlCol="0" anchor="ctr"/>
          <a:lstStyle/>
          <a:p>
            <a:pPr algn="ctr" indent="0" marL="0">
              <a:buNone/>
            </a:pPr>
            <a:r>
              <a:rPr lang="en-US" sz="1150" b="1" spc="120" kern="0" dirty="0">
                <a:solidFill>
                  <a:srgbClr val="3E8695"/>
                </a:solidFill>
                <a:latin typeface="Calibri" pitchFamily="34" charset="0"/>
                <a:ea typeface="Calibri" pitchFamily="34" charset="-122"/>
                <a:cs typeface="Calibri" pitchFamily="34" charset="-120"/>
              </a:rPr>
              <a:t>OUT</a:t>
            </a:r>
            <a:endParaRPr lang="en-US" sz="1150" dirty="0"/>
          </a:p>
        </p:txBody>
      </p:sp>
      <p:sp>
        <p:nvSpPr>
          <p:cNvPr id="7" name="Shape 5"/>
          <p:cNvSpPr/>
          <p:nvPr/>
        </p:nvSpPr>
        <p:spPr>
          <a:xfrm>
            <a:off x="566928" y="1572768"/>
            <a:ext cx="1828800" cy="420624"/>
          </a:xfrm>
          <a:prstGeom prst="roundRect">
            <a:avLst>
              <a:gd name="adj" fmla="val 13043"/>
            </a:avLst>
          </a:prstGeom>
          <a:solidFill>
            <a:srgbClr val="FFFFFF"/>
          </a:solidFill>
          <a:ln w="15875">
            <a:solidFill>
              <a:srgbClr val="DDE4E4"/>
            </a:solidFill>
            <a:prstDash val="solid"/>
          </a:ln>
        </p:spPr>
      </p:sp>
      <p:sp>
        <p:nvSpPr>
          <p:cNvPr id="8" name="Text 6"/>
          <p:cNvSpPr txBox="1"/>
          <p:nvPr/>
        </p:nvSpPr>
        <p:spPr>
          <a:xfrm>
            <a:off x="566928" y="1572768"/>
            <a:ext cx="1828800" cy="420624"/>
          </a:xfrm>
          <a:prstGeom prst="rect">
            <a:avLst/>
          </a:prstGeom>
          <a:noFill/>
          <a:ln/>
        </p:spPr>
        <p:txBody>
          <a:bodyPr wrap="square" lIns="0" tIns="0" rIns="0" bIns="0" rtlCol="0" anchor="ctr"/>
          <a:lstStyle/>
          <a:p>
            <a:pPr algn="ctr" indent="0" marL="0">
              <a:buNone/>
            </a:pPr>
            <a:r>
              <a:rPr lang="en-US" sz="1200" dirty="0">
                <a:solidFill>
                  <a:srgbClr val="35474F"/>
                </a:solidFill>
                <a:latin typeface="Calibri" pitchFamily="34" charset="0"/>
                <a:ea typeface="Calibri" pitchFamily="34" charset="-122"/>
                <a:cs typeface="Calibri" pitchFamily="34" charset="-120"/>
              </a:rPr>
              <a:t>SIEM</a:t>
            </a:r>
            <a:endParaRPr lang="en-US" sz="1200" dirty="0"/>
          </a:p>
        </p:txBody>
      </p:sp>
      <p:sp>
        <p:nvSpPr>
          <p:cNvPr id="9" name="Shape 7"/>
          <p:cNvSpPr/>
          <p:nvPr/>
        </p:nvSpPr>
        <p:spPr>
          <a:xfrm>
            <a:off x="566928" y="2048256"/>
            <a:ext cx="1828800" cy="420624"/>
          </a:xfrm>
          <a:prstGeom prst="roundRect">
            <a:avLst>
              <a:gd name="adj" fmla="val 13043"/>
            </a:avLst>
          </a:prstGeom>
          <a:solidFill>
            <a:srgbClr val="FFFFFF"/>
          </a:solidFill>
          <a:ln w="15875">
            <a:solidFill>
              <a:srgbClr val="DDE4E4"/>
            </a:solidFill>
            <a:prstDash val="solid"/>
          </a:ln>
        </p:spPr>
      </p:sp>
      <p:sp>
        <p:nvSpPr>
          <p:cNvPr id="10" name="Text 8"/>
          <p:cNvSpPr txBox="1"/>
          <p:nvPr/>
        </p:nvSpPr>
        <p:spPr>
          <a:xfrm>
            <a:off x="566928" y="2048256"/>
            <a:ext cx="1828800" cy="420624"/>
          </a:xfrm>
          <a:prstGeom prst="rect">
            <a:avLst/>
          </a:prstGeom>
          <a:noFill/>
          <a:ln/>
        </p:spPr>
        <p:txBody>
          <a:bodyPr wrap="square" lIns="0" tIns="0" rIns="0" bIns="0" rtlCol="0" anchor="ctr"/>
          <a:lstStyle/>
          <a:p>
            <a:pPr algn="ctr" indent="0" marL="0">
              <a:buNone/>
            </a:pPr>
            <a:r>
              <a:rPr lang="en-US" sz="1200" dirty="0">
                <a:solidFill>
                  <a:srgbClr val="35474F"/>
                </a:solidFill>
                <a:latin typeface="Calibri" pitchFamily="34" charset="0"/>
                <a:ea typeface="Calibri" pitchFamily="34" charset="-122"/>
                <a:cs typeface="Calibri" pitchFamily="34" charset="-120"/>
              </a:rPr>
              <a:t>EDR</a:t>
            </a:r>
            <a:endParaRPr lang="en-US" sz="1200" dirty="0"/>
          </a:p>
        </p:txBody>
      </p:sp>
      <p:sp>
        <p:nvSpPr>
          <p:cNvPr id="11" name="Shape 9"/>
          <p:cNvSpPr/>
          <p:nvPr/>
        </p:nvSpPr>
        <p:spPr>
          <a:xfrm>
            <a:off x="566928" y="2523744"/>
            <a:ext cx="1828800" cy="420624"/>
          </a:xfrm>
          <a:prstGeom prst="roundRect">
            <a:avLst>
              <a:gd name="adj" fmla="val 13043"/>
            </a:avLst>
          </a:prstGeom>
          <a:solidFill>
            <a:srgbClr val="FFFFFF"/>
          </a:solidFill>
          <a:ln w="15875">
            <a:solidFill>
              <a:srgbClr val="DDE4E4"/>
            </a:solidFill>
            <a:prstDash val="solid"/>
          </a:ln>
        </p:spPr>
      </p:sp>
      <p:sp>
        <p:nvSpPr>
          <p:cNvPr id="12" name="Text 10"/>
          <p:cNvSpPr txBox="1"/>
          <p:nvPr/>
        </p:nvSpPr>
        <p:spPr>
          <a:xfrm>
            <a:off x="566928" y="2523744"/>
            <a:ext cx="1828800" cy="420624"/>
          </a:xfrm>
          <a:prstGeom prst="rect">
            <a:avLst/>
          </a:prstGeom>
          <a:noFill/>
          <a:ln/>
        </p:spPr>
        <p:txBody>
          <a:bodyPr wrap="square" lIns="0" tIns="0" rIns="0" bIns="0" rtlCol="0" anchor="ctr"/>
          <a:lstStyle/>
          <a:p>
            <a:pPr algn="ctr" indent="0" marL="0">
              <a:buNone/>
            </a:pPr>
            <a:r>
              <a:rPr lang="en-US" sz="1200" dirty="0">
                <a:solidFill>
                  <a:srgbClr val="35474F"/>
                </a:solidFill>
                <a:latin typeface="Calibri" pitchFamily="34" charset="0"/>
                <a:ea typeface="Calibri" pitchFamily="34" charset="-122"/>
                <a:cs typeface="Calibri" pitchFamily="34" charset="-120"/>
              </a:rPr>
              <a:t>Network sensors</a:t>
            </a:r>
            <a:endParaRPr lang="en-US" sz="1200" dirty="0"/>
          </a:p>
        </p:txBody>
      </p:sp>
      <p:sp>
        <p:nvSpPr>
          <p:cNvPr id="13" name="Shape 11"/>
          <p:cNvSpPr/>
          <p:nvPr/>
        </p:nvSpPr>
        <p:spPr>
          <a:xfrm>
            <a:off x="566928" y="2999232"/>
            <a:ext cx="1828800" cy="420624"/>
          </a:xfrm>
          <a:prstGeom prst="roundRect">
            <a:avLst>
              <a:gd name="adj" fmla="val 13043"/>
            </a:avLst>
          </a:prstGeom>
          <a:solidFill>
            <a:srgbClr val="FFFFFF"/>
          </a:solidFill>
          <a:ln w="15875">
            <a:solidFill>
              <a:srgbClr val="DDE4E4"/>
            </a:solidFill>
            <a:prstDash val="solid"/>
          </a:ln>
        </p:spPr>
      </p:sp>
      <p:sp>
        <p:nvSpPr>
          <p:cNvPr id="14" name="Text 12"/>
          <p:cNvSpPr txBox="1"/>
          <p:nvPr/>
        </p:nvSpPr>
        <p:spPr>
          <a:xfrm>
            <a:off x="566928" y="2999232"/>
            <a:ext cx="1828800" cy="420624"/>
          </a:xfrm>
          <a:prstGeom prst="rect">
            <a:avLst/>
          </a:prstGeom>
          <a:noFill/>
          <a:ln/>
        </p:spPr>
        <p:txBody>
          <a:bodyPr wrap="square" lIns="0" tIns="0" rIns="0" bIns="0" rtlCol="0" anchor="ctr"/>
          <a:lstStyle/>
          <a:p>
            <a:pPr algn="ctr" indent="0" marL="0">
              <a:buNone/>
            </a:pPr>
            <a:r>
              <a:rPr lang="en-US" sz="1200" dirty="0">
                <a:solidFill>
                  <a:srgbClr val="35474F"/>
                </a:solidFill>
                <a:latin typeface="Calibri" pitchFamily="34" charset="0"/>
                <a:ea typeface="Calibri" pitchFamily="34" charset="-122"/>
                <a:cs typeface="Calibri" pitchFamily="34" charset="-120"/>
              </a:rPr>
              <a:t>Radio / SIGINT</a:t>
            </a:r>
            <a:endParaRPr lang="en-US" sz="1200" dirty="0"/>
          </a:p>
        </p:txBody>
      </p:sp>
      <p:sp>
        <p:nvSpPr>
          <p:cNvPr id="15" name="Shape 13"/>
          <p:cNvSpPr/>
          <p:nvPr/>
        </p:nvSpPr>
        <p:spPr>
          <a:xfrm>
            <a:off x="566928" y="3474720"/>
            <a:ext cx="1828800" cy="420624"/>
          </a:xfrm>
          <a:prstGeom prst="roundRect">
            <a:avLst>
              <a:gd name="adj" fmla="val 13043"/>
            </a:avLst>
          </a:prstGeom>
          <a:solidFill>
            <a:srgbClr val="FFFFFF"/>
          </a:solidFill>
          <a:ln w="15875">
            <a:solidFill>
              <a:srgbClr val="DDE4E4"/>
            </a:solidFill>
            <a:prstDash val="solid"/>
          </a:ln>
        </p:spPr>
      </p:sp>
      <p:sp>
        <p:nvSpPr>
          <p:cNvPr id="16" name="Text 14"/>
          <p:cNvSpPr txBox="1"/>
          <p:nvPr/>
        </p:nvSpPr>
        <p:spPr>
          <a:xfrm>
            <a:off x="566928" y="3474720"/>
            <a:ext cx="1828800" cy="420624"/>
          </a:xfrm>
          <a:prstGeom prst="rect">
            <a:avLst/>
          </a:prstGeom>
          <a:noFill/>
          <a:ln/>
        </p:spPr>
        <p:txBody>
          <a:bodyPr wrap="square" lIns="0" tIns="0" rIns="0" bIns="0" rtlCol="0" anchor="ctr"/>
          <a:lstStyle/>
          <a:p>
            <a:pPr algn="ctr" indent="0" marL="0">
              <a:buNone/>
            </a:pPr>
            <a:r>
              <a:rPr lang="en-US" sz="1200" dirty="0">
                <a:solidFill>
                  <a:srgbClr val="35474F"/>
                </a:solidFill>
                <a:latin typeface="Calibri" pitchFamily="34" charset="0"/>
                <a:ea typeface="Calibri" pitchFamily="34" charset="-122"/>
                <a:cs typeface="Calibri" pitchFamily="34" charset="-120"/>
              </a:rPr>
              <a:t>Satellite ISR</a:t>
            </a:r>
            <a:endParaRPr lang="en-US" sz="1200" dirty="0"/>
          </a:p>
        </p:txBody>
      </p:sp>
      <p:sp>
        <p:nvSpPr>
          <p:cNvPr id="17" name="Shape 15"/>
          <p:cNvSpPr/>
          <p:nvPr/>
        </p:nvSpPr>
        <p:spPr>
          <a:xfrm>
            <a:off x="566928" y="3950208"/>
            <a:ext cx="1828800" cy="420624"/>
          </a:xfrm>
          <a:prstGeom prst="roundRect">
            <a:avLst>
              <a:gd name="adj" fmla="val 13043"/>
            </a:avLst>
          </a:prstGeom>
          <a:solidFill>
            <a:srgbClr val="FFFFFF"/>
          </a:solidFill>
          <a:ln w="15875">
            <a:solidFill>
              <a:srgbClr val="DDE4E4"/>
            </a:solidFill>
            <a:prstDash val="solid"/>
          </a:ln>
        </p:spPr>
      </p:sp>
      <p:sp>
        <p:nvSpPr>
          <p:cNvPr id="18" name="Text 16"/>
          <p:cNvSpPr txBox="1"/>
          <p:nvPr/>
        </p:nvSpPr>
        <p:spPr>
          <a:xfrm>
            <a:off x="566928" y="3950208"/>
            <a:ext cx="1828800" cy="420624"/>
          </a:xfrm>
          <a:prstGeom prst="rect">
            <a:avLst/>
          </a:prstGeom>
          <a:noFill/>
          <a:ln/>
        </p:spPr>
        <p:txBody>
          <a:bodyPr wrap="square" lIns="0" tIns="0" rIns="0" bIns="0" rtlCol="0" anchor="ctr"/>
          <a:lstStyle/>
          <a:p>
            <a:pPr algn="ctr" indent="0" marL="0">
              <a:buNone/>
            </a:pPr>
            <a:r>
              <a:rPr lang="en-US" sz="1200" dirty="0">
                <a:solidFill>
                  <a:srgbClr val="35474F"/>
                </a:solidFill>
                <a:latin typeface="Calibri" pitchFamily="34" charset="0"/>
                <a:ea typeface="Calibri" pitchFamily="34" charset="-122"/>
                <a:cs typeface="Calibri" pitchFamily="34" charset="-120"/>
              </a:rPr>
              <a:t>Written reports</a:t>
            </a:r>
            <a:endParaRPr lang="en-US" sz="1200" dirty="0"/>
          </a:p>
        </p:txBody>
      </p:sp>
      <p:sp>
        <p:nvSpPr>
          <p:cNvPr id="19" name="Shape 17"/>
          <p:cNvSpPr/>
          <p:nvPr/>
        </p:nvSpPr>
        <p:spPr>
          <a:xfrm>
            <a:off x="2743200" y="1572768"/>
            <a:ext cx="1627632" cy="2761488"/>
          </a:xfrm>
          <a:prstGeom prst="roundRect">
            <a:avLst>
              <a:gd name="adj" fmla="val 3371"/>
            </a:avLst>
          </a:prstGeom>
          <a:solidFill>
            <a:srgbClr val="FFFFFF"/>
          </a:solidFill>
          <a:ln w="15875">
            <a:solidFill>
              <a:srgbClr val="4E9AA8"/>
            </a:solidFill>
            <a:prstDash val="solid"/>
          </a:ln>
        </p:spPr>
      </p:sp>
      <p:sp>
        <p:nvSpPr>
          <p:cNvPr id="20" name="Shape 18"/>
          <p:cNvSpPr/>
          <p:nvPr/>
        </p:nvSpPr>
        <p:spPr>
          <a:xfrm>
            <a:off x="2889504" y="1737360"/>
            <a:ext cx="365760" cy="365760"/>
          </a:xfrm>
          <a:prstGeom prst="ellipse">
            <a:avLst/>
          </a:prstGeom>
          <a:solidFill>
            <a:srgbClr val="4E9AA8"/>
          </a:solidFill>
          <a:ln w="12700">
            <a:solidFill>
              <a:srgbClr val="4E9AA8"/>
            </a:solidFill>
            <a:prstDash val="solid"/>
          </a:ln>
        </p:spPr>
      </p:sp>
      <p:sp>
        <p:nvSpPr>
          <p:cNvPr id="21" name="Text 19"/>
          <p:cNvSpPr txBox="1"/>
          <p:nvPr/>
        </p:nvSpPr>
        <p:spPr>
          <a:xfrm>
            <a:off x="2889504" y="1737360"/>
            <a:ext cx="36576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1</a:t>
            </a:r>
            <a:endParaRPr lang="en-US" sz="1300" dirty="0"/>
          </a:p>
        </p:txBody>
      </p:sp>
      <p:sp>
        <p:nvSpPr>
          <p:cNvPr id="22" name="Text 20"/>
          <p:cNvSpPr txBox="1"/>
          <p:nvPr/>
        </p:nvSpPr>
        <p:spPr>
          <a:xfrm>
            <a:off x="2889504" y="2194560"/>
            <a:ext cx="1335024" cy="329184"/>
          </a:xfrm>
          <a:prstGeom prst="rect">
            <a:avLst/>
          </a:prstGeom>
          <a:noFill/>
          <a:ln/>
        </p:spPr>
        <p:txBody>
          <a:bodyPr wrap="square" lIns="0" tIns="0" rIns="0" bIns="0" rtlCol="0" anchor="ctr"/>
          <a:lstStyle/>
          <a:p>
            <a:pPr indent="0" marL="0">
              <a:buNone/>
            </a:pPr>
            <a:r>
              <a:rPr lang="en-US" sz="1800" b="1" dirty="0">
                <a:solidFill>
                  <a:srgbClr val="10212A"/>
                </a:solidFill>
                <a:latin typeface="Cambria" pitchFamily="34" charset="0"/>
                <a:ea typeface="Cambria" pitchFamily="34" charset="-122"/>
                <a:cs typeface="Cambria" pitchFamily="34" charset="-120"/>
              </a:rPr>
              <a:t>Read</a:t>
            </a:r>
            <a:endParaRPr lang="en-US" sz="1800" dirty="0"/>
          </a:p>
        </p:txBody>
      </p:sp>
      <p:sp>
        <p:nvSpPr>
          <p:cNvPr id="23" name="Text 21"/>
          <p:cNvSpPr txBox="1"/>
          <p:nvPr/>
        </p:nvSpPr>
        <p:spPr>
          <a:xfrm>
            <a:off x="2889504" y="2578608"/>
            <a:ext cx="1335024" cy="1554480"/>
          </a:xfrm>
          <a:prstGeom prst="rect">
            <a:avLst/>
          </a:prstGeom>
          <a:noFill/>
          <a:ln/>
        </p:spPr>
        <p:txBody>
          <a:bodyPr wrap="square" lIns="0" tIns="0" rIns="0" bIns="0" rtlCol="0" anchor="ctr"/>
          <a:lstStyle/>
          <a:p>
            <a:pPr indent="0" marL="0">
              <a:lnSpc>
                <a:spcPts val="1500"/>
              </a:lnSpc>
              <a:buNone/>
            </a:pPr>
            <a:r>
              <a:rPr lang="en-US" sz="1150" dirty="0">
                <a:solidFill>
                  <a:srgbClr val="35474F"/>
                </a:solidFill>
                <a:latin typeface="Calibri" pitchFamily="34" charset="0"/>
                <a:ea typeface="Calibri" pitchFamily="34" charset="-122"/>
                <a:cs typeface="Calibri" pitchFamily="34" charset="-120"/>
              </a:rPr>
              <a:t>Six readers turn every feed into one common alert format.</a:t>
            </a:r>
            <a:endParaRPr lang="en-US" sz="1150" dirty="0"/>
          </a:p>
        </p:txBody>
      </p:sp>
      <p:sp>
        <p:nvSpPr>
          <p:cNvPr id="24" name="Shape 22"/>
          <p:cNvSpPr/>
          <p:nvPr/>
        </p:nvSpPr>
        <p:spPr>
          <a:xfrm>
            <a:off x="4645152" y="1572768"/>
            <a:ext cx="1627632" cy="2761488"/>
          </a:xfrm>
          <a:prstGeom prst="roundRect">
            <a:avLst>
              <a:gd name="adj" fmla="val 3371"/>
            </a:avLst>
          </a:prstGeom>
          <a:solidFill>
            <a:srgbClr val="FFFFFF"/>
          </a:solidFill>
          <a:ln w="15875">
            <a:solidFill>
              <a:srgbClr val="4E9AA8"/>
            </a:solidFill>
            <a:prstDash val="solid"/>
          </a:ln>
        </p:spPr>
      </p:sp>
      <p:sp>
        <p:nvSpPr>
          <p:cNvPr id="25" name="Shape 23"/>
          <p:cNvSpPr/>
          <p:nvPr/>
        </p:nvSpPr>
        <p:spPr>
          <a:xfrm>
            <a:off x="4791456" y="1737360"/>
            <a:ext cx="365760" cy="365760"/>
          </a:xfrm>
          <a:prstGeom prst="ellipse">
            <a:avLst/>
          </a:prstGeom>
          <a:solidFill>
            <a:srgbClr val="4E9AA8"/>
          </a:solidFill>
          <a:ln w="12700">
            <a:solidFill>
              <a:srgbClr val="4E9AA8"/>
            </a:solidFill>
            <a:prstDash val="solid"/>
          </a:ln>
        </p:spPr>
      </p:sp>
      <p:sp>
        <p:nvSpPr>
          <p:cNvPr id="26" name="Text 24"/>
          <p:cNvSpPr txBox="1"/>
          <p:nvPr/>
        </p:nvSpPr>
        <p:spPr>
          <a:xfrm>
            <a:off x="4791456" y="1737360"/>
            <a:ext cx="36576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2</a:t>
            </a:r>
            <a:endParaRPr lang="en-US" sz="1300" dirty="0"/>
          </a:p>
        </p:txBody>
      </p:sp>
      <p:sp>
        <p:nvSpPr>
          <p:cNvPr id="27" name="Text 25"/>
          <p:cNvSpPr txBox="1"/>
          <p:nvPr/>
        </p:nvSpPr>
        <p:spPr>
          <a:xfrm>
            <a:off x="4791456" y="2194560"/>
            <a:ext cx="1335024" cy="329184"/>
          </a:xfrm>
          <a:prstGeom prst="rect">
            <a:avLst/>
          </a:prstGeom>
          <a:noFill/>
          <a:ln/>
        </p:spPr>
        <p:txBody>
          <a:bodyPr wrap="square" lIns="0" tIns="0" rIns="0" bIns="0" rtlCol="0" anchor="ctr"/>
          <a:lstStyle/>
          <a:p>
            <a:pPr indent="0" marL="0">
              <a:buNone/>
            </a:pPr>
            <a:r>
              <a:rPr lang="en-US" sz="1800" b="1" dirty="0">
                <a:solidFill>
                  <a:srgbClr val="10212A"/>
                </a:solidFill>
                <a:latin typeface="Cambria" pitchFamily="34" charset="0"/>
                <a:ea typeface="Cambria" pitchFamily="34" charset="-122"/>
                <a:cs typeface="Cambria" pitchFamily="34" charset="-120"/>
              </a:rPr>
              <a:t>Connect</a:t>
            </a:r>
            <a:endParaRPr lang="en-US" sz="1800" dirty="0"/>
          </a:p>
        </p:txBody>
      </p:sp>
      <p:sp>
        <p:nvSpPr>
          <p:cNvPr id="28" name="Text 26"/>
          <p:cNvSpPr txBox="1"/>
          <p:nvPr/>
        </p:nvSpPr>
        <p:spPr>
          <a:xfrm>
            <a:off x="4791456" y="2578608"/>
            <a:ext cx="1335024" cy="1554480"/>
          </a:xfrm>
          <a:prstGeom prst="rect">
            <a:avLst/>
          </a:prstGeom>
          <a:noFill/>
          <a:ln/>
        </p:spPr>
        <p:txBody>
          <a:bodyPr wrap="square" lIns="0" tIns="0" rIns="0" bIns="0" rtlCol="0" anchor="ctr"/>
          <a:lstStyle/>
          <a:p>
            <a:pPr indent="0" marL="0">
              <a:lnSpc>
                <a:spcPts val="1500"/>
              </a:lnSpc>
              <a:buNone/>
            </a:pPr>
            <a:r>
              <a:rPr lang="en-US" sz="1150" dirty="0">
                <a:solidFill>
                  <a:srgbClr val="35474F"/>
                </a:solidFill>
                <a:latin typeface="Calibri" pitchFamily="34" charset="0"/>
                <a:ea typeface="Calibri" pitchFamily="34" charset="-122"/>
                <a:cs typeface="Calibri" pitchFamily="34" charset="-120"/>
              </a:rPr>
              <a:t>Alerts sharing a machine, person or place within 6 hours become one incident.</a:t>
            </a:r>
            <a:endParaRPr lang="en-US" sz="1150" dirty="0"/>
          </a:p>
        </p:txBody>
      </p:sp>
      <p:sp>
        <p:nvSpPr>
          <p:cNvPr id="29" name="Shape 27"/>
          <p:cNvSpPr/>
          <p:nvPr/>
        </p:nvSpPr>
        <p:spPr>
          <a:xfrm>
            <a:off x="6547104" y="1572768"/>
            <a:ext cx="1627632" cy="2761488"/>
          </a:xfrm>
          <a:prstGeom prst="roundRect">
            <a:avLst>
              <a:gd name="adj" fmla="val 3371"/>
            </a:avLst>
          </a:prstGeom>
          <a:solidFill>
            <a:srgbClr val="FFFFFF"/>
          </a:solidFill>
          <a:ln w="15875">
            <a:solidFill>
              <a:srgbClr val="E8A33D"/>
            </a:solidFill>
            <a:prstDash val="solid"/>
          </a:ln>
        </p:spPr>
      </p:sp>
      <p:sp>
        <p:nvSpPr>
          <p:cNvPr id="30" name="Shape 28"/>
          <p:cNvSpPr/>
          <p:nvPr/>
        </p:nvSpPr>
        <p:spPr>
          <a:xfrm>
            <a:off x="6693408" y="1737360"/>
            <a:ext cx="365760" cy="365760"/>
          </a:xfrm>
          <a:prstGeom prst="ellipse">
            <a:avLst/>
          </a:prstGeom>
          <a:solidFill>
            <a:srgbClr val="E8A33D"/>
          </a:solidFill>
          <a:ln w="12700">
            <a:solidFill>
              <a:srgbClr val="E8A33D"/>
            </a:solidFill>
            <a:prstDash val="solid"/>
          </a:ln>
        </p:spPr>
      </p:sp>
      <p:sp>
        <p:nvSpPr>
          <p:cNvPr id="31" name="Text 29"/>
          <p:cNvSpPr txBox="1"/>
          <p:nvPr/>
        </p:nvSpPr>
        <p:spPr>
          <a:xfrm>
            <a:off x="6693408" y="1737360"/>
            <a:ext cx="365760" cy="365760"/>
          </a:xfrm>
          <a:prstGeom prst="rect">
            <a:avLst/>
          </a:prstGeom>
          <a:noFill/>
          <a:ln/>
        </p:spPr>
        <p:txBody>
          <a:bodyPr wrap="square" lIns="0" tIns="0" rIns="0" bIns="0" rtlCol="0" anchor="ctr"/>
          <a:lstStyle/>
          <a:p>
            <a:pPr algn="ctr" indent="0" marL="0">
              <a:buNone/>
            </a:pPr>
            <a:r>
              <a:rPr lang="en-US" sz="1300" b="1" dirty="0">
                <a:solidFill>
                  <a:srgbClr val="10212A"/>
                </a:solidFill>
                <a:latin typeface="Calibri" pitchFamily="34" charset="0"/>
                <a:ea typeface="Calibri" pitchFamily="34" charset="-122"/>
                <a:cs typeface="Calibri" pitchFamily="34" charset="-120"/>
              </a:rPr>
              <a:t>3</a:t>
            </a:r>
            <a:endParaRPr lang="en-US" sz="1300" dirty="0"/>
          </a:p>
        </p:txBody>
      </p:sp>
      <p:sp>
        <p:nvSpPr>
          <p:cNvPr id="32" name="Text 30"/>
          <p:cNvSpPr txBox="1"/>
          <p:nvPr/>
        </p:nvSpPr>
        <p:spPr>
          <a:xfrm>
            <a:off x="6693408" y="2194560"/>
            <a:ext cx="1335024" cy="329184"/>
          </a:xfrm>
          <a:prstGeom prst="rect">
            <a:avLst/>
          </a:prstGeom>
          <a:noFill/>
          <a:ln/>
        </p:spPr>
        <p:txBody>
          <a:bodyPr wrap="square" lIns="0" tIns="0" rIns="0" bIns="0" rtlCol="0" anchor="ctr"/>
          <a:lstStyle/>
          <a:p>
            <a:pPr indent="0" marL="0">
              <a:buNone/>
            </a:pPr>
            <a:r>
              <a:rPr lang="en-US" sz="1800" b="1" dirty="0">
                <a:solidFill>
                  <a:srgbClr val="10212A"/>
                </a:solidFill>
                <a:latin typeface="Cambria" pitchFamily="34" charset="0"/>
                <a:ea typeface="Cambria" pitchFamily="34" charset="-122"/>
                <a:cs typeface="Cambria" pitchFamily="34" charset="-120"/>
              </a:rPr>
              <a:t>Rank</a:t>
            </a:r>
            <a:endParaRPr lang="en-US" sz="1800" dirty="0"/>
          </a:p>
        </p:txBody>
      </p:sp>
      <p:sp>
        <p:nvSpPr>
          <p:cNvPr id="33" name="Text 31"/>
          <p:cNvSpPr txBox="1"/>
          <p:nvPr/>
        </p:nvSpPr>
        <p:spPr>
          <a:xfrm>
            <a:off x="6693408" y="2578608"/>
            <a:ext cx="1335024" cy="1554480"/>
          </a:xfrm>
          <a:prstGeom prst="rect">
            <a:avLst/>
          </a:prstGeom>
          <a:noFill/>
          <a:ln/>
        </p:spPr>
        <p:txBody>
          <a:bodyPr wrap="square" lIns="0" tIns="0" rIns="0" bIns="0" rtlCol="0" anchor="ctr"/>
          <a:lstStyle/>
          <a:p>
            <a:pPr indent="0" marL="0">
              <a:lnSpc>
                <a:spcPts val="1500"/>
              </a:lnSpc>
              <a:buNone/>
            </a:pPr>
            <a:r>
              <a:rPr lang="en-US" sz="1150" dirty="0">
                <a:solidFill>
                  <a:srgbClr val="35474F"/>
                </a:solidFill>
                <a:latin typeface="Calibri" pitchFamily="34" charset="0"/>
                <a:ea typeface="Calibri" pitchFamily="34" charset="-122"/>
                <a:cs typeface="Calibri" pitchFamily="34" charset="-120"/>
              </a:rPr>
              <a:t>Each incident gets a score out of 100 and a match to known attacker behaviour.</a:t>
            </a:r>
            <a:endParaRPr lang="en-US" sz="1150" dirty="0"/>
          </a:p>
        </p:txBody>
      </p:sp>
      <p:sp>
        <p:nvSpPr>
          <p:cNvPr id="34" name="Shape 32"/>
          <p:cNvSpPr/>
          <p:nvPr/>
        </p:nvSpPr>
        <p:spPr>
          <a:xfrm>
            <a:off x="8449056" y="1572768"/>
            <a:ext cx="1627632" cy="2761488"/>
          </a:xfrm>
          <a:prstGeom prst="roundRect">
            <a:avLst>
              <a:gd name="adj" fmla="val 3371"/>
            </a:avLst>
          </a:prstGeom>
          <a:solidFill>
            <a:srgbClr val="FFFFFF"/>
          </a:solidFill>
          <a:ln w="15875">
            <a:solidFill>
              <a:srgbClr val="D64545"/>
            </a:solidFill>
            <a:prstDash val="solid"/>
          </a:ln>
        </p:spPr>
      </p:sp>
      <p:sp>
        <p:nvSpPr>
          <p:cNvPr id="35" name="Shape 33"/>
          <p:cNvSpPr/>
          <p:nvPr/>
        </p:nvSpPr>
        <p:spPr>
          <a:xfrm>
            <a:off x="8595360" y="1737360"/>
            <a:ext cx="365760" cy="365760"/>
          </a:xfrm>
          <a:prstGeom prst="ellipse">
            <a:avLst/>
          </a:prstGeom>
          <a:solidFill>
            <a:srgbClr val="D64545"/>
          </a:solidFill>
          <a:ln w="12700">
            <a:solidFill>
              <a:srgbClr val="D64545"/>
            </a:solidFill>
            <a:prstDash val="solid"/>
          </a:ln>
        </p:spPr>
      </p:sp>
      <p:sp>
        <p:nvSpPr>
          <p:cNvPr id="36" name="Text 34"/>
          <p:cNvSpPr txBox="1"/>
          <p:nvPr/>
        </p:nvSpPr>
        <p:spPr>
          <a:xfrm>
            <a:off x="8595360" y="1737360"/>
            <a:ext cx="36576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4</a:t>
            </a:r>
            <a:endParaRPr lang="en-US" sz="1300" dirty="0"/>
          </a:p>
        </p:txBody>
      </p:sp>
      <p:sp>
        <p:nvSpPr>
          <p:cNvPr id="37" name="Text 35"/>
          <p:cNvSpPr txBox="1"/>
          <p:nvPr/>
        </p:nvSpPr>
        <p:spPr>
          <a:xfrm>
            <a:off x="8595360" y="2194560"/>
            <a:ext cx="1335024" cy="329184"/>
          </a:xfrm>
          <a:prstGeom prst="rect">
            <a:avLst/>
          </a:prstGeom>
          <a:noFill/>
          <a:ln/>
        </p:spPr>
        <p:txBody>
          <a:bodyPr wrap="square" lIns="0" tIns="0" rIns="0" bIns="0" rtlCol="0" anchor="ctr"/>
          <a:lstStyle/>
          <a:p>
            <a:pPr indent="0" marL="0">
              <a:buNone/>
            </a:pPr>
            <a:r>
              <a:rPr lang="en-US" sz="1800" b="1" dirty="0">
                <a:solidFill>
                  <a:srgbClr val="10212A"/>
                </a:solidFill>
                <a:latin typeface="Cambria" pitchFamily="34" charset="0"/>
                <a:ea typeface="Cambria" pitchFamily="34" charset="-122"/>
                <a:cs typeface="Cambria" pitchFamily="34" charset="-120"/>
              </a:rPr>
              <a:t>Brief</a:t>
            </a:r>
            <a:endParaRPr lang="en-US" sz="1800" dirty="0"/>
          </a:p>
        </p:txBody>
      </p:sp>
      <p:sp>
        <p:nvSpPr>
          <p:cNvPr id="38" name="Text 36"/>
          <p:cNvSpPr txBox="1"/>
          <p:nvPr/>
        </p:nvSpPr>
        <p:spPr>
          <a:xfrm>
            <a:off x="8595360" y="2578608"/>
            <a:ext cx="1335024" cy="1554480"/>
          </a:xfrm>
          <a:prstGeom prst="rect">
            <a:avLst/>
          </a:prstGeom>
          <a:noFill/>
          <a:ln/>
        </p:spPr>
        <p:txBody>
          <a:bodyPr wrap="square" lIns="0" tIns="0" rIns="0" bIns="0" rtlCol="0" anchor="ctr"/>
          <a:lstStyle/>
          <a:p>
            <a:pPr indent="0" marL="0">
              <a:lnSpc>
                <a:spcPts val="1500"/>
              </a:lnSpc>
              <a:buNone/>
            </a:pPr>
            <a:r>
              <a:rPr lang="en-US" sz="1150" dirty="0">
                <a:solidFill>
                  <a:srgbClr val="35474F"/>
                </a:solidFill>
                <a:latin typeface="Calibri" pitchFamily="34" charset="0"/>
                <a:ea typeface="Calibri" pitchFamily="34" charset="-122"/>
                <a:cs typeface="Calibri" pitchFamily="34" charset="-120"/>
              </a:rPr>
              <a:t>A short brief with the bottom line, what to do, and what we still don't know.</a:t>
            </a:r>
            <a:endParaRPr lang="en-US" sz="1150" dirty="0"/>
          </a:p>
        </p:txBody>
      </p:sp>
      <p:sp>
        <p:nvSpPr>
          <p:cNvPr id="39" name="Text 37"/>
          <p:cNvSpPr txBox="1"/>
          <p:nvPr/>
        </p:nvSpPr>
        <p:spPr>
          <a:xfrm>
            <a:off x="2395728" y="2816352"/>
            <a:ext cx="274320" cy="274320"/>
          </a:xfrm>
          <a:prstGeom prst="rect">
            <a:avLst/>
          </a:prstGeom>
          <a:noFill/>
          <a:ln/>
        </p:spPr>
        <p:txBody>
          <a:bodyPr wrap="square" lIns="0" tIns="0" rIns="0" bIns="0" rtlCol="0" anchor="ctr"/>
          <a:lstStyle/>
          <a:p>
            <a:pPr algn="ctr" indent="0" marL="0">
              <a:buNone/>
            </a:pPr>
            <a:r>
              <a:rPr lang="en-US" sz="1800" b="1" dirty="0">
                <a:solidFill>
                  <a:srgbClr val="B5781F"/>
                </a:solidFill>
                <a:latin typeface="Calibri" pitchFamily="34" charset="0"/>
                <a:ea typeface="Calibri" pitchFamily="34" charset="-122"/>
                <a:cs typeface="Calibri" pitchFamily="34" charset="-120"/>
              </a:rPr>
              <a:t>→</a:t>
            </a:r>
            <a:endParaRPr lang="en-US" sz="1800" dirty="0"/>
          </a:p>
        </p:txBody>
      </p:sp>
      <p:sp>
        <p:nvSpPr>
          <p:cNvPr id="40" name="Text 38"/>
          <p:cNvSpPr txBox="1"/>
          <p:nvPr/>
        </p:nvSpPr>
        <p:spPr>
          <a:xfrm>
            <a:off x="4370832" y="2816352"/>
            <a:ext cx="274320" cy="274320"/>
          </a:xfrm>
          <a:prstGeom prst="rect">
            <a:avLst/>
          </a:prstGeom>
          <a:noFill/>
          <a:ln/>
        </p:spPr>
        <p:txBody>
          <a:bodyPr wrap="square" lIns="0" tIns="0" rIns="0" bIns="0" rtlCol="0" anchor="ctr"/>
          <a:lstStyle/>
          <a:p>
            <a:pPr algn="ctr" indent="0" marL="0">
              <a:buNone/>
            </a:pPr>
            <a:r>
              <a:rPr lang="en-US" sz="1800" b="1" dirty="0">
                <a:solidFill>
                  <a:srgbClr val="B5781F"/>
                </a:solidFill>
                <a:latin typeface="Calibri" pitchFamily="34" charset="0"/>
                <a:ea typeface="Calibri" pitchFamily="34" charset="-122"/>
                <a:cs typeface="Calibri" pitchFamily="34" charset="-120"/>
              </a:rPr>
              <a:t>→</a:t>
            </a:r>
            <a:endParaRPr lang="en-US" sz="1800" dirty="0"/>
          </a:p>
        </p:txBody>
      </p:sp>
      <p:sp>
        <p:nvSpPr>
          <p:cNvPr id="41" name="Text 39"/>
          <p:cNvSpPr txBox="1"/>
          <p:nvPr/>
        </p:nvSpPr>
        <p:spPr>
          <a:xfrm>
            <a:off x="6272784" y="2816352"/>
            <a:ext cx="274320" cy="274320"/>
          </a:xfrm>
          <a:prstGeom prst="rect">
            <a:avLst/>
          </a:prstGeom>
          <a:noFill/>
          <a:ln/>
        </p:spPr>
        <p:txBody>
          <a:bodyPr wrap="square" lIns="0" tIns="0" rIns="0" bIns="0" rtlCol="0" anchor="ctr"/>
          <a:lstStyle/>
          <a:p>
            <a:pPr algn="ctr" indent="0" marL="0">
              <a:buNone/>
            </a:pPr>
            <a:r>
              <a:rPr lang="en-US" sz="1800" b="1" dirty="0">
                <a:solidFill>
                  <a:srgbClr val="B5781F"/>
                </a:solidFill>
                <a:latin typeface="Calibri" pitchFamily="34" charset="0"/>
                <a:ea typeface="Calibri" pitchFamily="34" charset="-122"/>
                <a:cs typeface="Calibri" pitchFamily="34" charset="-120"/>
              </a:rPr>
              <a:t>→</a:t>
            </a:r>
            <a:endParaRPr lang="en-US" sz="1800" dirty="0"/>
          </a:p>
        </p:txBody>
      </p:sp>
      <p:sp>
        <p:nvSpPr>
          <p:cNvPr id="42" name="Text 40"/>
          <p:cNvSpPr txBox="1"/>
          <p:nvPr/>
        </p:nvSpPr>
        <p:spPr>
          <a:xfrm>
            <a:off x="8174736" y="2816352"/>
            <a:ext cx="274320" cy="274320"/>
          </a:xfrm>
          <a:prstGeom prst="rect">
            <a:avLst/>
          </a:prstGeom>
          <a:noFill/>
          <a:ln/>
        </p:spPr>
        <p:txBody>
          <a:bodyPr wrap="square" lIns="0" tIns="0" rIns="0" bIns="0" rtlCol="0" anchor="ctr"/>
          <a:lstStyle/>
          <a:p>
            <a:pPr algn="ctr" indent="0" marL="0">
              <a:buNone/>
            </a:pPr>
            <a:r>
              <a:rPr lang="en-US" sz="1800" b="1" dirty="0">
                <a:solidFill>
                  <a:srgbClr val="B5781F"/>
                </a:solidFill>
                <a:latin typeface="Calibri" pitchFamily="34" charset="0"/>
                <a:ea typeface="Calibri" pitchFamily="34" charset="-122"/>
                <a:cs typeface="Calibri" pitchFamily="34" charset="-120"/>
              </a:rPr>
              <a:t>→</a:t>
            </a:r>
            <a:endParaRPr lang="en-US" sz="1800" dirty="0"/>
          </a:p>
        </p:txBody>
      </p:sp>
      <p:sp>
        <p:nvSpPr>
          <p:cNvPr id="43" name="Text 41"/>
          <p:cNvSpPr txBox="1"/>
          <p:nvPr/>
        </p:nvSpPr>
        <p:spPr>
          <a:xfrm>
            <a:off x="10076688" y="2816352"/>
            <a:ext cx="274320" cy="274320"/>
          </a:xfrm>
          <a:prstGeom prst="rect">
            <a:avLst/>
          </a:prstGeom>
          <a:noFill/>
          <a:ln/>
        </p:spPr>
        <p:txBody>
          <a:bodyPr wrap="square" lIns="0" tIns="0" rIns="0" bIns="0" rtlCol="0" anchor="ctr"/>
          <a:lstStyle/>
          <a:p>
            <a:pPr algn="ctr" indent="0" marL="0">
              <a:buNone/>
            </a:pPr>
            <a:r>
              <a:rPr lang="en-US" sz="1800" b="1" dirty="0">
                <a:solidFill>
                  <a:srgbClr val="B5781F"/>
                </a:solidFill>
                <a:latin typeface="Calibri" pitchFamily="34" charset="0"/>
                <a:ea typeface="Calibri" pitchFamily="34" charset="-122"/>
                <a:cs typeface="Calibri" pitchFamily="34" charset="-120"/>
              </a:rPr>
              <a:t>→</a:t>
            </a:r>
            <a:endParaRPr lang="en-US" sz="1800" dirty="0"/>
          </a:p>
        </p:txBody>
      </p:sp>
      <p:sp>
        <p:nvSpPr>
          <p:cNvPr id="44" name="Shape 42"/>
          <p:cNvSpPr/>
          <p:nvPr/>
        </p:nvSpPr>
        <p:spPr>
          <a:xfrm>
            <a:off x="10351008" y="1737360"/>
            <a:ext cx="1271016" cy="731520"/>
          </a:xfrm>
          <a:prstGeom prst="roundRect">
            <a:avLst>
              <a:gd name="adj" fmla="val 7500"/>
            </a:avLst>
          </a:prstGeom>
          <a:solidFill>
            <a:srgbClr val="FFFFFF"/>
          </a:solidFill>
          <a:ln w="15875">
            <a:solidFill>
              <a:srgbClr val="4E9AA8"/>
            </a:solidFill>
            <a:prstDash val="solid"/>
          </a:ln>
        </p:spPr>
      </p:sp>
      <p:sp>
        <p:nvSpPr>
          <p:cNvPr id="45" name="Text 43"/>
          <p:cNvSpPr txBox="1"/>
          <p:nvPr/>
        </p:nvSpPr>
        <p:spPr>
          <a:xfrm>
            <a:off x="10405872" y="1737360"/>
            <a:ext cx="1161288" cy="731520"/>
          </a:xfrm>
          <a:prstGeom prst="rect">
            <a:avLst/>
          </a:prstGeom>
          <a:noFill/>
          <a:ln/>
        </p:spPr>
        <p:txBody>
          <a:bodyPr wrap="square" lIns="0" tIns="0" rIns="0" bIns="0" rtlCol="0" anchor="ctr"/>
          <a:lstStyle/>
          <a:p>
            <a:pPr algn="ctr" indent="0" marL="0">
              <a:buNone/>
            </a:pPr>
            <a:r>
              <a:rPr lang="en-US" sz="1150" b="1" dirty="0">
                <a:solidFill>
                  <a:srgbClr val="10212A"/>
                </a:solidFill>
                <a:latin typeface="Calibri" pitchFamily="34" charset="0"/>
                <a:ea typeface="Calibri" pitchFamily="34" charset="-122"/>
                <a:cs typeface="Calibri" pitchFamily="34" charset="-120"/>
              </a:rPr>
              <a:t>Ranked list</a:t>
            </a:r>
            <a:endParaRPr lang="en-US" sz="1150" dirty="0"/>
          </a:p>
        </p:txBody>
      </p:sp>
      <p:sp>
        <p:nvSpPr>
          <p:cNvPr id="46" name="Shape 44"/>
          <p:cNvSpPr/>
          <p:nvPr/>
        </p:nvSpPr>
        <p:spPr>
          <a:xfrm>
            <a:off x="10351008" y="2578608"/>
            <a:ext cx="1271016" cy="731520"/>
          </a:xfrm>
          <a:prstGeom prst="roundRect">
            <a:avLst>
              <a:gd name="adj" fmla="val 7500"/>
            </a:avLst>
          </a:prstGeom>
          <a:solidFill>
            <a:srgbClr val="FFFFFF"/>
          </a:solidFill>
          <a:ln w="15875">
            <a:solidFill>
              <a:srgbClr val="E8A33D"/>
            </a:solidFill>
            <a:prstDash val="solid"/>
          </a:ln>
        </p:spPr>
      </p:sp>
      <p:sp>
        <p:nvSpPr>
          <p:cNvPr id="47" name="Text 45"/>
          <p:cNvSpPr txBox="1"/>
          <p:nvPr/>
        </p:nvSpPr>
        <p:spPr>
          <a:xfrm>
            <a:off x="10405872" y="2578608"/>
            <a:ext cx="1161288" cy="731520"/>
          </a:xfrm>
          <a:prstGeom prst="rect">
            <a:avLst/>
          </a:prstGeom>
          <a:noFill/>
          <a:ln/>
        </p:spPr>
        <p:txBody>
          <a:bodyPr wrap="square" lIns="0" tIns="0" rIns="0" bIns="0" rtlCol="0" anchor="ctr"/>
          <a:lstStyle/>
          <a:p>
            <a:pPr algn="ctr" indent="0" marL="0">
              <a:buNone/>
            </a:pPr>
            <a:r>
              <a:rPr lang="en-US" sz="1150" b="1" dirty="0">
                <a:solidFill>
                  <a:srgbClr val="10212A"/>
                </a:solidFill>
                <a:latin typeface="Calibri" pitchFamily="34" charset="0"/>
                <a:ea typeface="Calibri" pitchFamily="34" charset="-122"/>
                <a:cs typeface="Calibri" pitchFamily="34" charset="-120"/>
              </a:rPr>
              <a:t>Commander brief</a:t>
            </a:r>
            <a:endParaRPr lang="en-US" sz="1150" dirty="0"/>
          </a:p>
        </p:txBody>
      </p:sp>
      <p:sp>
        <p:nvSpPr>
          <p:cNvPr id="48" name="Shape 46"/>
          <p:cNvSpPr/>
          <p:nvPr/>
        </p:nvSpPr>
        <p:spPr>
          <a:xfrm>
            <a:off x="10351008" y="3419856"/>
            <a:ext cx="1271016" cy="731520"/>
          </a:xfrm>
          <a:prstGeom prst="roundRect">
            <a:avLst>
              <a:gd name="adj" fmla="val 7500"/>
            </a:avLst>
          </a:prstGeom>
          <a:solidFill>
            <a:srgbClr val="FFFFFF"/>
          </a:solidFill>
          <a:ln w="15875">
            <a:solidFill>
              <a:srgbClr val="4E9AA8"/>
            </a:solidFill>
            <a:prstDash val="solid"/>
          </a:ln>
        </p:spPr>
      </p:sp>
      <p:sp>
        <p:nvSpPr>
          <p:cNvPr id="49" name="Text 47"/>
          <p:cNvSpPr txBox="1"/>
          <p:nvPr/>
        </p:nvSpPr>
        <p:spPr>
          <a:xfrm>
            <a:off x="10405872" y="3419856"/>
            <a:ext cx="1161288" cy="731520"/>
          </a:xfrm>
          <a:prstGeom prst="rect">
            <a:avLst/>
          </a:prstGeom>
          <a:noFill/>
          <a:ln/>
        </p:spPr>
        <p:txBody>
          <a:bodyPr wrap="square" lIns="0" tIns="0" rIns="0" bIns="0" rtlCol="0" anchor="ctr"/>
          <a:lstStyle/>
          <a:p>
            <a:pPr algn="ctr" indent="0" marL="0">
              <a:buNone/>
            </a:pPr>
            <a:r>
              <a:rPr lang="en-US" sz="1150" b="1" dirty="0">
                <a:solidFill>
                  <a:srgbClr val="10212A"/>
                </a:solidFill>
                <a:latin typeface="Calibri" pitchFamily="34" charset="0"/>
                <a:ea typeface="Calibri" pitchFamily="34" charset="-122"/>
                <a:cs typeface="Calibri" pitchFamily="34" charset="-120"/>
              </a:rPr>
              <a:t>Feed to other tools</a:t>
            </a:r>
            <a:endParaRPr lang="en-US" sz="1150" dirty="0"/>
          </a:p>
        </p:txBody>
      </p:sp>
      <p:sp>
        <p:nvSpPr>
          <p:cNvPr id="50" name="Shape 48"/>
          <p:cNvSpPr/>
          <p:nvPr/>
        </p:nvSpPr>
        <p:spPr>
          <a:xfrm>
            <a:off x="566928" y="4462272"/>
            <a:ext cx="11055096" cy="566928"/>
          </a:xfrm>
          <a:prstGeom prst="roundRect">
            <a:avLst>
              <a:gd name="adj" fmla="val 9677"/>
            </a:avLst>
          </a:prstGeom>
          <a:solidFill>
            <a:srgbClr val="F4F7F8"/>
          </a:solidFill>
          <a:ln w="15875">
            <a:solidFill>
              <a:srgbClr val="DDE4E4"/>
            </a:solidFill>
            <a:prstDash val="solid"/>
          </a:ln>
        </p:spPr>
      </p:sp>
      <p:sp>
        <p:nvSpPr>
          <p:cNvPr id="51" name="Text 49"/>
          <p:cNvSpPr txBox="1"/>
          <p:nvPr/>
        </p:nvSpPr>
        <p:spPr>
          <a:xfrm>
            <a:off x="886968" y="4462272"/>
            <a:ext cx="10415016" cy="566928"/>
          </a:xfrm>
          <a:prstGeom prst="rect">
            <a:avLst/>
          </a:prstGeom>
          <a:noFill/>
          <a:ln/>
        </p:spPr>
        <p:txBody>
          <a:bodyPr wrap="square" lIns="0" tIns="0" rIns="0" bIns="0" rtlCol="0" anchor="ctr"/>
          <a:lstStyle/>
          <a:p>
            <a:pPr indent="0" marL="0">
              <a:buNone/>
            </a:pPr>
            <a:r>
              <a:rPr lang="en-US" sz="1400" dirty="0">
                <a:solidFill>
                  <a:srgbClr val="10212A"/>
                </a:solidFill>
                <a:latin typeface="Calibri" pitchFamily="34" charset="0"/>
                <a:ea typeface="Calibri" pitchFamily="34" charset="-122"/>
                <a:cs typeface="Calibri" pitchFamily="34" charset="-120"/>
              </a:rPr>
              <a:t>Everything is logged. Any score on the commander's screen can be traced back to the alerts that caused it.</a:t>
            </a:r>
            <a:endParaRPr lang="en-US" sz="1400" dirty="0"/>
          </a:p>
        </p:txBody>
      </p:sp>
      <p:sp>
        <p:nvSpPr>
          <p:cNvPr id="52" name="Shape 50"/>
          <p:cNvSpPr/>
          <p:nvPr/>
        </p:nvSpPr>
        <p:spPr>
          <a:xfrm>
            <a:off x="566928" y="5166360"/>
            <a:ext cx="11055096" cy="914400"/>
          </a:xfrm>
          <a:prstGeom prst="roundRect">
            <a:avLst>
              <a:gd name="adj" fmla="val 6000"/>
            </a:avLst>
          </a:prstGeom>
          <a:solidFill>
            <a:srgbClr val="FFFFFF"/>
          </a:solidFill>
          <a:ln w="15875">
            <a:solidFill>
              <a:srgbClr val="E8A33D"/>
            </a:solidFill>
            <a:prstDash val="solid"/>
          </a:ln>
        </p:spPr>
      </p:sp>
      <p:sp>
        <p:nvSpPr>
          <p:cNvPr id="53" name="Text 51"/>
          <p:cNvSpPr txBox="1"/>
          <p:nvPr/>
        </p:nvSpPr>
        <p:spPr>
          <a:xfrm>
            <a:off x="886968" y="5166360"/>
            <a:ext cx="2103120" cy="914400"/>
          </a:xfrm>
          <a:prstGeom prst="rect">
            <a:avLst/>
          </a:prstGeom>
          <a:noFill/>
          <a:ln/>
        </p:spPr>
        <p:txBody>
          <a:bodyPr wrap="square" lIns="0" tIns="0" rIns="0" bIns="0" rtlCol="0" anchor="ctr"/>
          <a:lstStyle/>
          <a:p>
            <a:pPr indent="0" marL="0">
              <a:buNone/>
            </a:pPr>
            <a:r>
              <a:rPr lang="en-US" sz="1300" b="1" spc="120" kern="0" dirty="0">
                <a:solidFill>
                  <a:srgbClr val="B5781F"/>
                </a:solidFill>
                <a:latin typeface="Calibri" pitchFamily="34" charset="0"/>
                <a:ea typeface="Calibri" pitchFamily="34" charset="-122"/>
                <a:cs typeface="Calibri" pitchFamily="34" charset="-120"/>
              </a:rPr>
              <a:t>Runs on watsonx</a:t>
            </a:r>
            <a:endParaRPr lang="en-US" sz="1300" dirty="0"/>
          </a:p>
        </p:txBody>
      </p:sp>
      <p:sp>
        <p:nvSpPr>
          <p:cNvPr id="54" name="Text 52"/>
          <p:cNvSpPr txBox="1"/>
          <p:nvPr/>
        </p:nvSpPr>
        <p:spPr>
          <a:xfrm>
            <a:off x="3017520" y="5321808"/>
            <a:ext cx="2743200" cy="274320"/>
          </a:xfrm>
          <a:prstGeom prst="rect">
            <a:avLst/>
          </a:prstGeom>
          <a:noFill/>
          <a:ln/>
        </p:spPr>
        <p:txBody>
          <a:bodyPr wrap="square" lIns="0" tIns="0" rIns="0" bIns="0" rtlCol="0" anchor="ctr"/>
          <a:lstStyle/>
          <a:p>
            <a:pPr indent="0" marL="0">
              <a:buNone/>
            </a:pPr>
            <a:r>
              <a:rPr lang="en-US" sz="1350" b="1" dirty="0">
                <a:solidFill>
                  <a:srgbClr val="10212A"/>
                </a:solidFill>
                <a:latin typeface="Calibri" pitchFamily="34" charset="0"/>
                <a:ea typeface="Calibri" pitchFamily="34" charset="-122"/>
                <a:cs typeface="Calibri" pitchFamily="34" charset="-120"/>
              </a:rPr>
              <a:t>Granite</a:t>
            </a:r>
            <a:endParaRPr lang="en-US" sz="1350" dirty="0"/>
          </a:p>
        </p:txBody>
      </p:sp>
      <p:sp>
        <p:nvSpPr>
          <p:cNvPr id="55" name="Text 53"/>
          <p:cNvSpPr txBox="1"/>
          <p:nvPr/>
        </p:nvSpPr>
        <p:spPr>
          <a:xfrm>
            <a:off x="3017520" y="5614416"/>
            <a:ext cx="2834640" cy="329184"/>
          </a:xfrm>
          <a:prstGeom prst="rect">
            <a:avLst/>
          </a:prstGeom>
          <a:noFill/>
          <a:ln/>
        </p:spPr>
        <p:txBody>
          <a:bodyPr wrap="square" lIns="0" tIns="0" rIns="0" bIns="0" rtlCol="0" anchor="ctr"/>
          <a:lstStyle/>
          <a:p>
            <a:pPr indent="0" marL="0">
              <a:buNone/>
            </a:pPr>
            <a:r>
              <a:rPr lang="en-US" sz="1200" dirty="0">
                <a:solidFill>
                  <a:srgbClr val="35474F"/>
                </a:solidFill>
                <a:latin typeface="Calibri" pitchFamily="34" charset="0"/>
                <a:ea typeface="Calibri" pitchFamily="34" charset="-122"/>
                <a:cs typeface="Calibri" pitchFamily="34" charset="-120"/>
              </a:rPr>
              <a:t>reads written reports, writes the brief</a:t>
            </a:r>
            <a:endParaRPr lang="en-US" sz="1200" dirty="0"/>
          </a:p>
        </p:txBody>
      </p:sp>
      <p:sp>
        <p:nvSpPr>
          <p:cNvPr id="56" name="Text 54"/>
          <p:cNvSpPr txBox="1"/>
          <p:nvPr/>
        </p:nvSpPr>
        <p:spPr>
          <a:xfrm>
            <a:off x="5943600" y="5321808"/>
            <a:ext cx="2743200" cy="274320"/>
          </a:xfrm>
          <a:prstGeom prst="rect">
            <a:avLst/>
          </a:prstGeom>
          <a:noFill/>
          <a:ln/>
        </p:spPr>
        <p:txBody>
          <a:bodyPr wrap="square" lIns="0" tIns="0" rIns="0" bIns="0" rtlCol="0" anchor="ctr"/>
          <a:lstStyle/>
          <a:p>
            <a:pPr indent="0" marL="0">
              <a:buNone/>
            </a:pPr>
            <a:r>
              <a:rPr lang="en-US" sz="1350" b="1" dirty="0">
                <a:solidFill>
                  <a:srgbClr val="10212A"/>
                </a:solidFill>
                <a:latin typeface="Calibri" pitchFamily="34" charset="0"/>
                <a:ea typeface="Calibri" pitchFamily="34" charset="-122"/>
                <a:cs typeface="Calibri" pitchFamily="34" charset="-120"/>
              </a:rPr>
              <a:t>Orchestrate</a:t>
            </a:r>
            <a:endParaRPr lang="en-US" sz="1350" dirty="0"/>
          </a:p>
        </p:txBody>
      </p:sp>
      <p:sp>
        <p:nvSpPr>
          <p:cNvPr id="57" name="Text 55"/>
          <p:cNvSpPr txBox="1"/>
          <p:nvPr/>
        </p:nvSpPr>
        <p:spPr>
          <a:xfrm>
            <a:off x="5943600" y="5614416"/>
            <a:ext cx="2834640" cy="329184"/>
          </a:xfrm>
          <a:prstGeom prst="rect">
            <a:avLst/>
          </a:prstGeom>
          <a:noFill/>
          <a:ln/>
        </p:spPr>
        <p:txBody>
          <a:bodyPr wrap="square" lIns="0" tIns="0" rIns="0" bIns="0" rtlCol="0" anchor="ctr"/>
          <a:lstStyle/>
          <a:p>
            <a:pPr indent="0" marL="0">
              <a:buNone/>
            </a:pPr>
            <a:r>
              <a:rPr lang="en-US" sz="1200" dirty="0">
                <a:solidFill>
                  <a:srgbClr val="35474F"/>
                </a:solidFill>
                <a:latin typeface="Calibri" pitchFamily="34" charset="0"/>
                <a:ea typeface="Calibri" pitchFamily="34" charset="-122"/>
                <a:cs typeface="Calibri" pitchFamily="34" charset="-120"/>
              </a:rPr>
              <a:t>runs the four steps in order</a:t>
            </a:r>
            <a:endParaRPr lang="en-US" sz="1200" dirty="0"/>
          </a:p>
        </p:txBody>
      </p:sp>
      <p:sp>
        <p:nvSpPr>
          <p:cNvPr id="58" name="Text 56"/>
          <p:cNvSpPr txBox="1"/>
          <p:nvPr/>
        </p:nvSpPr>
        <p:spPr>
          <a:xfrm>
            <a:off x="8686800" y="5321808"/>
            <a:ext cx="2743200" cy="274320"/>
          </a:xfrm>
          <a:prstGeom prst="rect">
            <a:avLst/>
          </a:prstGeom>
          <a:noFill/>
          <a:ln/>
        </p:spPr>
        <p:txBody>
          <a:bodyPr wrap="square" lIns="0" tIns="0" rIns="0" bIns="0" rtlCol="0" anchor="ctr"/>
          <a:lstStyle/>
          <a:p>
            <a:pPr indent="0" marL="0">
              <a:buNone/>
            </a:pPr>
            <a:r>
              <a:rPr lang="en-US" sz="1350" b="1" dirty="0">
                <a:solidFill>
                  <a:srgbClr val="10212A"/>
                </a:solidFill>
                <a:latin typeface="Calibri" pitchFamily="34" charset="0"/>
                <a:ea typeface="Calibri" pitchFamily="34" charset="-122"/>
                <a:cs typeface="Calibri" pitchFamily="34" charset="-120"/>
              </a:rPr>
              <a:t>Guardian</a:t>
            </a:r>
            <a:endParaRPr lang="en-US" sz="1350" dirty="0"/>
          </a:p>
        </p:txBody>
      </p:sp>
      <p:sp>
        <p:nvSpPr>
          <p:cNvPr id="59" name="Text 57"/>
          <p:cNvSpPr txBox="1"/>
          <p:nvPr/>
        </p:nvSpPr>
        <p:spPr>
          <a:xfrm>
            <a:off x="8686800" y="5614416"/>
            <a:ext cx="2834640" cy="329184"/>
          </a:xfrm>
          <a:prstGeom prst="rect">
            <a:avLst/>
          </a:prstGeom>
          <a:noFill/>
          <a:ln/>
        </p:spPr>
        <p:txBody>
          <a:bodyPr wrap="square" lIns="0" tIns="0" rIns="0" bIns="0" rtlCol="0" anchor="ctr"/>
          <a:lstStyle/>
          <a:p>
            <a:pPr indent="0" marL="0">
              <a:buNone/>
            </a:pPr>
            <a:r>
              <a:rPr lang="en-US" sz="1200" dirty="0">
                <a:solidFill>
                  <a:srgbClr val="35474F"/>
                </a:solidFill>
                <a:latin typeface="Calibri" pitchFamily="34" charset="0"/>
                <a:ea typeface="Calibri" pitchFamily="34" charset="-122"/>
                <a:cs typeface="Calibri" pitchFamily="34" charset="-120"/>
              </a:rPr>
              <a:t>checks the brief against the evidence</a:t>
            </a:r>
            <a:endParaRPr lang="en-US" sz="12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66928" y="237744"/>
            <a:ext cx="11055096" cy="256032"/>
          </a:xfrm>
          <a:prstGeom prst="rect">
            <a:avLst/>
          </a:prstGeom>
          <a:noFill/>
          <a:ln/>
        </p:spPr>
        <p:txBody>
          <a:bodyPr wrap="square" lIns="0" tIns="0" rIns="0" bIns="0" rtlCol="0" anchor="ctr"/>
          <a:lstStyle/>
          <a:p>
            <a:pPr indent="0" marL="0">
              <a:buNone/>
            </a:pPr>
            <a:r>
              <a:rPr lang="en-US" sz="1300" b="1" spc="140" kern="0" dirty="0">
                <a:solidFill>
                  <a:srgbClr val="3E8695"/>
                </a:solidFill>
                <a:latin typeface="Calibri" pitchFamily="34" charset="0"/>
                <a:ea typeface="Calibri" pitchFamily="34" charset="-122"/>
                <a:cs typeface="Calibri" pitchFamily="34" charset="-120"/>
              </a:rPr>
              <a:t>HOW IT WORKS</a:t>
            </a:r>
            <a:endParaRPr lang="en-US" sz="1300" dirty="0"/>
          </a:p>
        </p:txBody>
      </p:sp>
      <p:sp>
        <p:nvSpPr>
          <p:cNvPr id="3" name="Text 1"/>
          <p:cNvSpPr txBox="1"/>
          <p:nvPr/>
        </p:nvSpPr>
        <p:spPr>
          <a:xfrm>
            <a:off x="566928" y="457200"/>
            <a:ext cx="11055096" cy="713232"/>
          </a:xfrm>
          <a:prstGeom prst="rect">
            <a:avLst/>
          </a:prstGeom>
          <a:noFill/>
          <a:ln/>
        </p:spPr>
        <p:txBody>
          <a:bodyPr wrap="square" lIns="0" tIns="0" rIns="0" bIns="0" rtlCol="0" anchor="ctr"/>
          <a:lstStyle/>
          <a:p>
            <a:pPr indent="0" marL="0">
              <a:buNone/>
            </a:pPr>
            <a:r>
              <a:rPr lang="en-US" sz="3600" b="1" dirty="0">
                <a:solidFill>
                  <a:srgbClr val="10212A"/>
                </a:solidFill>
                <a:latin typeface="Cambria" pitchFamily="34" charset="0"/>
                <a:ea typeface="Cambria" pitchFamily="34" charset="-122"/>
                <a:cs typeface="Cambria" pitchFamily="34" charset="-120"/>
              </a:rPr>
              <a:t>One example: three alerts, one warning</a:t>
            </a:r>
            <a:endParaRPr lang="en-US" sz="3600" dirty="0"/>
          </a:p>
        </p:txBody>
      </p:sp>
      <p:sp>
        <p:nvSpPr>
          <p:cNvPr id="4" name="Shape 2"/>
          <p:cNvSpPr/>
          <p:nvPr/>
        </p:nvSpPr>
        <p:spPr>
          <a:xfrm>
            <a:off x="566928" y="1234440"/>
            <a:ext cx="6858000" cy="2057400"/>
          </a:xfrm>
          <a:prstGeom prst="roundRect">
            <a:avLst>
              <a:gd name="adj" fmla="val 2667"/>
            </a:avLst>
          </a:prstGeom>
          <a:solidFill>
            <a:srgbClr val="FFFFFF"/>
          </a:solidFill>
          <a:ln w="15875">
            <a:solidFill>
              <a:srgbClr val="DDE4E4"/>
            </a:solidFill>
            <a:prstDash val="solid"/>
          </a:ln>
        </p:spPr>
      </p:sp>
      <p:sp>
        <p:nvSpPr>
          <p:cNvPr id="5" name="Shape 3"/>
          <p:cNvSpPr/>
          <p:nvPr/>
        </p:nvSpPr>
        <p:spPr>
          <a:xfrm>
            <a:off x="2944368" y="1650492"/>
            <a:ext cx="256032" cy="443484"/>
          </a:xfrm>
          <a:prstGeom prst="line">
            <a:avLst/>
          </a:prstGeom>
          <a:noFill/>
          <a:ln w="15875">
            <a:solidFill>
              <a:srgbClr val="B9C6C6"/>
            </a:solidFill>
            <a:prstDash val="solid"/>
          </a:ln>
        </p:spPr>
      </p:sp>
      <p:sp>
        <p:nvSpPr>
          <p:cNvPr id="6" name="Shape 4"/>
          <p:cNvSpPr/>
          <p:nvPr/>
        </p:nvSpPr>
        <p:spPr>
          <a:xfrm>
            <a:off x="2944368" y="2089404"/>
            <a:ext cx="256032" cy="4572"/>
          </a:xfrm>
          <a:prstGeom prst="line">
            <a:avLst/>
          </a:prstGeom>
          <a:noFill/>
          <a:ln w="15875">
            <a:solidFill>
              <a:srgbClr val="B9C6C6"/>
            </a:solidFill>
            <a:prstDash val="solid"/>
          </a:ln>
        </p:spPr>
      </p:sp>
      <p:sp>
        <p:nvSpPr>
          <p:cNvPr id="7" name="Shape 5"/>
          <p:cNvSpPr/>
          <p:nvPr/>
        </p:nvSpPr>
        <p:spPr>
          <a:xfrm flipV="1">
            <a:off x="2944368" y="2093976"/>
            <a:ext cx="256032" cy="434340"/>
          </a:xfrm>
          <a:prstGeom prst="line">
            <a:avLst/>
          </a:prstGeom>
          <a:noFill/>
          <a:ln w="15875">
            <a:solidFill>
              <a:srgbClr val="B9C6C6"/>
            </a:solidFill>
            <a:prstDash val="solid"/>
          </a:ln>
        </p:spPr>
      </p:sp>
      <p:sp>
        <p:nvSpPr>
          <p:cNvPr id="8" name="Shape 6"/>
          <p:cNvSpPr/>
          <p:nvPr/>
        </p:nvSpPr>
        <p:spPr>
          <a:xfrm>
            <a:off x="795528" y="1444752"/>
            <a:ext cx="2148840" cy="411480"/>
          </a:xfrm>
          <a:prstGeom prst="roundRect">
            <a:avLst>
              <a:gd name="adj" fmla="val 13333"/>
            </a:avLst>
          </a:prstGeom>
          <a:solidFill>
            <a:srgbClr val="FFFFFF"/>
          </a:solidFill>
          <a:ln w="15875">
            <a:solidFill>
              <a:srgbClr val="DDE4E4"/>
            </a:solidFill>
            <a:prstDash val="solid"/>
          </a:ln>
        </p:spPr>
      </p:sp>
      <p:sp>
        <p:nvSpPr>
          <p:cNvPr id="9" name="Text 7"/>
          <p:cNvSpPr txBox="1"/>
          <p:nvPr/>
        </p:nvSpPr>
        <p:spPr>
          <a:xfrm>
            <a:off x="923544" y="1463040"/>
            <a:ext cx="1892808" cy="182880"/>
          </a:xfrm>
          <a:prstGeom prst="rect">
            <a:avLst/>
          </a:prstGeom>
          <a:noFill/>
          <a:ln/>
        </p:spPr>
        <p:txBody>
          <a:bodyPr wrap="square" lIns="0" tIns="0" rIns="0" bIns="0" rtlCol="0" anchor="ctr"/>
          <a:lstStyle/>
          <a:p>
            <a:pPr indent="0" marL="0">
              <a:buNone/>
            </a:pPr>
            <a:r>
              <a:rPr lang="en-US" sz="950" b="1" dirty="0">
                <a:solidFill>
                  <a:srgbClr val="3E8695"/>
                </a:solidFill>
                <a:latin typeface="Calibri" pitchFamily="34" charset="0"/>
                <a:ea typeface="Calibri" pitchFamily="34" charset="-122"/>
                <a:cs typeface="Calibri" pitchFamily="34" charset="-120"/>
              </a:rPr>
              <a:t>Radio</a:t>
            </a:r>
            <a:endParaRPr lang="en-US" sz="950" dirty="0"/>
          </a:p>
        </p:txBody>
      </p:sp>
      <p:sp>
        <p:nvSpPr>
          <p:cNvPr id="10" name="Text 8"/>
          <p:cNvSpPr txBox="1"/>
          <p:nvPr/>
        </p:nvSpPr>
        <p:spPr>
          <a:xfrm>
            <a:off x="923544" y="1627632"/>
            <a:ext cx="1892808" cy="219456"/>
          </a:xfrm>
          <a:prstGeom prst="rect">
            <a:avLst/>
          </a:prstGeom>
          <a:noFill/>
          <a:ln/>
        </p:spPr>
        <p:txBody>
          <a:bodyPr wrap="square" lIns="0" tIns="0" rIns="0" bIns="0" rtlCol="0" anchor="ctr"/>
          <a:lstStyle/>
          <a:p>
            <a:pPr indent="0" marL="0">
              <a:buNone/>
            </a:pPr>
            <a:r>
              <a:rPr lang="en-US" sz="1100" dirty="0">
                <a:solidFill>
                  <a:srgbClr val="35474F"/>
                </a:solidFill>
                <a:latin typeface="Calibri" pitchFamily="34" charset="0"/>
                <a:ea typeface="Calibri" pitchFamily="34" charset="-122"/>
                <a:cs typeface="Calibri" pitchFamily="34" charset="-120"/>
              </a:rPr>
              <a:t>Jamming test at grid 42</a:t>
            </a:r>
            <a:endParaRPr lang="en-US" sz="1100" dirty="0"/>
          </a:p>
        </p:txBody>
      </p:sp>
      <p:sp>
        <p:nvSpPr>
          <p:cNvPr id="11" name="Shape 9"/>
          <p:cNvSpPr/>
          <p:nvPr/>
        </p:nvSpPr>
        <p:spPr>
          <a:xfrm>
            <a:off x="795528" y="1883664"/>
            <a:ext cx="2148840" cy="411480"/>
          </a:xfrm>
          <a:prstGeom prst="roundRect">
            <a:avLst>
              <a:gd name="adj" fmla="val 13333"/>
            </a:avLst>
          </a:prstGeom>
          <a:solidFill>
            <a:srgbClr val="FFFFFF"/>
          </a:solidFill>
          <a:ln w="15875">
            <a:solidFill>
              <a:srgbClr val="DDE4E4"/>
            </a:solidFill>
            <a:prstDash val="solid"/>
          </a:ln>
        </p:spPr>
      </p:sp>
      <p:sp>
        <p:nvSpPr>
          <p:cNvPr id="12" name="Text 10"/>
          <p:cNvSpPr txBox="1"/>
          <p:nvPr/>
        </p:nvSpPr>
        <p:spPr>
          <a:xfrm>
            <a:off x="923544" y="1901952"/>
            <a:ext cx="1892808" cy="182880"/>
          </a:xfrm>
          <a:prstGeom prst="rect">
            <a:avLst/>
          </a:prstGeom>
          <a:noFill/>
          <a:ln/>
        </p:spPr>
        <p:txBody>
          <a:bodyPr wrap="square" lIns="0" tIns="0" rIns="0" bIns="0" rtlCol="0" anchor="ctr"/>
          <a:lstStyle/>
          <a:p>
            <a:pPr indent="0" marL="0">
              <a:buNone/>
            </a:pPr>
            <a:r>
              <a:rPr lang="en-US" sz="950" b="1" dirty="0">
                <a:solidFill>
                  <a:srgbClr val="3E8695"/>
                </a:solidFill>
                <a:latin typeface="Calibri" pitchFamily="34" charset="0"/>
                <a:ea typeface="Calibri" pitchFamily="34" charset="-122"/>
                <a:cs typeface="Calibri" pitchFamily="34" charset="-120"/>
              </a:rPr>
              <a:t>Satellite</a:t>
            </a:r>
            <a:endParaRPr lang="en-US" sz="950" dirty="0"/>
          </a:p>
        </p:txBody>
      </p:sp>
      <p:sp>
        <p:nvSpPr>
          <p:cNvPr id="13" name="Text 11"/>
          <p:cNvSpPr txBox="1"/>
          <p:nvPr/>
        </p:nvSpPr>
        <p:spPr>
          <a:xfrm>
            <a:off x="923544" y="2066544"/>
            <a:ext cx="1892808" cy="219456"/>
          </a:xfrm>
          <a:prstGeom prst="rect">
            <a:avLst/>
          </a:prstGeom>
          <a:noFill/>
          <a:ln/>
        </p:spPr>
        <p:txBody>
          <a:bodyPr wrap="square" lIns="0" tIns="0" rIns="0" bIns="0" rtlCol="0" anchor="ctr"/>
          <a:lstStyle/>
          <a:p>
            <a:pPr indent="0" marL="0">
              <a:buNone/>
            </a:pPr>
            <a:r>
              <a:rPr lang="en-US" sz="1100" dirty="0">
                <a:solidFill>
                  <a:srgbClr val="35474F"/>
                </a:solidFill>
                <a:latin typeface="Calibri" pitchFamily="34" charset="0"/>
                <a:ea typeface="Calibri" pitchFamily="34" charset="-122"/>
                <a:cs typeface="Calibri" pitchFamily="34" charset="-120"/>
              </a:rPr>
              <a:t>Vehicles gathering at grid 42</a:t>
            </a:r>
            <a:endParaRPr lang="en-US" sz="1100" dirty="0"/>
          </a:p>
        </p:txBody>
      </p:sp>
      <p:sp>
        <p:nvSpPr>
          <p:cNvPr id="14" name="Shape 12"/>
          <p:cNvSpPr/>
          <p:nvPr/>
        </p:nvSpPr>
        <p:spPr>
          <a:xfrm>
            <a:off x="795528" y="2322576"/>
            <a:ext cx="2148840" cy="411480"/>
          </a:xfrm>
          <a:prstGeom prst="roundRect">
            <a:avLst>
              <a:gd name="adj" fmla="val 13333"/>
            </a:avLst>
          </a:prstGeom>
          <a:solidFill>
            <a:srgbClr val="FFFFFF"/>
          </a:solidFill>
          <a:ln w="15875">
            <a:solidFill>
              <a:srgbClr val="DDE4E4"/>
            </a:solidFill>
            <a:prstDash val="solid"/>
          </a:ln>
        </p:spPr>
      </p:sp>
      <p:sp>
        <p:nvSpPr>
          <p:cNvPr id="15" name="Text 13"/>
          <p:cNvSpPr txBox="1"/>
          <p:nvPr/>
        </p:nvSpPr>
        <p:spPr>
          <a:xfrm>
            <a:off x="923544" y="2340864"/>
            <a:ext cx="1892808" cy="182880"/>
          </a:xfrm>
          <a:prstGeom prst="rect">
            <a:avLst/>
          </a:prstGeom>
          <a:noFill/>
          <a:ln/>
        </p:spPr>
        <p:txBody>
          <a:bodyPr wrap="square" lIns="0" tIns="0" rIns="0" bIns="0" rtlCol="0" anchor="ctr"/>
          <a:lstStyle/>
          <a:p>
            <a:pPr indent="0" marL="0">
              <a:buNone/>
            </a:pPr>
            <a:r>
              <a:rPr lang="en-US" sz="950" b="1" dirty="0">
                <a:solidFill>
                  <a:srgbClr val="3E8695"/>
                </a:solidFill>
                <a:latin typeface="Calibri" pitchFamily="34" charset="0"/>
                <a:ea typeface="Calibri" pitchFamily="34" charset="-122"/>
                <a:cs typeface="Calibri" pitchFamily="34" charset="-120"/>
              </a:rPr>
              <a:t>Cyber</a:t>
            </a:r>
            <a:endParaRPr lang="en-US" sz="950" dirty="0"/>
          </a:p>
        </p:txBody>
      </p:sp>
      <p:sp>
        <p:nvSpPr>
          <p:cNvPr id="16" name="Text 14"/>
          <p:cNvSpPr txBox="1"/>
          <p:nvPr/>
        </p:nvSpPr>
        <p:spPr>
          <a:xfrm>
            <a:off x="923544" y="2505456"/>
            <a:ext cx="1892808" cy="219456"/>
          </a:xfrm>
          <a:prstGeom prst="rect">
            <a:avLst/>
          </a:prstGeom>
          <a:noFill/>
          <a:ln/>
        </p:spPr>
        <p:txBody>
          <a:bodyPr wrap="square" lIns="0" tIns="0" rIns="0" bIns="0" rtlCol="0" anchor="ctr"/>
          <a:lstStyle/>
          <a:p>
            <a:pPr indent="0" marL="0">
              <a:buNone/>
            </a:pPr>
            <a:r>
              <a:rPr lang="en-US" sz="1100" dirty="0">
                <a:solidFill>
                  <a:srgbClr val="35474F"/>
                </a:solidFill>
                <a:latin typeface="Calibri" pitchFamily="34" charset="0"/>
                <a:ea typeface="Calibri" pitchFamily="34" charset="-122"/>
                <a:cs typeface="Calibri" pitchFamily="34" charset="-120"/>
              </a:rPr>
              <a:t>Scanning Site 7's controls</a:t>
            </a:r>
            <a:endParaRPr lang="en-US" sz="1100" dirty="0"/>
          </a:p>
        </p:txBody>
      </p:sp>
      <p:sp>
        <p:nvSpPr>
          <p:cNvPr id="17" name="Shape 15"/>
          <p:cNvSpPr/>
          <p:nvPr/>
        </p:nvSpPr>
        <p:spPr>
          <a:xfrm>
            <a:off x="3200400" y="1773936"/>
            <a:ext cx="1554480" cy="640080"/>
          </a:xfrm>
          <a:prstGeom prst="roundRect">
            <a:avLst>
              <a:gd name="adj" fmla="val 8571"/>
            </a:avLst>
          </a:prstGeom>
          <a:solidFill>
            <a:srgbClr val="EAF3F4"/>
          </a:solidFill>
          <a:ln w="15875">
            <a:solidFill>
              <a:srgbClr val="3E8695"/>
            </a:solidFill>
            <a:prstDash val="solid"/>
          </a:ln>
        </p:spPr>
      </p:sp>
      <p:sp>
        <p:nvSpPr>
          <p:cNvPr id="18" name="Text 16"/>
          <p:cNvSpPr txBox="1"/>
          <p:nvPr/>
        </p:nvSpPr>
        <p:spPr>
          <a:xfrm>
            <a:off x="3200400" y="1828800"/>
            <a:ext cx="1554480" cy="219456"/>
          </a:xfrm>
          <a:prstGeom prst="rect">
            <a:avLst/>
          </a:prstGeom>
          <a:noFill/>
          <a:ln/>
        </p:spPr>
        <p:txBody>
          <a:bodyPr wrap="square" lIns="0" tIns="0" rIns="0" bIns="0" rtlCol="0" anchor="ctr"/>
          <a:lstStyle/>
          <a:p>
            <a:pPr algn="ctr" indent="0" marL="0">
              <a:buNone/>
            </a:pPr>
            <a:r>
              <a:rPr lang="en-US" sz="1200" b="1" dirty="0">
                <a:solidFill>
                  <a:srgbClr val="10212A"/>
                </a:solidFill>
                <a:latin typeface="Calibri" pitchFamily="34" charset="0"/>
                <a:ea typeface="Calibri" pitchFamily="34" charset="-122"/>
                <a:cs typeface="Calibri" pitchFamily="34" charset="-120"/>
              </a:rPr>
              <a:t>Same site.</a:t>
            </a:r>
            <a:endParaRPr lang="en-US" sz="1200" dirty="0"/>
          </a:p>
        </p:txBody>
      </p:sp>
      <p:sp>
        <p:nvSpPr>
          <p:cNvPr id="19" name="Text 17"/>
          <p:cNvSpPr txBox="1"/>
          <p:nvPr/>
        </p:nvSpPr>
        <p:spPr>
          <a:xfrm>
            <a:off x="3200400" y="2048256"/>
            <a:ext cx="1554480" cy="219456"/>
          </a:xfrm>
          <a:prstGeom prst="rect">
            <a:avLst/>
          </a:prstGeom>
          <a:noFill/>
          <a:ln/>
        </p:spPr>
        <p:txBody>
          <a:bodyPr wrap="square" lIns="0" tIns="0" rIns="0" bIns="0" rtlCol="0" anchor="ctr"/>
          <a:lstStyle/>
          <a:p>
            <a:pPr algn="ctr" indent="0" marL="0">
              <a:buNone/>
            </a:pPr>
            <a:r>
              <a:rPr lang="en-US" sz="1200" b="1" dirty="0">
                <a:solidFill>
                  <a:srgbClr val="B5781F"/>
                </a:solidFill>
                <a:latin typeface="Calibri" pitchFamily="34" charset="0"/>
                <a:ea typeface="Calibri" pitchFamily="34" charset="-122"/>
                <a:cs typeface="Calibri" pitchFamily="34" charset="-120"/>
              </a:rPr>
              <a:t>Same 14 hours.</a:t>
            </a:r>
            <a:endParaRPr lang="en-US" sz="1200" dirty="0"/>
          </a:p>
        </p:txBody>
      </p:sp>
      <p:sp>
        <p:nvSpPr>
          <p:cNvPr id="20" name="Text 18"/>
          <p:cNvSpPr txBox="1"/>
          <p:nvPr/>
        </p:nvSpPr>
        <p:spPr>
          <a:xfrm>
            <a:off x="4754880" y="1956816"/>
            <a:ext cx="320040" cy="274320"/>
          </a:xfrm>
          <a:prstGeom prst="rect">
            <a:avLst/>
          </a:prstGeom>
          <a:noFill/>
          <a:ln/>
        </p:spPr>
        <p:txBody>
          <a:bodyPr wrap="square" lIns="0" tIns="0" rIns="0" bIns="0" rtlCol="0" anchor="ctr"/>
          <a:lstStyle/>
          <a:p>
            <a:pPr algn="ctr" indent="0" marL="0">
              <a:buNone/>
            </a:pPr>
            <a:r>
              <a:rPr lang="en-US" sz="1800" b="1" dirty="0">
                <a:solidFill>
                  <a:srgbClr val="B5781F"/>
                </a:solidFill>
                <a:latin typeface="Calibri" pitchFamily="34" charset="0"/>
                <a:ea typeface="Calibri" pitchFamily="34" charset="-122"/>
                <a:cs typeface="Calibri" pitchFamily="34" charset="-120"/>
              </a:rPr>
              <a:t>→</a:t>
            </a:r>
            <a:endParaRPr lang="en-US" sz="1800" dirty="0"/>
          </a:p>
        </p:txBody>
      </p:sp>
      <p:sp>
        <p:nvSpPr>
          <p:cNvPr id="21" name="Shape 19"/>
          <p:cNvSpPr/>
          <p:nvPr/>
        </p:nvSpPr>
        <p:spPr>
          <a:xfrm>
            <a:off x="5074920" y="1773936"/>
            <a:ext cx="2011680" cy="640080"/>
          </a:xfrm>
          <a:prstGeom prst="roundRect">
            <a:avLst>
              <a:gd name="adj" fmla="val 8571"/>
            </a:avLst>
          </a:prstGeom>
          <a:solidFill>
            <a:srgbClr val="FCEFEE"/>
          </a:solidFill>
          <a:ln w="15875">
            <a:solidFill>
              <a:srgbClr val="D64545"/>
            </a:solidFill>
            <a:prstDash val="solid"/>
          </a:ln>
        </p:spPr>
      </p:sp>
      <p:sp>
        <p:nvSpPr>
          <p:cNvPr id="22" name="Shape 20"/>
          <p:cNvSpPr/>
          <p:nvPr/>
        </p:nvSpPr>
        <p:spPr>
          <a:xfrm>
            <a:off x="5212080" y="1856232"/>
            <a:ext cx="914400" cy="228600"/>
          </a:xfrm>
          <a:prstGeom prst="roundRect">
            <a:avLst>
              <a:gd name="adj" fmla="val 200000"/>
            </a:avLst>
          </a:prstGeom>
          <a:solidFill>
            <a:srgbClr val="D64545"/>
          </a:solidFill>
          <a:ln w="12700">
            <a:solidFill>
              <a:srgbClr val="D64545"/>
            </a:solidFill>
            <a:prstDash val="solid"/>
          </a:ln>
        </p:spPr>
      </p:sp>
      <p:sp>
        <p:nvSpPr>
          <p:cNvPr id="23" name="Text 21"/>
          <p:cNvSpPr txBox="1"/>
          <p:nvPr/>
        </p:nvSpPr>
        <p:spPr>
          <a:xfrm>
            <a:off x="5212080" y="1856232"/>
            <a:ext cx="914400" cy="228600"/>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IMMEDIATE</a:t>
            </a:r>
            <a:endParaRPr lang="en-US" sz="900" dirty="0"/>
          </a:p>
        </p:txBody>
      </p:sp>
      <p:sp>
        <p:nvSpPr>
          <p:cNvPr id="24" name="Text 22"/>
          <p:cNvSpPr txBox="1"/>
          <p:nvPr/>
        </p:nvSpPr>
        <p:spPr>
          <a:xfrm>
            <a:off x="6181344" y="1856232"/>
            <a:ext cx="822960" cy="228600"/>
          </a:xfrm>
          <a:prstGeom prst="rect">
            <a:avLst/>
          </a:prstGeom>
          <a:noFill/>
          <a:ln/>
        </p:spPr>
        <p:txBody>
          <a:bodyPr wrap="square" lIns="0" tIns="0" rIns="0" bIns="0" rtlCol="0" anchor="ctr"/>
          <a:lstStyle/>
          <a:p>
            <a:pPr indent="0" marL="0">
              <a:buNone/>
            </a:pPr>
            <a:r>
              <a:rPr lang="en-US" sz="1050" b="1" dirty="0">
                <a:solidFill>
                  <a:srgbClr val="10212A"/>
                </a:solidFill>
                <a:latin typeface="Calibri" pitchFamily="34" charset="0"/>
                <a:ea typeface="Calibri" pitchFamily="34" charset="-122"/>
                <a:cs typeface="Calibri" pitchFamily="34" charset="-120"/>
              </a:rPr>
              <a:t>Score 87</a:t>
            </a:r>
            <a:endParaRPr lang="en-US" sz="1050" dirty="0"/>
          </a:p>
        </p:txBody>
      </p:sp>
      <p:sp>
        <p:nvSpPr>
          <p:cNvPr id="25" name="Text 23"/>
          <p:cNvSpPr txBox="1"/>
          <p:nvPr/>
        </p:nvSpPr>
        <p:spPr>
          <a:xfrm>
            <a:off x="5212080" y="2103120"/>
            <a:ext cx="1783080" cy="256032"/>
          </a:xfrm>
          <a:prstGeom prst="rect">
            <a:avLst/>
          </a:prstGeom>
          <a:noFill/>
          <a:ln/>
        </p:spPr>
        <p:txBody>
          <a:bodyPr wrap="square" lIns="0" tIns="0" rIns="0" bIns="0" rtlCol="0" anchor="ctr"/>
          <a:lstStyle/>
          <a:p>
            <a:pPr indent="0" marL="0">
              <a:buNone/>
            </a:pPr>
            <a:r>
              <a:rPr lang="en-US" sz="1000" dirty="0">
                <a:solidFill>
                  <a:srgbClr val="35474F"/>
                </a:solidFill>
                <a:latin typeface="Calibri" pitchFamily="34" charset="0"/>
                <a:ea typeface="Calibri" pitchFamily="34" charset="-122"/>
                <a:cs typeface="Calibri" pitchFamily="34" charset="-120"/>
              </a:rPr>
              <a:t>One incident, not three alerts</a:t>
            </a:r>
            <a:endParaRPr lang="en-US" sz="1000" dirty="0"/>
          </a:p>
        </p:txBody>
      </p:sp>
      <p:sp>
        <p:nvSpPr>
          <p:cNvPr id="26" name="Text 24"/>
          <p:cNvSpPr txBox="1"/>
          <p:nvPr/>
        </p:nvSpPr>
        <p:spPr>
          <a:xfrm>
            <a:off x="795528" y="2779776"/>
            <a:ext cx="6400800" cy="475488"/>
          </a:xfrm>
          <a:prstGeom prst="rect">
            <a:avLst/>
          </a:prstGeom>
          <a:noFill/>
          <a:ln/>
        </p:spPr>
        <p:txBody>
          <a:bodyPr wrap="square" lIns="0" tIns="0" rIns="0" bIns="0" rtlCol="0" anchor="ctr"/>
          <a:lstStyle/>
          <a:p>
            <a:pPr indent="0" marL="0">
              <a:lnSpc>
                <a:spcPts val="1600"/>
              </a:lnSpc>
              <a:buNone/>
            </a:pPr>
            <a:r>
              <a:rPr lang="en-US" sz="1200" i="1" dirty="0">
                <a:solidFill>
                  <a:srgbClr val="6A8087"/>
                </a:solidFill>
                <a:latin typeface="Calibri" pitchFamily="34" charset="0"/>
                <a:ea typeface="Calibri" pitchFamily="34" charset="-122"/>
                <a:cs typeface="Calibri" pitchFamily="34" charset="-120"/>
              </a:rPr>
              <a:t>The radio and satellite alerts are not cyber activity — they back up what the cyber sensor saw and push the score up. That cross-check is what a single system cannot do.</a:t>
            </a:r>
            <a:endParaRPr lang="en-US" sz="1200" dirty="0"/>
          </a:p>
        </p:txBody>
      </p:sp>
      <p:sp>
        <p:nvSpPr>
          <p:cNvPr id="27" name="Shape 25"/>
          <p:cNvSpPr/>
          <p:nvPr/>
        </p:nvSpPr>
        <p:spPr>
          <a:xfrm>
            <a:off x="7543800" y="1234440"/>
            <a:ext cx="4078224" cy="2057400"/>
          </a:xfrm>
          <a:prstGeom prst="roundRect">
            <a:avLst>
              <a:gd name="adj" fmla="val 2667"/>
            </a:avLst>
          </a:prstGeom>
          <a:solidFill>
            <a:srgbClr val="FFFFFF"/>
          </a:solidFill>
          <a:ln w="15875">
            <a:solidFill>
              <a:srgbClr val="DDE4E4"/>
            </a:solidFill>
            <a:prstDash val="solid"/>
          </a:ln>
        </p:spPr>
      </p:sp>
      <p:sp>
        <p:nvSpPr>
          <p:cNvPr id="28" name="Text 26"/>
          <p:cNvSpPr txBox="1"/>
          <p:nvPr/>
        </p:nvSpPr>
        <p:spPr>
          <a:xfrm>
            <a:off x="7818120" y="1371600"/>
            <a:ext cx="3566160" cy="292608"/>
          </a:xfrm>
          <a:prstGeom prst="rect">
            <a:avLst/>
          </a:prstGeom>
          <a:noFill/>
          <a:ln/>
        </p:spPr>
        <p:txBody>
          <a:bodyPr wrap="square" lIns="0" tIns="0" rIns="0" bIns="0" rtlCol="0" anchor="ctr"/>
          <a:lstStyle/>
          <a:p>
            <a:pPr indent="0" marL="0">
              <a:buNone/>
            </a:pPr>
            <a:r>
              <a:rPr lang="en-US" sz="1800" b="1" dirty="0">
                <a:solidFill>
                  <a:srgbClr val="10212A"/>
                </a:solidFill>
                <a:latin typeface="Cambria" pitchFamily="34" charset="0"/>
                <a:ea typeface="Cambria" pitchFamily="34" charset="-122"/>
                <a:cs typeface="Cambria" pitchFamily="34" charset="-120"/>
              </a:rPr>
              <a:t>Why it scored 87</a:t>
            </a:r>
            <a:endParaRPr lang="en-US" sz="1800" dirty="0"/>
          </a:p>
        </p:txBody>
      </p:sp>
      <p:sp>
        <p:nvSpPr>
          <p:cNvPr id="29" name="Text 27"/>
          <p:cNvSpPr txBox="1"/>
          <p:nvPr/>
        </p:nvSpPr>
        <p:spPr>
          <a:xfrm>
            <a:off x="7818120" y="1755648"/>
            <a:ext cx="2011680" cy="256032"/>
          </a:xfrm>
          <a:prstGeom prst="rect">
            <a:avLst/>
          </a:prstGeom>
          <a:noFill/>
          <a:ln/>
        </p:spPr>
        <p:txBody>
          <a:bodyPr wrap="square" lIns="0" tIns="0" rIns="0" bIns="0" rtlCol="0" anchor="ctr"/>
          <a:lstStyle/>
          <a:p>
            <a:pPr indent="0" marL="0">
              <a:buNone/>
            </a:pPr>
            <a:r>
              <a:rPr lang="en-US" sz="1150" dirty="0">
                <a:solidFill>
                  <a:srgbClr val="35474F"/>
                </a:solidFill>
                <a:latin typeface="Calibri" pitchFamily="34" charset="0"/>
                <a:ea typeface="Calibri" pitchFamily="34" charset="-122"/>
                <a:cs typeface="Calibri" pitchFamily="34" charset="-120"/>
              </a:rPr>
              <a:t>Different sensor types agree</a:t>
            </a:r>
            <a:endParaRPr lang="en-US" sz="1150" dirty="0"/>
          </a:p>
        </p:txBody>
      </p:sp>
      <p:sp>
        <p:nvSpPr>
          <p:cNvPr id="30" name="Shape 28"/>
          <p:cNvSpPr/>
          <p:nvPr/>
        </p:nvSpPr>
        <p:spPr>
          <a:xfrm>
            <a:off x="9893808" y="1810512"/>
            <a:ext cx="1097280" cy="146304"/>
          </a:xfrm>
          <a:prstGeom prst="roundRect">
            <a:avLst>
              <a:gd name="adj" fmla="val 312500"/>
            </a:avLst>
          </a:prstGeom>
          <a:solidFill>
            <a:srgbClr val="4E9AA8"/>
          </a:solidFill>
          <a:ln w="12700">
            <a:solidFill>
              <a:srgbClr val="4E9AA8"/>
            </a:solidFill>
            <a:prstDash val="solid"/>
          </a:ln>
        </p:spPr>
      </p:sp>
      <p:sp>
        <p:nvSpPr>
          <p:cNvPr id="31" name="Text 29"/>
          <p:cNvSpPr txBox="1"/>
          <p:nvPr/>
        </p:nvSpPr>
        <p:spPr>
          <a:xfrm>
            <a:off x="11064240" y="1755648"/>
            <a:ext cx="457200" cy="256032"/>
          </a:xfrm>
          <a:prstGeom prst="rect">
            <a:avLst/>
          </a:prstGeom>
          <a:noFill/>
          <a:ln/>
        </p:spPr>
        <p:txBody>
          <a:bodyPr wrap="square" lIns="0" tIns="0" rIns="0" bIns="0" rtlCol="0" anchor="ctr"/>
          <a:lstStyle/>
          <a:p>
            <a:pPr indent="0" marL="0">
              <a:buNone/>
            </a:pPr>
            <a:r>
              <a:rPr lang="en-US" sz="1150" b="1" dirty="0">
                <a:solidFill>
                  <a:srgbClr val="6A8087"/>
                </a:solidFill>
                <a:latin typeface="Calibri" pitchFamily="34" charset="0"/>
                <a:ea typeface="Calibri" pitchFamily="34" charset="-122"/>
                <a:cs typeface="Calibri" pitchFamily="34" charset="-120"/>
              </a:rPr>
              <a:t>25%</a:t>
            </a:r>
            <a:endParaRPr lang="en-US" sz="1150" dirty="0"/>
          </a:p>
        </p:txBody>
      </p:sp>
      <p:sp>
        <p:nvSpPr>
          <p:cNvPr id="32" name="Text 30"/>
          <p:cNvSpPr txBox="1"/>
          <p:nvPr/>
        </p:nvSpPr>
        <p:spPr>
          <a:xfrm>
            <a:off x="7818120" y="2057400"/>
            <a:ext cx="2011680" cy="256032"/>
          </a:xfrm>
          <a:prstGeom prst="rect">
            <a:avLst/>
          </a:prstGeom>
          <a:noFill/>
          <a:ln/>
        </p:spPr>
        <p:txBody>
          <a:bodyPr wrap="square" lIns="0" tIns="0" rIns="0" bIns="0" rtlCol="0" anchor="ctr"/>
          <a:lstStyle/>
          <a:p>
            <a:pPr indent="0" marL="0">
              <a:buNone/>
            </a:pPr>
            <a:r>
              <a:rPr lang="en-US" sz="1150" dirty="0">
                <a:solidFill>
                  <a:srgbClr val="35474F"/>
                </a:solidFill>
                <a:latin typeface="Calibri" pitchFamily="34" charset="0"/>
                <a:ea typeface="Calibri" pitchFamily="34" charset="-122"/>
                <a:cs typeface="Calibri" pitchFamily="34" charset="-120"/>
              </a:rPr>
              <a:t>The site is critical</a:t>
            </a:r>
            <a:endParaRPr lang="en-US" sz="1150" dirty="0"/>
          </a:p>
        </p:txBody>
      </p:sp>
      <p:sp>
        <p:nvSpPr>
          <p:cNvPr id="33" name="Shape 31"/>
          <p:cNvSpPr/>
          <p:nvPr/>
        </p:nvSpPr>
        <p:spPr>
          <a:xfrm>
            <a:off x="9893808" y="2112264"/>
            <a:ext cx="877824" cy="146304"/>
          </a:xfrm>
          <a:prstGeom prst="roundRect">
            <a:avLst>
              <a:gd name="adj" fmla="val 312500"/>
            </a:avLst>
          </a:prstGeom>
          <a:solidFill>
            <a:srgbClr val="E8A33D"/>
          </a:solidFill>
          <a:ln w="12700">
            <a:solidFill>
              <a:srgbClr val="E8A33D"/>
            </a:solidFill>
            <a:prstDash val="solid"/>
          </a:ln>
        </p:spPr>
      </p:sp>
      <p:sp>
        <p:nvSpPr>
          <p:cNvPr id="34" name="Text 32"/>
          <p:cNvSpPr txBox="1"/>
          <p:nvPr/>
        </p:nvSpPr>
        <p:spPr>
          <a:xfrm>
            <a:off x="11064240" y="2057400"/>
            <a:ext cx="457200" cy="256032"/>
          </a:xfrm>
          <a:prstGeom prst="rect">
            <a:avLst/>
          </a:prstGeom>
          <a:noFill/>
          <a:ln/>
        </p:spPr>
        <p:txBody>
          <a:bodyPr wrap="square" lIns="0" tIns="0" rIns="0" bIns="0" rtlCol="0" anchor="ctr"/>
          <a:lstStyle/>
          <a:p>
            <a:pPr indent="0" marL="0">
              <a:buNone/>
            </a:pPr>
            <a:r>
              <a:rPr lang="en-US" sz="1150" b="1" dirty="0">
                <a:solidFill>
                  <a:srgbClr val="6A8087"/>
                </a:solidFill>
                <a:latin typeface="Calibri" pitchFamily="34" charset="0"/>
                <a:ea typeface="Calibri" pitchFamily="34" charset="-122"/>
                <a:cs typeface="Calibri" pitchFamily="34" charset="-120"/>
              </a:rPr>
              <a:t>20%</a:t>
            </a:r>
            <a:endParaRPr lang="en-US" sz="1150" dirty="0"/>
          </a:p>
        </p:txBody>
      </p:sp>
      <p:sp>
        <p:nvSpPr>
          <p:cNvPr id="35" name="Text 33"/>
          <p:cNvSpPr txBox="1"/>
          <p:nvPr/>
        </p:nvSpPr>
        <p:spPr>
          <a:xfrm>
            <a:off x="7818120" y="2359152"/>
            <a:ext cx="2011680" cy="256032"/>
          </a:xfrm>
          <a:prstGeom prst="rect">
            <a:avLst/>
          </a:prstGeom>
          <a:noFill/>
          <a:ln/>
        </p:spPr>
        <p:txBody>
          <a:bodyPr wrap="square" lIns="0" tIns="0" rIns="0" bIns="0" rtlCol="0" anchor="ctr"/>
          <a:lstStyle/>
          <a:p>
            <a:pPr indent="0" marL="0">
              <a:buNone/>
            </a:pPr>
            <a:r>
              <a:rPr lang="en-US" sz="1150" dirty="0">
                <a:solidFill>
                  <a:srgbClr val="35474F"/>
                </a:solidFill>
                <a:latin typeface="Calibri" pitchFamily="34" charset="0"/>
                <a:ea typeface="Calibri" pitchFamily="34" charset="-122"/>
                <a:cs typeface="Calibri" pitchFamily="34" charset="-120"/>
              </a:rPr>
              <a:t>The attack has progressed</a:t>
            </a:r>
            <a:endParaRPr lang="en-US" sz="1150" dirty="0"/>
          </a:p>
        </p:txBody>
      </p:sp>
      <p:sp>
        <p:nvSpPr>
          <p:cNvPr id="36" name="Shape 34"/>
          <p:cNvSpPr/>
          <p:nvPr/>
        </p:nvSpPr>
        <p:spPr>
          <a:xfrm>
            <a:off x="9893808" y="2414016"/>
            <a:ext cx="877824" cy="146304"/>
          </a:xfrm>
          <a:prstGeom prst="roundRect">
            <a:avLst>
              <a:gd name="adj" fmla="val 312500"/>
            </a:avLst>
          </a:prstGeom>
          <a:solidFill>
            <a:srgbClr val="E8A33D"/>
          </a:solidFill>
          <a:ln w="12700">
            <a:solidFill>
              <a:srgbClr val="E8A33D"/>
            </a:solidFill>
            <a:prstDash val="solid"/>
          </a:ln>
        </p:spPr>
      </p:sp>
      <p:sp>
        <p:nvSpPr>
          <p:cNvPr id="37" name="Text 35"/>
          <p:cNvSpPr txBox="1"/>
          <p:nvPr/>
        </p:nvSpPr>
        <p:spPr>
          <a:xfrm>
            <a:off x="11064240" y="2359152"/>
            <a:ext cx="457200" cy="256032"/>
          </a:xfrm>
          <a:prstGeom prst="rect">
            <a:avLst/>
          </a:prstGeom>
          <a:noFill/>
          <a:ln/>
        </p:spPr>
        <p:txBody>
          <a:bodyPr wrap="square" lIns="0" tIns="0" rIns="0" bIns="0" rtlCol="0" anchor="ctr"/>
          <a:lstStyle/>
          <a:p>
            <a:pPr indent="0" marL="0">
              <a:buNone/>
            </a:pPr>
            <a:r>
              <a:rPr lang="en-US" sz="1150" b="1" dirty="0">
                <a:solidFill>
                  <a:srgbClr val="6A8087"/>
                </a:solidFill>
                <a:latin typeface="Calibri" pitchFamily="34" charset="0"/>
                <a:ea typeface="Calibri" pitchFamily="34" charset="-122"/>
                <a:cs typeface="Calibri" pitchFamily="34" charset="-120"/>
              </a:rPr>
              <a:t>20%</a:t>
            </a:r>
            <a:endParaRPr lang="en-US" sz="1150" dirty="0"/>
          </a:p>
        </p:txBody>
      </p:sp>
      <p:sp>
        <p:nvSpPr>
          <p:cNvPr id="38" name="Text 36"/>
          <p:cNvSpPr txBox="1"/>
          <p:nvPr/>
        </p:nvSpPr>
        <p:spPr>
          <a:xfrm>
            <a:off x="7818120" y="2660904"/>
            <a:ext cx="2011680" cy="256032"/>
          </a:xfrm>
          <a:prstGeom prst="rect">
            <a:avLst/>
          </a:prstGeom>
          <a:noFill/>
          <a:ln/>
        </p:spPr>
        <p:txBody>
          <a:bodyPr wrap="square" lIns="0" tIns="0" rIns="0" bIns="0" rtlCol="0" anchor="ctr"/>
          <a:lstStyle/>
          <a:p>
            <a:pPr indent="0" marL="0">
              <a:buNone/>
            </a:pPr>
            <a:r>
              <a:rPr lang="en-US" sz="1150" dirty="0">
                <a:solidFill>
                  <a:srgbClr val="35474F"/>
                </a:solidFill>
                <a:latin typeface="Calibri" pitchFamily="34" charset="0"/>
                <a:ea typeface="Calibri" pitchFamily="34" charset="-122"/>
                <a:cs typeface="Calibri" pitchFamily="34" charset="-120"/>
              </a:rPr>
              <a:t>The alerts are severe</a:t>
            </a:r>
            <a:endParaRPr lang="en-US" sz="1150" dirty="0"/>
          </a:p>
        </p:txBody>
      </p:sp>
      <p:sp>
        <p:nvSpPr>
          <p:cNvPr id="39" name="Shape 37"/>
          <p:cNvSpPr/>
          <p:nvPr/>
        </p:nvSpPr>
        <p:spPr>
          <a:xfrm>
            <a:off x="9893808" y="2715768"/>
            <a:ext cx="877824" cy="146304"/>
          </a:xfrm>
          <a:prstGeom prst="roundRect">
            <a:avLst>
              <a:gd name="adj" fmla="val 312500"/>
            </a:avLst>
          </a:prstGeom>
          <a:solidFill>
            <a:srgbClr val="4E9AA8"/>
          </a:solidFill>
          <a:ln w="12700">
            <a:solidFill>
              <a:srgbClr val="4E9AA8"/>
            </a:solidFill>
            <a:prstDash val="solid"/>
          </a:ln>
        </p:spPr>
      </p:sp>
      <p:sp>
        <p:nvSpPr>
          <p:cNvPr id="40" name="Text 38"/>
          <p:cNvSpPr txBox="1"/>
          <p:nvPr/>
        </p:nvSpPr>
        <p:spPr>
          <a:xfrm>
            <a:off x="11064240" y="2660904"/>
            <a:ext cx="457200" cy="256032"/>
          </a:xfrm>
          <a:prstGeom prst="rect">
            <a:avLst/>
          </a:prstGeom>
          <a:noFill/>
          <a:ln/>
        </p:spPr>
        <p:txBody>
          <a:bodyPr wrap="square" lIns="0" tIns="0" rIns="0" bIns="0" rtlCol="0" anchor="ctr"/>
          <a:lstStyle/>
          <a:p>
            <a:pPr indent="0" marL="0">
              <a:buNone/>
            </a:pPr>
            <a:r>
              <a:rPr lang="en-US" sz="1150" b="1" dirty="0">
                <a:solidFill>
                  <a:srgbClr val="6A8087"/>
                </a:solidFill>
                <a:latin typeface="Calibri" pitchFamily="34" charset="0"/>
                <a:ea typeface="Calibri" pitchFamily="34" charset="-122"/>
                <a:cs typeface="Calibri" pitchFamily="34" charset="-120"/>
              </a:rPr>
              <a:t>20%</a:t>
            </a:r>
            <a:endParaRPr lang="en-US" sz="1150" dirty="0"/>
          </a:p>
        </p:txBody>
      </p:sp>
      <p:sp>
        <p:nvSpPr>
          <p:cNvPr id="41" name="Text 39"/>
          <p:cNvSpPr txBox="1"/>
          <p:nvPr/>
        </p:nvSpPr>
        <p:spPr>
          <a:xfrm>
            <a:off x="7818120" y="2962656"/>
            <a:ext cx="2011680" cy="256032"/>
          </a:xfrm>
          <a:prstGeom prst="rect">
            <a:avLst/>
          </a:prstGeom>
          <a:noFill/>
          <a:ln/>
        </p:spPr>
        <p:txBody>
          <a:bodyPr wrap="square" lIns="0" tIns="0" rIns="0" bIns="0" rtlCol="0" anchor="ctr"/>
          <a:lstStyle/>
          <a:p>
            <a:pPr indent="0" marL="0">
              <a:buNone/>
            </a:pPr>
            <a:r>
              <a:rPr lang="en-US" sz="1150" dirty="0">
                <a:solidFill>
                  <a:srgbClr val="35474F"/>
                </a:solidFill>
                <a:latin typeface="Calibri" pitchFamily="34" charset="0"/>
                <a:ea typeface="Calibri" pitchFamily="34" charset="-122"/>
                <a:cs typeface="Calibri" pitchFamily="34" charset="-120"/>
              </a:rPr>
              <a:t>It is happening now</a:t>
            </a:r>
            <a:endParaRPr lang="en-US" sz="1150" dirty="0"/>
          </a:p>
        </p:txBody>
      </p:sp>
      <p:sp>
        <p:nvSpPr>
          <p:cNvPr id="42" name="Shape 40"/>
          <p:cNvSpPr/>
          <p:nvPr/>
        </p:nvSpPr>
        <p:spPr>
          <a:xfrm>
            <a:off x="9893808" y="3017520"/>
            <a:ext cx="658368" cy="146304"/>
          </a:xfrm>
          <a:prstGeom prst="roundRect">
            <a:avLst>
              <a:gd name="adj" fmla="val 312500"/>
            </a:avLst>
          </a:prstGeom>
          <a:solidFill>
            <a:srgbClr val="4E9AA8"/>
          </a:solidFill>
          <a:ln w="12700">
            <a:solidFill>
              <a:srgbClr val="4E9AA8"/>
            </a:solidFill>
            <a:prstDash val="solid"/>
          </a:ln>
        </p:spPr>
      </p:sp>
      <p:sp>
        <p:nvSpPr>
          <p:cNvPr id="43" name="Text 41"/>
          <p:cNvSpPr txBox="1"/>
          <p:nvPr/>
        </p:nvSpPr>
        <p:spPr>
          <a:xfrm>
            <a:off x="11064240" y="2962656"/>
            <a:ext cx="457200" cy="256032"/>
          </a:xfrm>
          <a:prstGeom prst="rect">
            <a:avLst/>
          </a:prstGeom>
          <a:noFill/>
          <a:ln/>
        </p:spPr>
        <p:txBody>
          <a:bodyPr wrap="square" lIns="0" tIns="0" rIns="0" bIns="0" rtlCol="0" anchor="ctr"/>
          <a:lstStyle/>
          <a:p>
            <a:pPr indent="0" marL="0">
              <a:buNone/>
            </a:pPr>
            <a:r>
              <a:rPr lang="en-US" sz="1150" b="1" dirty="0">
                <a:solidFill>
                  <a:srgbClr val="6A8087"/>
                </a:solidFill>
                <a:latin typeface="Calibri" pitchFamily="34" charset="0"/>
                <a:ea typeface="Calibri" pitchFamily="34" charset="-122"/>
                <a:cs typeface="Calibri" pitchFamily="34" charset="-120"/>
              </a:rPr>
              <a:t>15%</a:t>
            </a:r>
            <a:endParaRPr lang="en-US" sz="1150" dirty="0"/>
          </a:p>
        </p:txBody>
      </p:sp>
      <p:sp>
        <p:nvSpPr>
          <p:cNvPr id="44" name="Text 42"/>
          <p:cNvSpPr txBox="1"/>
          <p:nvPr/>
        </p:nvSpPr>
        <p:spPr>
          <a:xfrm>
            <a:off x="566928" y="3419856"/>
            <a:ext cx="3657600" cy="274320"/>
          </a:xfrm>
          <a:prstGeom prst="rect">
            <a:avLst/>
          </a:prstGeom>
          <a:noFill/>
          <a:ln/>
        </p:spPr>
        <p:txBody>
          <a:bodyPr wrap="square" lIns="0" tIns="0" rIns="0" bIns="0" rtlCol="0" anchor="ctr"/>
          <a:lstStyle/>
          <a:p>
            <a:pPr indent="0" marL="0">
              <a:buNone/>
            </a:pPr>
            <a:r>
              <a:rPr lang="en-US" sz="1500" b="1" dirty="0">
                <a:solidFill>
                  <a:srgbClr val="10212A"/>
                </a:solidFill>
                <a:latin typeface="Calibri" pitchFamily="34" charset="0"/>
                <a:ea typeface="Calibri" pitchFamily="34" charset="-122"/>
                <a:cs typeface="Calibri" pitchFamily="34" charset="-120"/>
              </a:rPr>
              <a:t>How far the attacker has got</a:t>
            </a:r>
            <a:endParaRPr lang="en-US" sz="1500" dirty="0"/>
          </a:p>
        </p:txBody>
      </p:sp>
      <p:sp>
        <p:nvSpPr>
          <p:cNvPr id="45" name="Text 43"/>
          <p:cNvSpPr txBox="1"/>
          <p:nvPr/>
        </p:nvSpPr>
        <p:spPr>
          <a:xfrm>
            <a:off x="4297680" y="3438144"/>
            <a:ext cx="7315200" cy="256032"/>
          </a:xfrm>
          <a:prstGeom prst="rect">
            <a:avLst/>
          </a:prstGeom>
          <a:noFill/>
          <a:ln/>
        </p:spPr>
        <p:txBody>
          <a:bodyPr wrap="square" lIns="0" tIns="0" rIns="0" bIns="0" rtlCol="0" anchor="ctr"/>
          <a:lstStyle/>
          <a:p>
            <a:pPr indent="0" marL="0">
              <a:buNone/>
            </a:pPr>
            <a:r>
              <a:rPr lang="en-US" sz="1150" i="1" dirty="0">
                <a:solidFill>
                  <a:srgbClr val="6A8087"/>
                </a:solidFill>
                <a:latin typeface="Calibri" pitchFamily="34" charset="0"/>
                <a:ea typeface="Calibri" pitchFamily="34" charset="-122"/>
                <a:cs typeface="Calibri" pitchFamily="34" charset="-120"/>
              </a:rPr>
              <a:t>Each step is a known attacker move from the MITRE ATT&amp;CK library.</a:t>
            </a:r>
            <a:endParaRPr lang="en-US" sz="1150" dirty="0"/>
          </a:p>
        </p:txBody>
      </p:sp>
      <p:sp>
        <p:nvSpPr>
          <p:cNvPr id="46" name="Shape 44"/>
          <p:cNvSpPr/>
          <p:nvPr/>
        </p:nvSpPr>
        <p:spPr>
          <a:xfrm>
            <a:off x="1672438" y="4443984"/>
            <a:ext cx="2211019" cy="3658"/>
          </a:xfrm>
          <a:prstGeom prst="line">
            <a:avLst/>
          </a:prstGeom>
          <a:noFill/>
          <a:ln w="31750">
            <a:solidFill>
              <a:srgbClr val="D64545"/>
            </a:solidFill>
            <a:prstDash val="solid"/>
          </a:ln>
        </p:spPr>
      </p:sp>
      <p:sp>
        <p:nvSpPr>
          <p:cNvPr id="47" name="Shape 45"/>
          <p:cNvSpPr/>
          <p:nvPr/>
        </p:nvSpPr>
        <p:spPr>
          <a:xfrm>
            <a:off x="3883457" y="4443984"/>
            <a:ext cx="6633058" cy="3658"/>
          </a:xfrm>
          <a:prstGeom prst="line">
            <a:avLst/>
          </a:prstGeom>
          <a:noFill/>
          <a:ln w="31750">
            <a:solidFill>
              <a:srgbClr val="B9C6C6"/>
            </a:solidFill>
            <a:prstDash val="dash"/>
          </a:ln>
        </p:spPr>
      </p:sp>
      <p:sp>
        <p:nvSpPr>
          <p:cNvPr id="48" name="Shape 46"/>
          <p:cNvSpPr/>
          <p:nvPr/>
        </p:nvSpPr>
        <p:spPr>
          <a:xfrm>
            <a:off x="4988966" y="4005072"/>
            <a:ext cx="3658" cy="749808"/>
          </a:xfrm>
          <a:prstGeom prst="line">
            <a:avLst/>
          </a:prstGeom>
          <a:noFill/>
          <a:ln w="19050">
            <a:solidFill>
              <a:srgbClr val="D64545"/>
            </a:solidFill>
            <a:prstDash val="dash"/>
          </a:ln>
        </p:spPr>
      </p:sp>
      <p:sp>
        <p:nvSpPr>
          <p:cNvPr id="49" name="Shape 47"/>
          <p:cNvSpPr/>
          <p:nvPr/>
        </p:nvSpPr>
        <p:spPr>
          <a:xfrm>
            <a:off x="4330598" y="3730752"/>
            <a:ext cx="1316736" cy="292608"/>
          </a:xfrm>
          <a:prstGeom prst="roundRect">
            <a:avLst>
              <a:gd name="adj" fmla="val 156250"/>
            </a:avLst>
          </a:prstGeom>
          <a:solidFill>
            <a:srgbClr val="D64545"/>
          </a:solidFill>
          <a:ln w="12700">
            <a:solidFill>
              <a:srgbClr val="D64545"/>
            </a:solidFill>
            <a:prstDash val="solid"/>
          </a:ln>
        </p:spPr>
      </p:sp>
      <p:sp>
        <p:nvSpPr>
          <p:cNvPr id="50" name="Text 48"/>
          <p:cNvSpPr txBox="1"/>
          <p:nvPr/>
        </p:nvSpPr>
        <p:spPr>
          <a:xfrm>
            <a:off x="4330598" y="3730752"/>
            <a:ext cx="1316736" cy="292608"/>
          </a:xfrm>
          <a:prstGeom prst="rect">
            <a:avLst/>
          </a:prstGeom>
          <a:noFill/>
          <a:ln/>
        </p:spPr>
        <p:txBody>
          <a:bodyPr wrap="square" lIns="0" tIns="0" rIns="0" bIns="0" rtlCol="0" anchor="ctr"/>
          <a:lstStyle/>
          <a:p>
            <a:pPr algn="ctr" indent="0" marL="0">
              <a:buNone/>
            </a:pPr>
            <a:r>
              <a:rPr lang="en-US" sz="1050" b="1" dirty="0">
                <a:solidFill>
                  <a:srgbClr val="FFFFFF"/>
                </a:solidFill>
                <a:latin typeface="Calibri" pitchFamily="34" charset="0"/>
                <a:ea typeface="Calibri" pitchFamily="34" charset="-122"/>
                <a:cs typeface="Calibri" pitchFamily="34" charset="-120"/>
              </a:rPr>
              <a:t>WE ARE HERE</a:t>
            </a:r>
            <a:endParaRPr lang="en-US" sz="1050" dirty="0"/>
          </a:p>
        </p:txBody>
      </p:sp>
      <p:sp>
        <p:nvSpPr>
          <p:cNvPr id="51" name="Shape 49"/>
          <p:cNvSpPr/>
          <p:nvPr/>
        </p:nvSpPr>
        <p:spPr>
          <a:xfrm>
            <a:off x="1480414" y="4251960"/>
            <a:ext cx="384048" cy="384048"/>
          </a:xfrm>
          <a:prstGeom prst="ellipse">
            <a:avLst/>
          </a:prstGeom>
          <a:solidFill>
            <a:srgbClr val="D64545"/>
          </a:solidFill>
          <a:ln w="12700">
            <a:solidFill>
              <a:srgbClr val="D64545"/>
            </a:solidFill>
            <a:prstDash val="solid"/>
          </a:ln>
        </p:spPr>
      </p:sp>
      <p:sp>
        <p:nvSpPr>
          <p:cNvPr id="52" name="Text 50"/>
          <p:cNvSpPr txBox="1"/>
          <p:nvPr/>
        </p:nvSpPr>
        <p:spPr>
          <a:xfrm>
            <a:off x="1480414" y="4251960"/>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a:t>
            </a:r>
            <a:endParaRPr lang="en-US" sz="1400" dirty="0"/>
          </a:p>
        </p:txBody>
      </p:sp>
      <p:sp>
        <p:nvSpPr>
          <p:cNvPr id="53" name="Text 51"/>
          <p:cNvSpPr txBox="1"/>
          <p:nvPr/>
        </p:nvSpPr>
        <p:spPr>
          <a:xfrm>
            <a:off x="676656" y="4754880"/>
            <a:ext cx="1991563" cy="256032"/>
          </a:xfrm>
          <a:prstGeom prst="rect">
            <a:avLst/>
          </a:prstGeom>
          <a:noFill/>
          <a:ln/>
        </p:spPr>
        <p:txBody>
          <a:bodyPr wrap="square" lIns="0" tIns="0" rIns="0" bIns="0" rtlCol="0" anchor="ctr"/>
          <a:lstStyle/>
          <a:p>
            <a:pPr algn="ctr" indent="0" marL="0">
              <a:buNone/>
            </a:pPr>
            <a:r>
              <a:rPr lang="en-US" sz="1300" b="1" dirty="0">
                <a:solidFill>
                  <a:srgbClr val="10212A"/>
                </a:solidFill>
                <a:latin typeface="Calibri" pitchFamily="34" charset="0"/>
                <a:ea typeface="Calibri" pitchFamily="34" charset="-122"/>
                <a:cs typeface="Calibri" pitchFamily="34" charset="-120"/>
              </a:rPr>
              <a:t>Looking around</a:t>
            </a:r>
            <a:endParaRPr lang="en-US" sz="1300" dirty="0"/>
          </a:p>
        </p:txBody>
      </p:sp>
      <p:sp>
        <p:nvSpPr>
          <p:cNvPr id="54" name="Text 52"/>
          <p:cNvSpPr txBox="1"/>
          <p:nvPr/>
        </p:nvSpPr>
        <p:spPr>
          <a:xfrm>
            <a:off x="676656" y="4992624"/>
            <a:ext cx="1991563" cy="274320"/>
          </a:xfrm>
          <a:prstGeom prst="rect">
            <a:avLst/>
          </a:prstGeom>
          <a:noFill/>
          <a:ln/>
        </p:spPr>
        <p:txBody>
          <a:bodyPr wrap="square" lIns="0" tIns="0" rIns="0" bIns="0" rtlCol="0" anchor="ctr"/>
          <a:lstStyle/>
          <a:p>
            <a:pPr algn="ctr" indent="0" marL="0">
              <a:buNone/>
            </a:pPr>
            <a:r>
              <a:rPr lang="en-US" sz="1100" dirty="0">
                <a:solidFill>
                  <a:srgbClr val="35474F"/>
                </a:solidFill>
                <a:latin typeface="Calibri" pitchFamily="34" charset="0"/>
                <a:ea typeface="Calibri" pitchFamily="34" charset="-122"/>
                <a:cs typeface="Calibri" pitchFamily="34" charset="-120"/>
              </a:rPr>
              <a:t>Scanning the site network</a:t>
            </a:r>
            <a:endParaRPr lang="en-US" sz="1100" dirty="0"/>
          </a:p>
        </p:txBody>
      </p:sp>
      <p:sp>
        <p:nvSpPr>
          <p:cNvPr id="55" name="Text 53"/>
          <p:cNvSpPr txBox="1"/>
          <p:nvPr/>
        </p:nvSpPr>
        <p:spPr>
          <a:xfrm>
            <a:off x="676656" y="5248656"/>
            <a:ext cx="1991563" cy="219456"/>
          </a:xfrm>
          <a:prstGeom prst="rect">
            <a:avLst/>
          </a:prstGeom>
          <a:noFill/>
          <a:ln/>
        </p:spPr>
        <p:txBody>
          <a:bodyPr wrap="square" lIns="0" tIns="0" rIns="0" bIns="0" rtlCol="0" anchor="ctr"/>
          <a:lstStyle/>
          <a:p>
            <a:pPr algn="ctr" indent="0" marL="0">
              <a:buNone/>
            </a:pPr>
            <a:r>
              <a:rPr lang="en-US" sz="1000" b="1" dirty="0">
                <a:solidFill>
                  <a:srgbClr val="D64545"/>
                </a:solidFill>
                <a:latin typeface="Calibri" pitchFamily="34" charset="0"/>
                <a:ea typeface="Calibri" pitchFamily="34" charset="-122"/>
                <a:cs typeface="Calibri" pitchFamily="34" charset="-120"/>
              </a:rPr>
              <a:t>Seen 06:12</a:t>
            </a:r>
            <a:endParaRPr lang="en-US" sz="1000" dirty="0"/>
          </a:p>
        </p:txBody>
      </p:sp>
      <p:sp>
        <p:nvSpPr>
          <p:cNvPr id="56" name="Shape 54"/>
          <p:cNvSpPr/>
          <p:nvPr/>
        </p:nvSpPr>
        <p:spPr>
          <a:xfrm>
            <a:off x="3691433" y="4251960"/>
            <a:ext cx="384048" cy="384048"/>
          </a:xfrm>
          <a:prstGeom prst="ellipse">
            <a:avLst/>
          </a:prstGeom>
          <a:solidFill>
            <a:srgbClr val="D64545"/>
          </a:solidFill>
          <a:ln w="12700">
            <a:solidFill>
              <a:srgbClr val="D64545"/>
            </a:solidFill>
            <a:prstDash val="solid"/>
          </a:ln>
        </p:spPr>
      </p:sp>
      <p:sp>
        <p:nvSpPr>
          <p:cNvPr id="57" name="Text 55"/>
          <p:cNvSpPr txBox="1"/>
          <p:nvPr/>
        </p:nvSpPr>
        <p:spPr>
          <a:xfrm>
            <a:off x="3691433" y="4251960"/>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a:t>
            </a:r>
            <a:endParaRPr lang="en-US" sz="1400" dirty="0"/>
          </a:p>
        </p:txBody>
      </p:sp>
      <p:sp>
        <p:nvSpPr>
          <p:cNvPr id="58" name="Text 56"/>
          <p:cNvSpPr txBox="1"/>
          <p:nvPr/>
        </p:nvSpPr>
        <p:spPr>
          <a:xfrm>
            <a:off x="2887675" y="4754880"/>
            <a:ext cx="1991563" cy="256032"/>
          </a:xfrm>
          <a:prstGeom prst="rect">
            <a:avLst/>
          </a:prstGeom>
          <a:noFill/>
          <a:ln/>
        </p:spPr>
        <p:txBody>
          <a:bodyPr wrap="square" lIns="0" tIns="0" rIns="0" bIns="0" rtlCol="0" anchor="ctr"/>
          <a:lstStyle/>
          <a:p>
            <a:pPr algn="ctr" indent="0" marL="0">
              <a:buNone/>
            </a:pPr>
            <a:r>
              <a:rPr lang="en-US" sz="1300" b="1" dirty="0">
                <a:solidFill>
                  <a:srgbClr val="10212A"/>
                </a:solidFill>
                <a:latin typeface="Calibri" pitchFamily="34" charset="0"/>
                <a:ea typeface="Calibri" pitchFamily="34" charset="-122"/>
                <a:cs typeface="Calibri" pitchFamily="34" charset="-120"/>
              </a:rPr>
              <a:t>Finding the way in</a:t>
            </a:r>
            <a:endParaRPr lang="en-US" sz="1300" dirty="0"/>
          </a:p>
        </p:txBody>
      </p:sp>
      <p:sp>
        <p:nvSpPr>
          <p:cNvPr id="59" name="Text 57"/>
          <p:cNvSpPr txBox="1"/>
          <p:nvPr/>
        </p:nvSpPr>
        <p:spPr>
          <a:xfrm>
            <a:off x="2887675" y="4992624"/>
            <a:ext cx="1991563" cy="274320"/>
          </a:xfrm>
          <a:prstGeom prst="rect">
            <a:avLst/>
          </a:prstGeom>
          <a:noFill/>
          <a:ln/>
        </p:spPr>
        <p:txBody>
          <a:bodyPr wrap="square" lIns="0" tIns="0" rIns="0" bIns="0" rtlCol="0" anchor="ctr"/>
          <a:lstStyle/>
          <a:p>
            <a:pPr algn="ctr" indent="0" marL="0">
              <a:buNone/>
            </a:pPr>
            <a:r>
              <a:rPr lang="en-US" sz="1100" dirty="0">
                <a:solidFill>
                  <a:srgbClr val="35474F"/>
                </a:solidFill>
                <a:latin typeface="Calibri" pitchFamily="34" charset="0"/>
                <a:ea typeface="Calibri" pitchFamily="34" charset="-122"/>
                <a:cs typeface="Calibri" pitchFamily="34" charset="-120"/>
              </a:rPr>
              <a:t>Mapping the control systems</a:t>
            </a:r>
            <a:endParaRPr lang="en-US" sz="1100" dirty="0"/>
          </a:p>
        </p:txBody>
      </p:sp>
      <p:sp>
        <p:nvSpPr>
          <p:cNvPr id="60" name="Text 58"/>
          <p:cNvSpPr txBox="1"/>
          <p:nvPr/>
        </p:nvSpPr>
        <p:spPr>
          <a:xfrm>
            <a:off x="2887675" y="5248656"/>
            <a:ext cx="1991563" cy="219456"/>
          </a:xfrm>
          <a:prstGeom prst="rect">
            <a:avLst/>
          </a:prstGeom>
          <a:noFill/>
          <a:ln/>
        </p:spPr>
        <p:txBody>
          <a:bodyPr wrap="square" lIns="0" tIns="0" rIns="0" bIns="0" rtlCol="0" anchor="ctr"/>
          <a:lstStyle/>
          <a:p>
            <a:pPr algn="ctr" indent="0" marL="0">
              <a:buNone/>
            </a:pPr>
            <a:r>
              <a:rPr lang="en-US" sz="1000" b="1" dirty="0">
                <a:solidFill>
                  <a:srgbClr val="D64545"/>
                </a:solidFill>
                <a:latin typeface="Calibri" pitchFamily="34" charset="0"/>
                <a:ea typeface="Calibri" pitchFamily="34" charset="-122"/>
                <a:cs typeface="Calibri" pitchFamily="34" charset="-120"/>
              </a:rPr>
              <a:t>Seen 14:40</a:t>
            </a:r>
            <a:endParaRPr lang="en-US" sz="1000" dirty="0"/>
          </a:p>
        </p:txBody>
      </p:sp>
      <p:sp>
        <p:nvSpPr>
          <p:cNvPr id="61" name="Shape 59"/>
          <p:cNvSpPr/>
          <p:nvPr/>
        </p:nvSpPr>
        <p:spPr>
          <a:xfrm>
            <a:off x="5902452" y="4251960"/>
            <a:ext cx="384048" cy="384048"/>
          </a:xfrm>
          <a:prstGeom prst="ellipse">
            <a:avLst/>
          </a:prstGeom>
          <a:solidFill>
            <a:srgbClr val="FFFFFF"/>
          </a:solidFill>
          <a:ln w="12700">
            <a:solidFill>
              <a:srgbClr val="FFFFFF"/>
            </a:solidFill>
            <a:prstDash val="solid"/>
          </a:ln>
        </p:spPr>
      </p:sp>
      <p:sp>
        <p:nvSpPr>
          <p:cNvPr id="62" name="Text 60"/>
          <p:cNvSpPr txBox="1"/>
          <p:nvPr/>
        </p:nvSpPr>
        <p:spPr>
          <a:xfrm>
            <a:off x="5902452" y="4251960"/>
            <a:ext cx="384048" cy="384048"/>
          </a:xfrm>
          <a:prstGeom prst="rect">
            <a:avLst/>
          </a:prstGeom>
          <a:noFill/>
          <a:ln/>
        </p:spPr>
        <p:txBody>
          <a:bodyPr wrap="square" lIns="0" tIns="0" rIns="0" bIns="0" rtlCol="0" anchor="ctr"/>
          <a:lstStyle/>
          <a:p>
            <a:pPr algn="ctr" indent="0" marL="0">
              <a:buNone/>
            </a:pPr>
            <a:r>
              <a:rPr lang="en-US" sz="1200" b="1" dirty="0">
                <a:solidFill>
                  <a:srgbClr val="6A8087"/>
                </a:solidFill>
                <a:latin typeface="Calibri" pitchFamily="34" charset="0"/>
                <a:ea typeface="Calibri" pitchFamily="34" charset="-122"/>
                <a:cs typeface="Calibri" pitchFamily="34" charset="-120"/>
              </a:rPr>
              <a:t>3</a:t>
            </a:r>
            <a:endParaRPr lang="en-US" sz="1200" dirty="0"/>
          </a:p>
        </p:txBody>
      </p:sp>
      <p:sp>
        <p:nvSpPr>
          <p:cNvPr id="63" name="Shape 61"/>
          <p:cNvSpPr/>
          <p:nvPr/>
        </p:nvSpPr>
        <p:spPr>
          <a:xfrm>
            <a:off x="5902452" y="4251960"/>
            <a:ext cx="384048" cy="384048"/>
          </a:xfrm>
          <a:prstGeom prst="ellipse">
            <a:avLst/>
          </a:prstGeom>
          <a:ln w="19050">
            <a:solidFill>
              <a:srgbClr val="B9C6C6"/>
            </a:solidFill>
            <a:prstDash val="solid"/>
          </a:ln>
        </p:spPr>
      </p:sp>
      <p:sp>
        <p:nvSpPr>
          <p:cNvPr id="64" name="Text 62"/>
          <p:cNvSpPr txBox="1"/>
          <p:nvPr/>
        </p:nvSpPr>
        <p:spPr>
          <a:xfrm>
            <a:off x="5098694" y="4754880"/>
            <a:ext cx="1991563" cy="256032"/>
          </a:xfrm>
          <a:prstGeom prst="rect">
            <a:avLst/>
          </a:prstGeom>
          <a:noFill/>
          <a:ln/>
        </p:spPr>
        <p:txBody>
          <a:bodyPr wrap="square" lIns="0" tIns="0" rIns="0" bIns="0" rtlCol="0" anchor="ctr"/>
          <a:lstStyle/>
          <a:p>
            <a:pPr algn="ctr" indent="0" marL="0">
              <a:buNone/>
            </a:pPr>
            <a:r>
              <a:rPr lang="en-US" sz="1300" b="1" dirty="0">
                <a:solidFill>
                  <a:srgbClr val="6A8087"/>
                </a:solidFill>
                <a:latin typeface="Calibri" pitchFamily="34" charset="0"/>
                <a:ea typeface="Calibri" pitchFamily="34" charset="-122"/>
                <a:cs typeface="Calibri" pitchFamily="34" charset="-120"/>
              </a:rPr>
              <a:t>Breaking in</a:t>
            </a:r>
            <a:endParaRPr lang="en-US" sz="1300" dirty="0"/>
          </a:p>
        </p:txBody>
      </p:sp>
      <p:sp>
        <p:nvSpPr>
          <p:cNvPr id="65" name="Text 63"/>
          <p:cNvSpPr txBox="1"/>
          <p:nvPr/>
        </p:nvSpPr>
        <p:spPr>
          <a:xfrm>
            <a:off x="5098694" y="4992624"/>
            <a:ext cx="1991563" cy="274320"/>
          </a:xfrm>
          <a:prstGeom prst="rect">
            <a:avLst/>
          </a:prstGeom>
          <a:noFill/>
          <a:ln/>
        </p:spPr>
        <p:txBody>
          <a:bodyPr wrap="square" lIns="0" tIns="0" rIns="0" bIns="0" rtlCol="0" anchor="ctr"/>
          <a:lstStyle/>
          <a:p>
            <a:pPr algn="ctr" indent="0" marL="0">
              <a:buNone/>
            </a:pPr>
            <a:r>
              <a:rPr lang="en-US" sz="1100" dirty="0">
                <a:solidFill>
                  <a:srgbClr val="6A8087"/>
                </a:solidFill>
                <a:latin typeface="Calibri" pitchFamily="34" charset="0"/>
                <a:ea typeface="Calibri" pitchFamily="34" charset="-122"/>
                <a:cs typeface="Calibri" pitchFamily="34" charset="-120"/>
              </a:rPr>
              <a:t>Taking over the controls</a:t>
            </a:r>
            <a:endParaRPr lang="en-US" sz="1100" dirty="0"/>
          </a:p>
        </p:txBody>
      </p:sp>
      <p:sp>
        <p:nvSpPr>
          <p:cNvPr id="66" name="Text 64"/>
          <p:cNvSpPr txBox="1"/>
          <p:nvPr/>
        </p:nvSpPr>
        <p:spPr>
          <a:xfrm>
            <a:off x="5098694" y="5248656"/>
            <a:ext cx="1991563" cy="219456"/>
          </a:xfrm>
          <a:prstGeom prst="rect">
            <a:avLst/>
          </a:prstGeom>
          <a:noFill/>
          <a:ln/>
        </p:spPr>
        <p:txBody>
          <a:bodyPr wrap="square" lIns="0" tIns="0" rIns="0" bIns="0" rtlCol="0" anchor="ctr"/>
          <a:lstStyle/>
          <a:p>
            <a:pPr algn="ctr" indent="0" marL="0">
              <a:buNone/>
            </a:pPr>
            <a:r>
              <a:rPr lang="en-US" sz="1000" i="1" dirty="0">
                <a:solidFill>
                  <a:srgbClr val="B9C6C6"/>
                </a:solidFill>
                <a:latin typeface="Calibri" pitchFamily="34" charset="0"/>
                <a:ea typeface="Calibri" pitchFamily="34" charset="-122"/>
                <a:cs typeface="Calibri" pitchFamily="34" charset="-120"/>
              </a:rPr>
              <a:t>not seen yet</a:t>
            </a:r>
            <a:endParaRPr lang="en-US" sz="1000" dirty="0"/>
          </a:p>
        </p:txBody>
      </p:sp>
      <p:sp>
        <p:nvSpPr>
          <p:cNvPr id="67" name="Shape 65"/>
          <p:cNvSpPr/>
          <p:nvPr/>
        </p:nvSpPr>
        <p:spPr>
          <a:xfrm>
            <a:off x="8113471" y="4251960"/>
            <a:ext cx="384048" cy="384048"/>
          </a:xfrm>
          <a:prstGeom prst="ellipse">
            <a:avLst/>
          </a:prstGeom>
          <a:solidFill>
            <a:srgbClr val="FFFFFF"/>
          </a:solidFill>
          <a:ln w="12700">
            <a:solidFill>
              <a:srgbClr val="FFFFFF"/>
            </a:solidFill>
            <a:prstDash val="solid"/>
          </a:ln>
        </p:spPr>
      </p:sp>
      <p:sp>
        <p:nvSpPr>
          <p:cNvPr id="68" name="Text 66"/>
          <p:cNvSpPr txBox="1"/>
          <p:nvPr/>
        </p:nvSpPr>
        <p:spPr>
          <a:xfrm>
            <a:off x="8113471" y="4251960"/>
            <a:ext cx="384048" cy="384048"/>
          </a:xfrm>
          <a:prstGeom prst="rect">
            <a:avLst/>
          </a:prstGeom>
          <a:noFill/>
          <a:ln/>
        </p:spPr>
        <p:txBody>
          <a:bodyPr wrap="square" lIns="0" tIns="0" rIns="0" bIns="0" rtlCol="0" anchor="ctr"/>
          <a:lstStyle/>
          <a:p>
            <a:pPr algn="ctr" indent="0" marL="0">
              <a:buNone/>
            </a:pPr>
            <a:r>
              <a:rPr lang="en-US" sz="1200" b="1" dirty="0">
                <a:solidFill>
                  <a:srgbClr val="6A8087"/>
                </a:solidFill>
                <a:latin typeface="Calibri" pitchFamily="34" charset="0"/>
                <a:ea typeface="Calibri" pitchFamily="34" charset="-122"/>
                <a:cs typeface="Calibri" pitchFamily="34" charset="-120"/>
              </a:rPr>
              <a:t>4</a:t>
            </a:r>
            <a:endParaRPr lang="en-US" sz="1200" dirty="0"/>
          </a:p>
        </p:txBody>
      </p:sp>
      <p:sp>
        <p:nvSpPr>
          <p:cNvPr id="69" name="Shape 67"/>
          <p:cNvSpPr/>
          <p:nvPr/>
        </p:nvSpPr>
        <p:spPr>
          <a:xfrm>
            <a:off x="8113471" y="4251960"/>
            <a:ext cx="384048" cy="384048"/>
          </a:xfrm>
          <a:prstGeom prst="ellipse">
            <a:avLst/>
          </a:prstGeom>
          <a:ln w="19050">
            <a:solidFill>
              <a:srgbClr val="B9C6C6"/>
            </a:solidFill>
            <a:prstDash val="solid"/>
          </a:ln>
        </p:spPr>
      </p:sp>
      <p:sp>
        <p:nvSpPr>
          <p:cNvPr id="70" name="Text 68"/>
          <p:cNvSpPr txBox="1"/>
          <p:nvPr/>
        </p:nvSpPr>
        <p:spPr>
          <a:xfrm>
            <a:off x="7309714" y="4754880"/>
            <a:ext cx="1991563" cy="256032"/>
          </a:xfrm>
          <a:prstGeom prst="rect">
            <a:avLst/>
          </a:prstGeom>
          <a:noFill/>
          <a:ln/>
        </p:spPr>
        <p:txBody>
          <a:bodyPr wrap="square" lIns="0" tIns="0" rIns="0" bIns="0" rtlCol="0" anchor="ctr"/>
          <a:lstStyle/>
          <a:p>
            <a:pPr algn="ctr" indent="0" marL="0">
              <a:buNone/>
            </a:pPr>
            <a:r>
              <a:rPr lang="en-US" sz="1300" b="1" dirty="0">
                <a:solidFill>
                  <a:srgbClr val="6A8087"/>
                </a:solidFill>
                <a:latin typeface="Calibri" pitchFamily="34" charset="0"/>
                <a:ea typeface="Calibri" pitchFamily="34" charset="-122"/>
                <a:cs typeface="Calibri" pitchFamily="34" charset="-120"/>
              </a:rPr>
              <a:t>Listening</a:t>
            </a:r>
            <a:endParaRPr lang="en-US" sz="1300" dirty="0"/>
          </a:p>
        </p:txBody>
      </p:sp>
      <p:sp>
        <p:nvSpPr>
          <p:cNvPr id="71" name="Text 69"/>
          <p:cNvSpPr txBox="1"/>
          <p:nvPr/>
        </p:nvSpPr>
        <p:spPr>
          <a:xfrm>
            <a:off x="7309714" y="4992624"/>
            <a:ext cx="1991563" cy="274320"/>
          </a:xfrm>
          <a:prstGeom prst="rect">
            <a:avLst/>
          </a:prstGeom>
          <a:noFill/>
          <a:ln/>
        </p:spPr>
        <p:txBody>
          <a:bodyPr wrap="square" lIns="0" tIns="0" rIns="0" bIns="0" rtlCol="0" anchor="ctr"/>
          <a:lstStyle/>
          <a:p>
            <a:pPr algn="ctr" indent="0" marL="0">
              <a:buNone/>
            </a:pPr>
            <a:r>
              <a:rPr lang="en-US" sz="1100" dirty="0">
                <a:solidFill>
                  <a:srgbClr val="6A8087"/>
                </a:solidFill>
                <a:latin typeface="Calibri" pitchFamily="34" charset="0"/>
                <a:ea typeface="Calibri" pitchFamily="34" charset="-122"/>
                <a:cs typeface="Calibri" pitchFamily="34" charset="-120"/>
              </a:rPr>
              <a:t>Capturing control traffic</a:t>
            </a:r>
            <a:endParaRPr lang="en-US" sz="1100" dirty="0"/>
          </a:p>
        </p:txBody>
      </p:sp>
      <p:sp>
        <p:nvSpPr>
          <p:cNvPr id="72" name="Text 70"/>
          <p:cNvSpPr txBox="1"/>
          <p:nvPr/>
        </p:nvSpPr>
        <p:spPr>
          <a:xfrm>
            <a:off x="7309714" y="5248656"/>
            <a:ext cx="1991563" cy="219456"/>
          </a:xfrm>
          <a:prstGeom prst="rect">
            <a:avLst/>
          </a:prstGeom>
          <a:noFill/>
          <a:ln/>
        </p:spPr>
        <p:txBody>
          <a:bodyPr wrap="square" lIns="0" tIns="0" rIns="0" bIns="0" rtlCol="0" anchor="ctr"/>
          <a:lstStyle/>
          <a:p>
            <a:pPr algn="ctr" indent="0" marL="0">
              <a:buNone/>
            </a:pPr>
            <a:r>
              <a:rPr lang="en-US" sz="1000" i="1" dirty="0">
                <a:solidFill>
                  <a:srgbClr val="B9C6C6"/>
                </a:solidFill>
                <a:latin typeface="Calibri" pitchFamily="34" charset="0"/>
                <a:ea typeface="Calibri" pitchFamily="34" charset="-122"/>
                <a:cs typeface="Calibri" pitchFamily="34" charset="-120"/>
              </a:rPr>
              <a:t>not seen yet</a:t>
            </a:r>
            <a:endParaRPr lang="en-US" sz="1000" dirty="0"/>
          </a:p>
        </p:txBody>
      </p:sp>
      <p:sp>
        <p:nvSpPr>
          <p:cNvPr id="73" name="Shape 71"/>
          <p:cNvSpPr/>
          <p:nvPr/>
        </p:nvSpPr>
        <p:spPr>
          <a:xfrm>
            <a:off x="10324490" y="4251960"/>
            <a:ext cx="384048" cy="384048"/>
          </a:xfrm>
          <a:prstGeom prst="ellipse">
            <a:avLst/>
          </a:prstGeom>
          <a:solidFill>
            <a:srgbClr val="FFFFFF"/>
          </a:solidFill>
          <a:ln w="12700">
            <a:solidFill>
              <a:srgbClr val="FFFFFF"/>
            </a:solidFill>
            <a:prstDash val="solid"/>
          </a:ln>
        </p:spPr>
      </p:sp>
      <p:sp>
        <p:nvSpPr>
          <p:cNvPr id="74" name="Text 72"/>
          <p:cNvSpPr txBox="1"/>
          <p:nvPr/>
        </p:nvSpPr>
        <p:spPr>
          <a:xfrm>
            <a:off x="10324490" y="4251960"/>
            <a:ext cx="384048" cy="384048"/>
          </a:xfrm>
          <a:prstGeom prst="rect">
            <a:avLst/>
          </a:prstGeom>
          <a:noFill/>
          <a:ln/>
        </p:spPr>
        <p:txBody>
          <a:bodyPr wrap="square" lIns="0" tIns="0" rIns="0" bIns="0" rtlCol="0" anchor="ctr"/>
          <a:lstStyle/>
          <a:p>
            <a:pPr algn="ctr" indent="0" marL="0">
              <a:buNone/>
            </a:pPr>
            <a:r>
              <a:rPr lang="en-US" sz="1200" b="1" dirty="0">
                <a:solidFill>
                  <a:srgbClr val="6A8087"/>
                </a:solidFill>
                <a:latin typeface="Calibri" pitchFamily="34" charset="0"/>
                <a:ea typeface="Calibri" pitchFamily="34" charset="-122"/>
                <a:cs typeface="Calibri" pitchFamily="34" charset="-120"/>
              </a:rPr>
              <a:t>5</a:t>
            </a:r>
            <a:endParaRPr lang="en-US" sz="1200" dirty="0"/>
          </a:p>
        </p:txBody>
      </p:sp>
      <p:sp>
        <p:nvSpPr>
          <p:cNvPr id="75" name="Shape 73"/>
          <p:cNvSpPr/>
          <p:nvPr/>
        </p:nvSpPr>
        <p:spPr>
          <a:xfrm>
            <a:off x="10324490" y="4251960"/>
            <a:ext cx="384048" cy="384048"/>
          </a:xfrm>
          <a:prstGeom prst="ellipse">
            <a:avLst/>
          </a:prstGeom>
          <a:ln w="19050">
            <a:solidFill>
              <a:srgbClr val="B9C6C6"/>
            </a:solidFill>
            <a:prstDash val="solid"/>
          </a:ln>
        </p:spPr>
      </p:sp>
      <p:sp>
        <p:nvSpPr>
          <p:cNvPr id="76" name="Text 74"/>
          <p:cNvSpPr txBox="1"/>
          <p:nvPr/>
        </p:nvSpPr>
        <p:spPr>
          <a:xfrm>
            <a:off x="9520733" y="4754880"/>
            <a:ext cx="1991563" cy="256032"/>
          </a:xfrm>
          <a:prstGeom prst="rect">
            <a:avLst/>
          </a:prstGeom>
          <a:noFill/>
          <a:ln/>
        </p:spPr>
        <p:txBody>
          <a:bodyPr wrap="square" lIns="0" tIns="0" rIns="0" bIns="0" rtlCol="0" anchor="ctr"/>
          <a:lstStyle/>
          <a:p>
            <a:pPr algn="ctr" indent="0" marL="0">
              <a:buNone/>
            </a:pPr>
            <a:r>
              <a:rPr lang="en-US" sz="1300" b="1" dirty="0">
                <a:solidFill>
                  <a:srgbClr val="6A8087"/>
                </a:solidFill>
                <a:latin typeface="Calibri" pitchFamily="34" charset="0"/>
                <a:ea typeface="Calibri" pitchFamily="34" charset="-122"/>
                <a:cs typeface="Calibri" pitchFamily="34" charset="-120"/>
              </a:rPr>
              <a:t>Shutting it down</a:t>
            </a:r>
            <a:endParaRPr lang="en-US" sz="1300" dirty="0"/>
          </a:p>
        </p:txBody>
      </p:sp>
      <p:sp>
        <p:nvSpPr>
          <p:cNvPr id="77" name="Text 75"/>
          <p:cNvSpPr txBox="1"/>
          <p:nvPr/>
        </p:nvSpPr>
        <p:spPr>
          <a:xfrm>
            <a:off x="9520733" y="4992624"/>
            <a:ext cx="1991563" cy="274320"/>
          </a:xfrm>
          <a:prstGeom prst="rect">
            <a:avLst/>
          </a:prstGeom>
          <a:noFill/>
          <a:ln/>
        </p:spPr>
        <p:txBody>
          <a:bodyPr wrap="square" lIns="0" tIns="0" rIns="0" bIns="0" rtlCol="0" anchor="ctr"/>
          <a:lstStyle/>
          <a:p>
            <a:pPr algn="ctr" indent="0" marL="0">
              <a:buNone/>
            </a:pPr>
            <a:r>
              <a:rPr lang="en-US" sz="1100" dirty="0">
                <a:solidFill>
                  <a:srgbClr val="6A8087"/>
                </a:solidFill>
                <a:latin typeface="Calibri" pitchFamily="34" charset="0"/>
                <a:ea typeface="Calibri" pitchFamily="34" charset="-122"/>
                <a:cs typeface="Calibri" pitchFamily="34" charset="-120"/>
              </a:rPr>
              <a:t>Stopping the site working</a:t>
            </a:r>
            <a:endParaRPr lang="en-US" sz="1100" dirty="0"/>
          </a:p>
        </p:txBody>
      </p:sp>
      <p:sp>
        <p:nvSpPr>
          <p:cNvPr id="78" name="Text 76"/>
          <p:cNvSpPr txBox="1"/>
          <p:nvPr/>
        </p:nvSpPr>
        <p:spPr>
          <a:xfrm>
            <a:off x="9520733" y="5248656"/>
            <a:ext cx="1991563" cy="219456"/>
          </a:xfrm>
          <a:prstGeom prst="rect">
            <a:avLst/>
          </a:prstGeom>
          <a:noFill/>
          <a:ln/>
        </p:spPr>
        <p:txBody>
          <a:bodyPr wrap="square" lIns="0" tIns="0" rIns="0" bIns="0" rtlCol="0" anchor="ctr"/>
          <a:lstStyle/>
          <a:p>
            <a:pPr algn="ctr" indent="0" marL="0">
              <a:buNone/>
            </a:pPr>
            <a:r>
              <a:rPr lang="en-US" sz="1000" i="1" dirty="0">
                <a:solidFill>
                  <a:srgbClr val="B9C6C6"/>
                </a:solidFill>
                <a:latin typeface="Calibri" pitchFamily="34" charset="0"/>
                <a:ea typeface="Calibri" pitchFamily="34" charset="-122"/>
                <a:cs typeface="Calibri" pitchFamily="34" charset="-120"/>
              </a:rPr>
              <a:t>not seen yet</a:t>
            </a:r>
            <a:endParaRPr lang="en-US" sz="1000" dirty="0"/>
          </a:p>
        </p:txBody>
      </p:sp>
      <p:sp>
        <p:nvSpPr>
          <p:cNvPr id="79" name="Shape 77"/>
          <p:cNvSpPr/>
          <p:nvPr/>
        </p:nvSpPr>
        <p:spPr>
          <a:xfrm>
            <a:off x="566928" y="5577840"/>
            <a:ext cx="11055096" cy="777240"/>
          </a:xfrm>
          <a:prstGeom prst="roundRect">
            <a:avLst>
              <a:gd name="adj" fmla="val 7059"/>
            </a:avLst>
          </a:prstGeom>
          <a:solidFill>
            <a:srgbClr val="FCEFEE"/>
          </a:solidFill>
          <a:ln w="15875">
            <a:solidFill>
              <a:srgbClr val="D64545"/>
            </a:solidFill>
            <a:prstDash val="solid"/>
          </a:ln>
        </p:spPr>
      </p:sp>
      <p:sp>
        <p:nvSpPr>
          <p:cNvPr id="80" name="Text 78"/>
          <p:cNvSpPr txBox="1"/>
          <p:nvPr/>
        </p:nvSpPr>
        <p:spPr>
          <a:xfrm>
            <a:off x="978408" y="5577840"/>
            <a:ext cx="10232136" cy="777240"/>
          </a:xfrm>
          <a:prstGeom prst="rect">
            <a:avLst/>
          </a:prstGeom>
          <a:noFill/>
          <a:ln/>
        </p:spPr>
        <p:txBody>
          <a:bodyPr wrap="square" lIns="0" tIns="0" rIns="0" bIns="0" rtlCol="0" anchor="ctr"/>
          <a:lstStyle/>
          <a:p>
            <a:pPr indent="0" marL="0">
              <a:lnSpc>
                <a:spcPts val="2400"/>
              </a:lnSpc>
              <a:buNone/>
            </a:pPr>
            <a:r>
              <a:rPr lang="en-US" sz="1550" b="1" dirty="0">
                <a:solidFill>
                  <a:srgbClr val="10212A"/>
                </a:solidFill>
                <a:latin typeface="Cambria" pitchFamily="34" charset="0"/>
                <a:ea typeface="Cambria" pitchFamily="34" charset="-122"/>
                <a:cs typeface="Cambria" pitchFamily="34" charset="-120"/>
              </a:rPr>
              <a:t>THE BRIEF:  Site 7 is likely being prepared for attack within 72 hours. Isolate the control network now and re-task satellite cover over the area.</a:t>
            </a:r>
            <a:endParaRPr lang="en-US" sz="15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66928" y="237744"/>
            <a:ext cx="11055096" cy="256032"/>
          </a:xfrm>
          <a:prstGeom prst="rect">
            <a:avLst/>
          </a:prstGeom>
          <a:noFill/>
          <a:ln/>
        </p:spPr>
        <p:txBody>
          <a:bodyPr wrap="square" lIns="0" tIns="0" rIns="0" bIns="0" rtlCol="0" anchor="ctr"/>
          <a:lstStyle/>
          <a:p>
            <a:pPr indent="0" marL="0">
              <a:buNone/>
            </a:pPr>
            <a:r>
              <a:rPr lang="en-US" sz="1300" b="1" spc="140" kern="0" dirty="0">
                <a:solidFill>
                  <a:srgbClr val="3E8695"/>
                </a:solidFill>
                <a:latin typeface="Calibri" pitchFamily="34" charset="0"/>
                <a:ea typeface="Calibri" pitchFamily="34" charset="-122"/>
                <a:cs typeface="Calibri" pitchFamily="34" charset="-120"/>
              </a:rPr>
              <a:t>IBM TECHNOLOGY</a:t>
            </a:r>
            <a:endParaRPr lang="en-US" sz="1300" dirty="0"/>
          </a:p>
        </p:txBody>
      </p:sp>
      <p:sp>
        <p:nvSpPr>
          <p:cNvPr id="3" name="Text 1"/>
          <p:cNvSpPr txBox="1"/>
          <p:nvPr/>
        </p:nvSpPr>
        <p:spPr>
          <a:xfrm>
            <a:off x="566928" y="457200"/>
            <a:ext cx="11055096" cy="713232"/>
          </a:xfrm>
          <a:prstGeom prst="rect">
            <a:avLst/>
          </a:prstGeom>
          <a:noFill/>
          <a:ln/>
        </p:spPr>
        <p:txBody>
          <a:bodyPr wrap="square" lIns="0" tIns="0" rIns="0" bIns="0" rtlCol="0" anchor="ctr"/>
          <a:lstStyle/>
          <a:p>
            <a:pPr indent="0" marL="0">
              <a:buNone/>
            </a:pPr>
            <a:r>
              <a:rPr lang="en-US" sz="3600" b="1" dirty="0">
                <a:solidFill>
                  <a:srgbClr val="10212A"/>
                </a:solidFill>
                <a:latin typeface="Cambria" pitchFamily="34" charset="0"/>
                <a:ea typeface="Cambria" pitchFamily="34" charset="-122"/>
                <a:cs typeface="Cambria" pitchFamily="34" charset="-120"/>
              </a:rPr>
              <a:t>Bob built it. watsonx runs it.</a:t>
            </a:r>
            <a:endParaRPr lang="en-US" sz="3600" dirty="0"/>
          </a:p>
        </p:txBody>
      </p:sp>
      <p:sp>
        <p:nvSpPr>
          <p:cNvPr id="4" name="Shape 2"/>
          <p:cNvSpPr/>
          <p:nvPr/>
        </p:nvSpPr>
        <p:spPr>
          <a:xfrm>
            <a:off x="566928" y="1188720"/>
            <a:ext cx="2377440" cy="329184"/>
          </a:xfrm>
          <a:prstGeom prst="roundRect">
            <a:avLst>
              <a:gd name="adj" fmla="val 138889"/>
            </a:avLst>
          </a:prstGeom>
          <a:solidFill>
            <a:srgbClr val="4E9AA8"/>
          </a:solidFill>
          <a:ln w="12700">
            <a:solidFill>
              <a:srgbClr val="4E9AA8"/>
            </a:solidFill>
            <a:prstDash val="solid"/>
          </a:ln>
        </p:spPr>
      </p:sp>
      <p:sp>
        <p:nvSpPr>
          <p:cNvPr id="5" name="Text 3"/>
          <p:cNvSpPr txBox="1"/>
          <p:nvPr/>
        </p:nvSpPr>
        <p:spPr>
          <a:xfrm>
            <a:off x="566928" y="1188720"/>
            <a:ext cx="2377440" cy="329184"/>
          </a:xfrm>
          <a:prstGeom prst="rect">
            <a:avLst/>
          </a:prstGeom>
          <a:noFill/>
          <a:ln/>
        </p:spPr>
        <p:txBody>
          <a:bodyPr wrap="square" lIns="0" tIns="0" rIns="0" bIns="0" rtlCol="0" anchor="ctr"/>
          <a:lstStyle/>
          <a:p>
            <a:pPr algn="ctr" indent="0" marL="0">
              <a:buNone/>
            </a:pPr>
            <a:r>
              <a:rPr lang="en-US" sz="1250" b="1" dirty="0">
                <a:solidFill>
                  <a:srgbClr val="FFFFFF"/>
                </a:solidFill>
                <a:latin typeface="Calibri" pitchFamily="34" charset="0"/>
                <a:ea typeface="Calibri" pitchFamily="34" charset="-122"/>
                <a:cs typeface="Calibri" pitchFamily="34" charset="-120"/>
              </a:rPr>
              <a:t>IBM Bob — building it</a:t>
            </a:r>
            <a:endParaRPr lang="en-US" sz="1250" dirty="0"/>
          </a:p>
        </p:txBody>
      </p:sp>
      <p:sp>
        <p:nvSpPr>
          <p:cNvPr id="6" name="Shape 4"/>
          <p:cNvSpPr/>
          <p:nvPr/>
        </p:nvSpPr>
        <p:spPr>
          <a:xfrm>
            <a:off x="566928" y="1627632"/>
            <a:ext cx="2523744" cy="1051560"/>
          </a:xfrm>
          <a:prstGeom prst="roundRect">
            <a:avLst>
              <a:gd name="adj" fmla="val 5217"/>
            </a:avLst>
          </a:prstGeom>
          <a:solidFill>
            <a:srgbClr val="FFFFFF"/>
          </a:solidFill>
          <a:ln w="15875">
            <a:solidFill>
              <a:srgbClr val="DDE4E4"/>
            </a:solidFill>
            <a:prstDash val="solid"/>
          </a:ln>
        </p:spPr>
      </p:sp>
      <p:sp>
        <p:nvSpPr>
          <p:cNvPr id="7" name="Text 5"/>
          <p:cNvSpPr txBox="1"/>
          <p:nvPr/>
        </p:nvSpPr>
        <p:spPr>
          <a:xfrm>
            <a:off x="768096" y="1627632"/>
            <a:ext cx="2121408" cy="1051560"/>
          </a:xfrm>
          <a:prstGeom prst="rect">
            <a:avLst/>
          </a:prstGeom>
          <a:noFill/>
          <a:ln/>
        </p:spPr>
        <p:txBody>
          <a:bodyPr wrap="square" lIns="0" tIns="0" rIns="0" bIns="0" rtlCol="0" anchor="ctr"/>
          <a:lstStyle/>
          <a:p>
            <a:pPr indent="0" marL="0">
              <a:lnSpc>
                <a:spcPts val="1600"/>
              </a:lnSpc>
              <a:buNone/>
            </a:pPr>
            <a:r>
              <a:rPr lang="en-US" sz="1250" dirty="0">
                <a:solidFill>
                  <a:srgbClr val="35474F"/>
                </a:solidFill>
                <a:latin typeface="Calibri" pitchFamily="34" charset="0"/>
                <a:ea typeface="Calibri" pitchFamily="34" charset="-122"/>
                <a:cs typeface="Calibri" pitchFamily="34" charset="-120"/>
              </a:rPr>
              <a:t>Built all six feed readers at the same time, using parallel subagents.</a:t>
            </a:r>
            <a:endParaRPr lang="en-US" sz="1250" dirty="0"/>
          </a:p>
        </p:txBody>
      </p:sp>
      <p:sp>
        <p:nvSpPr>
          <p:cNvPr id="8" name="Text 6"/>
          <p:cNvSpPr txBox="1"/>
          <p:nvPr/>
        </p:nvSpPr>
        <p:spPr>
          <a:xfrm>
            <a:off x="1600200" y="2724912"/>
            <a:ext cx="457200" cy="274320"/>
          </a:xfrm>
          <a:prstGeom prst="rect">
            <a:avLst/>
          </a:prstGeom>
          <a:noFill/>
          <a:ln/>
        </p:spPr>
        <p:txBody>
          <a:bodyPr wrap="square" lIns="0" tIns="0" rIns="0" bIns="0" rtlCol="0" anchor="ctr"/>
          <a:lstStyle/>
          <a:p>
            <a:pPr algn="ctr" indent="0" marL="0">
              <a:buNone/>
            </a:pPr>
            <a:r>
              <a:rPr lang="en-US" sz="1800" b="1" dirty="0">
                <a:solidFill>
                  <a:srgbClr val="3E8695"/>
                </a:solidFill>
                <a:latin typeface="Calibri" pitchFamily="34" charset="0"/>
                <a:ea typeface="Calibri" pitchFamily="34" charset="-122"/>
                <a:cs typeface="Calibri" pitchFamily="34" charset="-120"/>
              </a:rPr>
              <a:t>↓</a:t>
            </a:r>
            <a:endParaRPr lang="en-US" sz="1800" dirty="0"/>
          </a:p>
        </p:txBody>
      </p:sp>
      <p:sp>
        <p:nvSpPr>
          <p:cNvPr id="9" name="Shape 7"/>
          <p:cNvSpPr/>
          <p:nvPr/>
        </p:nvSpPr>
        <p:spPr>
          <a:xfrm>
            <a:off x="3410712" y="1627632"/>
            <a:ext cx="2523744" cy="1051560"/>
          </a:xfrm>
          <a:prstGeom prst="roundRect">
            <a:avLst>
              <a:gd name="adj" fmla="val 5217"/>
            </a:avLst>
          </a:prstGeom>
          <a:solidFill>
            <a:srgbClr val="FFFFFF"/>
          </a:solidFill>
          <a:ln w="15875">
            <a:solidFill>
              <a:srgbClr val="DDE4E4"/>
            </a:solidFill>
            <a:prstDash val="solid"/>
          </a:ln>
        </p:spPr>
      </p:sp>
      <p:sp>
        <p:nvSpPr>
          <p:cNvPr id="10" name="Text 8"/>
          <p:cNvSpPr txBox="1"/>
          <p:nvPr/>
        </p:nvSpPr>
        <p:spPr>
          <a:xfrm>
            <a:off x="3611880" y="1627632"/>
            <a:ext cx="2121408" cy="1051560"/>
          </a:xfrm>
          <a:prstGeom prst="rect">
            <a:avLst/>
          </a:prstGeom>
          <a:noFill/>
          <a:ln/>
        </p:spPr>
        <p:txBody>
          <a:bodyPr wrap="square" lIns="0" tIns="0" rIns="0" bIns="0" rtlCol="0" anchor="ctr"/>
          <a:lstStyle/>
          <a:p>
            <a:pPr indent="0" marL="0">
              <a:lnSpc>
                <a:spcPts val="1600"/>
              </a:lnSpc>
              <a:buNone/>
            </a:pPr>
            <a:r>
              <a:rPr lang="en-US" sz="1250" dirty="0">
                <a:solidFill>
                  <a:srgbClr val="35474F"/>
                </a:solidFill>
                <a:latin typeface="Calibri" pitchFamily="34" charset="0"/>
                <a:ea typeface="Calibri" pitchFamily="34" charset="-122"/>
                <a:cs typeface="Calibri" pitchFamily="34" charset="-120"/>
              </a:rPr>
              <a:t>Wrote and tested the matching engine, fixing its own failures each pass.</a:t>
            </a:r>
            <a:endParaRPr lang="en-US" sz="1250" dirty="0"/>
          </a:p>
        </p:txBody>
      </p:sp>
      <p:sp>
        <p:nvSpPr>
          <p:cNvPr id="11" name="Text 9"/>
          <p:cNvSpPr txBox="1"/>
          <p:nvPr/>
        </p:nvSpPr>
        <p:spPr>
          <a:xfrm>
            <a:off x="4443984" y="2724912"/>
            <a:ext cx="457200" cy="274320"/>
          </a:xfrm>
          <a:prstGeom prst="rect">
            <a:avLst/>
          </a:prstGeom>
          <a:noFill/>
          <a:ln/>
        </p:spPr>
        <p:txBody>
          <a:bodyPr wrap="square" lIns="0" tIns="0" rIns="0" bIns="0" rtlCol="0" anchor="ctr"/>
          <a:lstStyle/>
          <a:p>
            <a:pPr algn="ctr" indent="0" marL="0">
              <a:buNone/>
            </a:pPr>
            <a:r>
              <a:rPr lang="en-US" sz="1800" b="1" dirty="0">
                <a:solidFill>
                  <a:srgbClr val="3E8695"/>
                </a:solidFill>
                <a:latin typeface="Calibri" pitchFamily="34" charset="0"/>
                <a:ea typeface="Calibri" pitchFamily="34" charset="-122"/>
                <a:cs typeface="Calibri" pitchFamily="34" charset="-120"/>
              </a:rPr>
              <a:t>↓</a:t>
            </a:r>
            <a:endParaRPr lang="en-US" sz="1800" dirty="0"/>
          </a:p>
        </p:txBody>
      </p:sp>
      <p:sp>
        <p:nvSpPr>
          <p:cNvPr id="12" name="Shape 10"/>
          <p:cNvSpPr/>
          <p:nvPr/>
        </p:nvSpPr>
        <p:spPr>
          <a:xfrm>
            <a:off x="6254496" y="1627632"/>
            <a:ext cx="2523744" cy="1051560"/>
          </a:xfrm>
          <a:prstGeom prst="roundRect">
            <a:avLst>
              <a:gd name="adj" fmla="val 5217"/>
            </a:avLst>
          </a:prstGeom>
          <a:solidFill>
            <a:srgbClr val="FFFFFF"/>
          </a:solidFill>
          <a:ln w="15875">
            <a:solidFill>
              <a:srgbClr val="DDE4E4"/>
            </a:solidFill>
            <a:prstDash val="solid"/>
          </a:ln>
        </p:spPr>
      </p:sp>
      <p:sp>
        <p:nvSpPr>
          <p:cNvPr id="13" name="Text 11"/>
          <p:cNvSpPr txBox="1"/>
          <p:nvPr/>
        </p:nvSpPr>
        <p:spPr>
          <a:xfrm>
            <a:off x="6455664" y="1627632"/>
            <a:ext cx="2121408" cy="1051560"/>
          </a:xfrm>
          <a:prstGeom prst="rect">
            <a:avLst/>
          </a:prstGeom>
          <a:noFill/>
          <a:ln/>
        </p:spPr>
        <p:txBody>
          <a:bodyPr wrap="square" lIns="0" tIns="0" rIns="0" bIns="0" rtlCol="0" anchor="ctr"/>
          <a:lstStyle/>
          <a:p>
            <a:pPr indent="0" marL="0">
              <a:lnSpc>
                <a:spcPts val="1600"/>
              </a:lnSpc>
              <a:buNone/>
            </a:pPr>
            <a:r>
              <a:rPr lang="en-US" sz="1250" dirty="0">
                <a:solidFill>
                  <a:srgbClr val="35474F"/>
                </a:solidFill>
                <a:latin typeface="Calibri" pitchFamily="34" charset="0"/>
                <a:ea typeface="Calibri" pitchFamily="34" charset="-122"/>
                <a:cs typeface="Calibri" pitchFamily="34" charset="-120"/>
              </a:rPr>
              <a:t>Read the MITRE ATT&amp;CK library and built the mapping table itself.</a:t>
            </a:r>
            <a:endParaRPr lang="en-US" sz="1250" dirty="0"/>
          </a:p>
        </p:txBody>
      </p:sp>
      <p:sp>
        <p:nvSpPr>
          <p:cNvPr id="14" name="Text 12"/>
          <p:cNvSpPr txBox="1"/>
          <p:nvPr/>
        </p:nvSpPr>
        <p:spPr>
          <a:xfrm>
            <a:off x="7287768" y="2724912"/>
            <a:ext cx="457200" cy="274320"/>
          </a:xfrm>
          <a:prstGeom prst="rect">
            <a:avLst/>
          </a:prstGeom>
          <a:noFill/>
          <a:ln/>
        </p:spPr>
        <p:txBody>
          <a:bodyPr wrap="square" lIns="0" tIns="0" rIns="0" bIns="0" rtlCol="0" anchor="ctr"/>
          <a:lstStyle/>
          <a:p>
            <a:pPr algn="ctr" indent="0" marL="0">
              <a:buNone/>
            </a:pPr>
            <a:r>
              <a:rPr lang="en-US" sz="1800" b="1" dirty="0">
                <a:solidFill>
                  <a:srgbClr val="3E8695"/>
                </a:solidFill>
                <a:latin typeface="Calibri" pitchFamily="34" charset="0"/>
                <a:ea typeface="Calibri" pitchFamily="34" charset="-122"/>
                <a:cs typeface="Calibri" pitchFamily="34" charset="-120"/>
              </a:rPr>
              <a:t>↓</a:t>
            </a:r>
            <a:endParaRPr lang="en-US" sz="1800" dirty="0"/>
          </a:p>
        </p:txBody>
      </p:sp>
      <p:sp>
        <p:nvSpPr>
          <p:cNvPr id="15" name="Shape 13"/>
          <p:cNvSpPr/>
          <p:nvPr/>
        </p:nvSpPr>
        <p:spPr>
          <a:xfrm>
            <a:off x="9098280" y="1627632"/>
            <a:ext cx="2523744" cy="1051560"/>
          </a:xfrm>
          <a:prstGeom prst="roundRect">
            <a:avLst>
              <a:gd name="adj" fmla="val 5217"/>
            </a:avLst>
          </a:prstGeom>
          <a:solidFill>
            <a:srgbClr val="FFFFFF"/>
          </a:solidFill>
          <a:ln w="15875">
            <a:solidFill>
              <a:srgbClr val="DDE4E4"/>
            </a:solidFill>
            <a:prstDash val="solid"/>
          </a:ln>
        </p:spPr>
      </p:sp>
      <p:sp>
        <p:nvSpPr>
          <p:cNvPr id="16" name="Text 14"/>
          <p:cNvSpPr txBox="1"/>
          <p:nvPr/>
        </p:nvSpPr>
        <p:spPr>
          <a:xfrm>
            <a:off x="9299448" y="1627632"/>
            <a:ext cx="2121408" cy="1051560"/>
          </a:xfrm>
          <a:prstGeom prst="rect">
            <a:avLst/>
          </a:prstGeom>
          <a:noFill/>
          <a:ln/>
        </p:spPr>
        <p:txBody>
          <a:bodyPr wrap="square" lIns="0" tIns="0" rIns="0" bIns="0" rtlCol="0" anchor="ctr"/>
          <a:lstStyle/>
          <a:p>
            <a:pPr indent="0" marL="0">
              <a:lnSpc>
                <a:spcPts val="1600"/>
              </a:lnSpc>
              <a:buNone/>
            </a:pPr>
            <a:r>
              <a:rPr lang="en-US" sz="1250" dirty="0">
                <a:solidFill>
                  <a:srgbClr val="35474F"/>
                </a:solidFill>
                <a:latin typeface="Calibri" pitchFamily="34" charset="0"/>
                <a:ea typeface="Calibri" pitchFamily="34" charset="-122"/>
                <a:cs typeface="Calibri" pitchFamily="34" charset="-120"/>
              </a:rPr>
              <a:t>Locked the brief format with a rules file, so every brief comes out the same shape.</a:t>
            </a:r>
            <a:endParaRPr lang="en-US" sz="1250" dirty="0"/>
          </a:p>
        </p:txBody>
      </p:sp>
      <p:sp>
        <p:nvSpPr>
          <p:cNvPr id="17" name="Text 15"/>
          <p:cNvSpPr txBox="1"/>
          <p:nvPr/>
        </p:nvSpPr>
        <p:spPr>
          <a:xfrm>
            <a:off x="10131552" y="2724912"/>
            <a:ext cx="457200" cy="274320"/>
          </a:xfrm>
          <a:prstGeom prst="rect">
            <a:avLst/>
          </a:prstGeom>
          <a:noFill/>
          <a:ln/>
        </p:spPr>
        <p:txBody>
          <a:bodyPr wrap="square" lIns="0" tIns="0" rIns="0" bIns="0" rtlCol="0" anchor="ctr"/>
          <a:lstStyle/>
          <a:p>
            <a:pPr algn="ctr" indent="0" marL="0">
              <a:buNone/>
            </a:pPr>
            <a:r>
              <a:rPr lang="en-US" sz="1800" b="1" dirty="0">
                <a:solidFill>
                  <a:srgbClr val="3E8695"/>
                </a:solidFill>
                <a:latin typeface="Calibri" pitchFamily="34" charset="0"/>
                <a:ea typeface="Calibri" pitchFamily="34" charset="-122"/>
                <a:cs typeface="Calibri" pitchFamily="34" charset="-120"/>
              </a:rPr>
              <a:t>↓</a:t>
            </a:r>
            <a:endParaRPr lang="en-US" sz="1800" dirty="0"/>
          </a:p>
        </p:txBody>
      </p:sp>
      <p:sp>
        <p:nvSpPr>
          <p:cNvPr id="18" name="Shape 16"/>
          <p:cNvSpPr/>
          <p:nvPr/>
        </p:nvSpPr>
        <p:spPr>
          <a:xfrm>
            <a:off x="566928" y="3054096"/>
            <a:ext cx="2523744" cy="603504"/>
          </a:xfrm>
          <a:prstGeom prst="roundRect">
            <a:avLst>
              <a:gd name="adj" fmla="val 9091"/>
            </a:avLst>
          </a:prstGeom>
          <a:solidFill>
            <a:srgbClr val="F4F7F8"/>
          </a:solidFill>
          <a:ln w="15875">
            <a:solidFill>
              <a:srgbClr val="4E9AA8"/>
            </a:solidFill>
            <a:prstDash val="solid"/>
          </a:ln>
        </p:spPr>
      </p:sp>
      <p:sp>
        <p:nvSpPr>
          <p:cNvPr id="19" name="Shape 17"/>
          <p:cNvSpPr/>
          <p:nvPr/>
        </p:nvSpPr>
        <p:spPr>
          <a:xfrm>
            <a:off x="731520" y="3172968"/>
            <a:ext cx="365760" cy="365760"/>
          </a:xfrm>
          <a:prstGeom prst="ellipse">
            <a:avLst/>
          </a:prstGeom>
          <a:solidFill>
            <a:srgbClr val="4E9AA8"/>
          </a:solidFill>
          <a:ln w="12700">
            <a:solidFill>
              <a:srgbClr val="4E9AA8"/>
            </a:solidFill>
            <a:prstDash val="solid"/>
          </a:ln>
        </p:spPr>
      </p:sp>
      <p:sp>
        <p:nvSpPr>
          <p:cNvPr id="20" name="Text 18"/>
          <p:cNvSpPr txBox="1"/>
          <p:nvPr/>
        </p:nvSpPr>
        <p:spPr>
          <a:xfrm>
            <a:off x="731520" y="3172968"/>
            <a:ext cx="36576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1</a:t>
            </a:r>
            <a:endParaRPr lang="en-US" sz="1300" dirty="0"/>
          </a:p>
        </p:txBody>
      </p:sp>
      <p:sp>
        <p:nvSpPr>
          <p:cNvPr id="21" name="Text 19"/>
          <p:cNvSpPr txBox="1"/>
          <p:nvPr/>
        </p:nvSpPr>
        <p:spPr>
          <a:xfrm>
            <a:off x="1188720" y="3054096"/>
            <a:ext cx="1737360" cy="603504"/>
          </a:xfrm>
          <a:prstGeom prst="rect">
            <a:avLst/>
          </a:prstGeom>
          <a:noFill/>
          <a:ln/>
        </p:spPr>
        <p:txBody>
          <a:bodyPr wrap="square" lIns="0" tIns="0" rIns="0" bIns="0" rtlCol="0" anchor="ctr"/>
          <a:lstStyle/>
          <a:p>
            <a:pPr indent="0" marL="0">
              <a:buNone/>
            </a:pPr>
            <a:r>
              <a:rPr lang="en-US" sz="1700" b="1" dirty="0">
                <a:solidFill>
                  <a:srgbClr val="10212A"/>
                </a:solidFill>
                <a:latin typeface="Cambria" pitchFamily="34" charset="0"/>
                <a:ea typeface="Cambria" pitchFamily="34" charset="-122"/>
                <a:cs typeface="Cambria" pitchFamily="34" charset="-120"/>
              </a:rPr>
              <a:t>Read</a:t>
            </a:r>
            <a:endParaRPr lang="en-US" sz="1700" dirty="0"/>
          </a:p>
        </p:txBody>
      </p:sp>
      <p:sp>
        <p:nvSpPr>
          <p:cNvPr id="22" name="Shape 20"/>
          <p:cNvSpPr/>
          <p:nvPr/>
        </p:nvSpPr>
        <p:spPr>
          <a:xfrm>
            <a:off x="3410712" y="3054096"/>
            <a:ext cx="2523744" cy="603504"/>
          </a:xfrm>
          <a:prstGeom prst="roundRect">
            <a:avLst>
              <a:gd name="adj" fmla="val 9091"/>
            </a:avLst>
          </a:prstGeom>
          <a:solidFill>
            <a:srgbClr val="F4F7F8"/>
          </a:solidFill>
          <a:ln w="15875">
            <a:solidFill>
              <a:srgbClr val="4E9AA8"/>
            </a:solidFill>
            <a:prstDash val="solid"/>
          </a:ln>
        </p:spPr>
      </p:sp>
      <p:sp>
        <p:nvSpPr>
          <p:cNvPr id="23" name="Shape 21"/>
          <p:cNvSpPr/>
          <p:nvPr/>
        </p:nvSpPr>
        <p:spPr>
          <a:xfrm>
            <a:off x="3575304" y="3172968"/>
            <a:ext cx="365760" cy="365760"/>
          </a:xfrm>
          <a:prstGeom prst="ellipse">
            <a:avLst/>
          </a:prstGeom>
          <a:solidFill>
            <a:srgbClr val="4E9AA8"/>
          </a:solidFill>
          <a:ln w="12700">
            <a:solidFill>
              <a:srgbClr val="4E9AA8"/>
            </a:solidFill>
            <a:prstDash val="solid"/>
          </a:ln>
        </p:spPr>
      </p:sp>
      <p:sp>
        <p:nvSpPr>
          <p:cNvPr id="24" name="Text 22"/>
          <p:cNvSpPr txBox="1"/>
          <p:nvPr/>
        </p:nvSpPr>
        <p:spPr>
          <a:xfrm>
            <a:off x="3575304" y="3172968"/>
            <a:ext cx="36576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2</a:t>
            </a:r>
            <a:endParaRPr lang="en-US" sz="1300" dirty="0"/>
          </a:p>
        </p:txBody>
      </p:sp>
      <p:sp>
        <p:nvSpPr>
          <p:cNvPr id="25" name="Text 23"/>
          <p:cNvSpPr txBox="1"/>
          <p:nvPr/>
        </p:nvSpPr>
        <p:spPr>
          <a:xfrm>
            <a:off x="4032504" y="3054096"/>
            <a:ext cx="1737360" cy="603504"/>
          </a:xfrm>
          <a:prstGeom prst="rect">
            <a:avLst/>
          </a:prstGeom>
          <a:noFill/>
          <a:ln/>
        </p:spPr>
        <p:txBody>
          <a:bodyPr wrap="square" lIns="0" tIns="0" rIns="0" bIns="0" rtlCol="0" anchor="ctr"/>
          <a:lstStyle/>
          <a:p>
            <a:pPr indent="0" marL="0">
              <a:buNone/>
            </a:pPr>
            <a:r>
              <a:rPr lang="en-US" sz="1700" b="1" dirty="0">
                <a:solidFill>
                  <a:srgbClr val="10212A"/>
                </a:solidFill>
                <a:latin typeface="Cambria" pitchFamily="34" charset="0"/>
                <a:ea typeface="Cambria" pitchFamily="34" charset="-122"/>
                <a:cs typeface="Cambria" pitchFamily="34" charset="-120"/>
              </a:rPr>
              <a:t>Connect</a:t>
            </a:r>
            <a:endParaRPr lang="en-US" sz="1700" dirty="0"/>
          </a:p>
        </p:txBody>
      </p:sp>
      <p:sp>
        <p:nvSpPr>
          <p:cNvPr id="26" name="Shape 24"/>
          <p:cNvSpPr/>
          <p:nvPr/>
        </p:nvSpPr>
        <p:spPr>
          <a:xfrm>
            <a:off x="6254496" y="3054096"/>
            <a:ext cx="2523744" cy="603504"/>
          </a:xfrm>
          <a:prstGeom prst="roundRect">
            <a:avLst>
              <a:gd name="adj" fmla="val 9091"/>
            </a:avLst>
          </a:prstGeom>
          <a:solidFill>
            <a:srgbClr val="F4F7F8"/>
          </a:solidFill>
          <a:ln w="15875">
            <a:solidFill>
              <a:srgbClr val="E8A33D"/>
            </a:solidFill>
            <a:prstDash val="solid"/>
          </a:ln>
        </p:spPr>
      </p:sp>
      <p:sp>
        <p:nvSpPr>
          <p:cNvPr id="27" name="Shape 25"/>
          <p:cNvSpPr/>
          <p:nvPr/>
        </p:nvSpPr>
        <p:spPr>
          <a:xfrm>
            <a:off x="6419088" y="3172968"/>
            <a:ext cx="365760" cy="365760"/>
          </a:xfrm>
          <a:prstGeom prst="ellipse">
            <a:avLst/>
          </a:prstGeom>
          <a:solidFill>
            <a:srgbClr val="E8A33D"/>
          </a:solidFill>
          <a:ln w="12700">
            <a:solidFill>
              <a:srgbClr val="E8A33D"/>
            </a:solidFill>
            <a:prstDash val="solid"/>
          </a:ln>
        </p:spPr>
      </p:sp>
      <p:sp>
        <p:nvSpPr>
          <p:cNvPr id="28" name="Text 26"/>
          <p:cNvSpPr txBox="1"/>
          <p:nvPr/>
        </p:nvSpPr>
        <p:spPr>
          <a:xfrm>
            <a:off x="6419088" y="3172968"/>
            <a:ext cx="365760" cy="365760"/>
          </a:xfrm>
          <a:prstGeom prst="rect">
            <a:avLst/>
          </a:prstGeom>
          <a:noFill/>
          <a:ln/>
        </p:spPr>
        <p:txBody>
          <a:bodyPr wrap="square" lIns="0" tIns="0" rIns="0" bIns="0" rtlCol="0" anchor="ctr"/>
          <a:lstStyle/>
          <a:p>
            <a:pPr algn="ctr" indent="0" marL="0">
              <a:buNone/>
            </a:pPr>
            <a:r>
              <a:rPr lang="en-US" sz="1300" b="1" dirty="0">
                <a:solidFill>
                  <a:srgbClr val="10212A"/>
                </a:solidFill>
                <a:latin typeface="Calibri" pitchFamily="34" charset="0"/>
                <a:ea typeface="Calibri" pitchFamily="34" charset="-122"/>
                <a:cs typeface="Calibri" pitchFamily="34" charset="-120"/>
              </a:rPr>
              <a:t>3</a:t>
            </a:r>
            <a:endParaRPr lang="en-US" sz="1300" dirty="0"/>
          </a:p>
        </p:txBody>
      </p:sp>
      <p:sp>
        <p:nvSpPr>
          <p:cNvPr id="29" name="Text 27"/>
          <p:cNvSpPr txBox="1"/>
          <p:nvPr/>
        </p:nvSpPr>
        <p:spPr>
          <a:xfrm>
            <a:off x="6876288" y="3054096"/>
            <a:ext cx="1737360" cy="603504"/>
          </a:xfrm>
          <a:prstGeom prst="rect">
            <a:avLst/>
          </a:prstGeom>
          <a:noFill/>
          <a:ln/>
        </p:spPr>
        <p:txBody>
          <a:bodyPr wrap="square" lIns="0" tIns="0" rIns="0" bIns="0" rtlCol="0" anchor="ctr"/>
          <a:lstStyle/>
          <a:p>
            <a:pPr indent="0" marL="0">
              <a:buNone/>
            </a:pPr>
            <a:r>
              <a:rPr lang="en-US" sz="1700" b="1" dirty="0">
                <a:solidFill>
                  <a:srgbClr val="10212A"/>
                </a:solidFill>
                <a:latin typeface="Cambria" pitchFamily="34" charset="0"/>
                <a:ea typeface="Cambria" pitchFamily="34" charset="-122"/>
                <a:cs typeface="Cambria" pitchFamily="34" charset="-120"/>
              </a:rPr>
              <a:t>Rank</a:t>
            </a:r>
            <a:endParaRPr lang="en-US" sz="1700" dirty="0"/>
          </a:p>
        </p:txBody>
      </p:sp>
      <p:sp>
        <p:nvSpPr>
          <p:cNvPr id="30" name="Shape 28"/>
          <p:cNvSpPr/>
          <p:nvPr/>
        </p:nvSpPr>
        <p:spPr>
          <a:xfrm>
            <a:off x="9098280" y="3054096"/>
            <a:ext cx="2523744" cy="603504"/>
          </a:xfrm>
          <a:prstGeom prst="roundRect">
            <a:avLst>
              <a:gd name="adj" fmla="val 9091"/>
            </a:avLst>
          </a:prstGeom>
          <a:solidFill>
            <a:srgbClr val="F4F7F8"/>
          </a:solidFill>
          <a:ln w="15875">
            <a:solidFill>
              <a:srgbClr val="D64545"/>
            </a:solidFill>
            <a:prstDash val="solid"/>
          </a:ln>
        </p:spPr>
      </p:sp>
      <p:sp>
        <p:nvSpPr>
          <p:cNvPr id="31" name="Shape 29"/>
          <p:cNvSpPr/>
          <p:nvPr/>
        </p:nvSpPr>
        <p:spPr>
          <a:xfrm>
            <a:off x="9262872" y="3172968"/>
            <a:ext cx="365760" cy="365760"/>
          </a:xfrm>
          <a:prstGeom prst="ellipse">
            <a:avLst/>
          </a:prstGeom>
          <a:solidFill>
            <a:srgbClr val="D64545"/>
          </a:solidFill>
          <a:ln w="12700">
            <a:solidFill>
              <a:srgbClr val="D64545"/>
            </a:solidFill>
            <a:prstDash val="solid"/>
          </a:ln>
        </p:spPr>
      </p:sp>
      <p:sp>
        <p:nvSpPr>
          <p:cNvPr id="32" name="Text 30"/>
          <p:cNvSpPr txBox="1"/>
          <p:nvPr/>
        </p:nvSpPr>
        <p:spPr>
          <a:xfrm>
            <a:off x="9262872" y="3172968"/>
            <a:ext cx="36576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4</a:t>
            </a:r>
            <a:endParaRPr lang="en-US" sz="1300" dirty="0"/>
          </a:p>
        </p:txBody>
      </p:sp>
      <p:sp>
        <p:nvSpPr>
          <p:cNvPr id="33" name="Text 31"/>
          <p:cNvSpPr txBox="1"/>
          <p:nvPr/>
        </p:nvSpPr>
        <p:spPr>
          <a:xfrm>
            <a:off x="9720072" y="3054096"/>
            <a:ext cx="1737360" cy="603504"/>
          </a:xfrm>
          <a:prstGeom prst="rect">
            <a:avLst/>
          </a:prstGeom>
          <a:noFill/>
          <a:ln/>
        </p:spPr>
        <p:txBody>
          <a:bodyPr wrap="square" lIns="0" tIns="0" rIns="0" bIns="0" rtlCol="0" anchor="ctr"/>
          <a:lstStyle/>
          <a:p>
            <a:pPr indent="0" marL="0">
              <a:buNone/>
            </a:pPr>
            <a:r>
              <a:rPr lang="en-US" sz="1700" b="1" dirty="0">
                <a:solidFill>
                  <a:srgbClr val="10212A"/>
                </a:solidFill>
                <a:latin typeface="Cambria" pitchFamily="34" charset="0"/>
                <a:ea typeface="Cambria" pitchFamily="34" charset="-122"/>
                <a:cs typeface="Cambria" pitchFamily="34" charset="-120"/>
              </a:rPr>
              <a:t>Brief</a:t>
            </a:r>
            <a:endParaRPr lang="en-US" sz="1700" dirty="0"/>
          </a:p>
        </p:txBody>
      </p:sp>
      <p:sp>
        <p:nvSpPr>
          <p:cNvPr id="34" name="Text 32"/>
          <p:cNvSpPr txBox="1"/>
          <p:nvPr/>
        </p:nvSpPr>
        <p:spPr>
          <a:xfrm>
            <a:off x="1600200" y="3712464"/>
            <a:ext cx="457200" cy="274320"/>
          </a:xfrm>
          <a:prstGeom prst="rect">
            <a:avLst/>
          </a:prstGeom>
          <a:noFill/>
          <a:ln/>
        </p:spPr>
        <p:txBody>
          <a:bodyPr wrap="square" lIns="0" tIns="0" rIns="0" bIns="0" rtlCol="0" anchor="ctr"/>
          <a:lstStyle/>
          <a:p>
            <a:pPr algn="ctr" indent="0" marL="0">
              <a:buNone/>
            </a:pPr>
            <a:r>
              <a:rPr lang="en-US" sz="1800" b="1" dirty="0">
                <a:solidFill>
                  <a:srgbClr val="B5781F"/>
                </a:solidFill>
                <a:latin typeface="Calibri" pitchFamily="34" charset="0"/>
                <a:ea typeface="Calibri" pitchFamily="34" charset="-122"/>
                <a:cs typeface="Calibri" pitchFamily="34" charset="-120"/>
              </a:rPr>
              <a:t>↑</a:t>
            </a:r>
            <a:endParaRPr lang="en-US" sz="1800" dirty="0"/>
          </a:p>
        </p:txBody>
      </p:sp>
      <p:sp>
        <p:nvSpPr>
          <p:cNvPr id="35" name="Shape 33"/>
          <p:cNvSpPr/>
          <p:nvPr/>
        </p:nvSpPr>
        <p:spPr>
          <a:xfrm>
            <a:off x="566928" y="4041648"/>
            <a:ext cx="2523744" cy="1051560"/>
          </a:xfrm>
          <a:prstGeom prst="roundRect">
            <a:avLst>
              <a:gd name="adj" fmla="val 5217"/>
            </a:avLst>
          </a:prstGeom>
          <a:solidFill>
            <a:srgbClr val="FFFFFF"/>
          </a:solidFill>
          <a:ln w="15875">
            <a:solidFill>
              <a:srgbClr val="DDE4E4"/>
            </a:solidFill>
            <a:prstDash val="solid"/>
          </a:ln>
        </p:spPr>
      </p:sp>
      <p:sp>
        <p:nvSpPr>
          <p:cNvPr id="36" name="Text 34"/>
          <p:cNvSpPr txBox="1"/>
          <p:nvPr/>
        </p:nvSpPr>
        <p:spPr>
          <a:xfrm>
            <a:off x="768096" y="4041648"/>
            <a:ext cx="2121408" cy="1051560"/>
          </a:xfrm>
          <a:prstGeom prst="rect">
            <a:avLst/>
          </a:prstGeom>
          <a:noFill/>
          <a:ln/>
        </p:spPr>
        <p:txBody>
          <a:bodyPr wrap="square" lIns="0" tIns="0" rIns="0" bIns="0" rtlCol="0" anchor="ctr"/>
          <a:lstStyle/>
          <a:p>
            <a:pPr indent="0" marL="0">
              <a:lnSpc>
                <a:spcPts val="1600"/>
              </a:lnSpc>
              <a:buNone/>
            </a:pPr>
            <a:r>
              <a:rPr lang="en-US" sz="1250" dirty="0">
                <a:solidFill>
                  <a:srgbClr val="35474F"/>
                </a:solidFill>
                <a:latin typeface="Calibri" pitchFamily="34" charset="0"/>
                <a:ea typeface="Calibri" pitchFamily="34" charset="-122"/>
                <a:cs typeface="Calibri" pitchFamily="34" charset="-120"/>
              </a:rPr>
              <a:t>Granite reads written intelligence reports and pulls out the facts.</a:t>
            </a:r>
            <a:endParaRPr lang="en-US" sz="1250" dirty="0"/>
          </a:p>
        </p:txBody>
      </p:sp>
      <p:sp>
        <p:nvSpPr>
          <p:cNvPr id="37" name="Text 35"/>
          <p:cNvSpPr txBox="1"/>
          <p:nvPr/>
        </p:nvSpPr>
        <p:spPr>
          <a:xfrm>
            <a:off x="4443984" y="3712464"/>
            <a:ext cx="457200" cy="274320"/>
          </a:xfrm>
          <a:prstGeom prst="rect">
            <a:avLst/>
          </a:prstGeom>
          <a:noFill/>
          <a:ln/>
        </p:spPr>
        <p:txBody>
          <a:bodyPr wrap="square" lIns="0" tIns="0" rIns="0" bIns="0" rtlCol="0" anchor="ctr"/>
          <a:lstStyle/>
          <a:p>
            <a:pPr algn="ctr" indent="0" marL="0">
              <a:buNone/>
            </a:pPr>
            <a:r>
              <a:rPr lang="en-US" sz="1800" b="1" dirty="0">
                <a:solidFill>
                  <a:srgbClr val="B5781F"/>
                </a:solidFill>
                <a:latin typeface="Calibri" pitchFamily="34" charset="0"/>
                <a:ea typeface="Calibri" pitchFamily="34" charset="-122"/>
                <a:cs typeface="Calibri" pitchFamily="34" charset="-120"/>
              </a:rPr>
              <a:t>↑</a:t>
            </a:r>
            <a:endParaRPr lang="en-US" sz="1800" dirty="0"/>
          </a:p>
        </p:txBody>
      </p:sp>
      <p:sp>
        <p:nvSpPr>
          <p:cNvPr id="38" name="Shape 36"/>
          <p:cNvSpPr/>
          <p:nvPr/>
        </p:nvSpPr>
        <p:spPr>
          <a:xfrm>
            <a:off x="3410712" y="4041648"/>
            <a:ext cx="2523744" cy="1051560"/>
          </a:xfrm>
          <a:prstGeom prst="roundRect">
            <a:avLst>
              <a:gd name="adj" fmla="val 5217"/>
            </a:avLst>
          </a:prstGeom>
          <a:solidFill>
            <a:srgbClr val="FFFFFF"/>
          </a:solidFill>
          <a:ln w="15875">
            <a:solidFill>
              <a:srgbClr val="DDE4E4"/>
            </a:solidFill>
            <a:prstDash val="solid"/>
          </a:ln>
        </p:spPr>
      </p:sp>
      <p:sp>
        <p:nvSpPr>
          <p:cNvPr id="39" name="Text 37"/>
          <p:cNvSpPr txBox="1"/>
          <p:nvPr/>
        </p:nvSpPr>
        <p:spPr>
          <a:xfrm>
            <a:off x="3611880" y="4041648"/>
            <a:ext cx="2121408" cy="1051560"/>
          </a:xfrm>
          <a:prstGeom prst="rect">
            <a:avLst/>
          </a:prstGeom>
          <a:noFill/>
          <a:ln/>
        </p:spPr>
        <p:txBody>
          <a:bodyPr wrap="square" lIns="0" tIns="0" rIns="0" bIns="0" rtlCol="0" anchor="ctr"/>
          <a:lstStyle/>
          <a:p>
            <a:pPr indent="0" marL="0">
              <a:lnSpc>
                <a:spcPts val="1600"/>
              </a:lnSpc>
              <a:buNone/>
            </a:pPr>
            <a:r>
              <a:rPr lang="en-US" sz="1250" dirty="0">
                <a:solidFill>
                  <a:srgbClr val="35474F"/>
                </a:solidFill>
                <a:latin typeface="Calibri" pitchFamily="34" charset="0"/>
                <a:ea typeface="Calibri" pitchFamily="34" charset="-122"/>
                <a:cs typeface="Calibri" pitchFamily="34" charset="-120"/>
              </a:rPr>
              <a:t>Orchestrate runs the four steps in order and handles failures.</a:t>
            </a:r>
            <a:endParaRPr lang="en-US" sz="1250" dirty="0"/>
          </a:p>
        </p:txBody>
      </p:sp>
      <p:sp>
        <p:nvSpPr>
          <p:cNvPr id="40" name="Text 38"/>
          <p:cNvSpPr txBox="1"/>
          <p:nvPr/>
        </p:nvSpPr>
        <p:spPr>
          <a:xfrm>
            <a:off x="7287768" y="3712464"/>
            <a:ext cx="457200" cy="274320"/>
          </a:xfrm>
          <a:prstGeom prst="rect">
            <a:avLst/>
          </a:prstGeom>
          <a:noFill/>
          <a:ln/>
        </p:spPr>
        <p:txBody>
          <a:bodyPr wrap="square" lIns="0" tIns="0" rIns="0" bIns="0" rtlCol="0" anchor="ctr"/>
          <a:lstStyle/>
          <a:p>
            <a:pPr algn="ctr" indent="0" marL="0">
              <a:buNone/>
            </a:pPr>
            <a:r>
              <a:rPr lang="en-US" sz="1800" b="1" dirty="0">
                <a:solidFill>
                  <a:srgbClr val="B5781F"/>
                </a:solidFill>
                <a:latin typeface="Calibri" pitchFamily="34" charset="0"/>
                <a:ea typeface="Calibri" pitchFamily="34" charset="-122"/>
                <a:cs typeface="Calibri" pitchFamily="34" charset="-120"/>
              </a:rPr>
              <a:t>↑</a:t>
            </a:r>
            <a:endParaRPr lang="en-US" sz="1800" dirty="0"/>
          </a:p>
        </p:txBody>
      </p:sp>
      <p:sp>
        <p:nvSpPr>
          <p:cNvPr id="41" name="Shape 39"/>
          <p:cNvSpPr/>
          <p:nvPr/>
        </p:nvSpPr>
        <p:spPr>
          <a:xfrm>
            <a:off x="6254496" y="4041648"/>
            <a:ext cx="2523744" cy="1051560"/>
          </a:xfrm>
          <a:prstGeom prst="roundRect">
            <a:avLst>
              <a:gd name="adj" fmla="val 5217"/>
            </a:avLst>
          </a:prstGeom>
          <a:solidFill>
            <a:srgbClr val="FFFFFF"/>
          </a:solidFill>
          <a:ln w="15875">
            <a:solidFill>
              <a:srgbClr val="DDE4E4"/>
            </a:solidFill>
            <a:prstDash val="solid"/>
          </a:ln>
        </p:spPr>
      </p:sp>
      <p:sp>
        <p:nvSpPr>
          <p:cNvPr id="42" name="Text 40"/>
          <p:cNvSpPr txBox="1"/>
          <p:nvPr/>
        </p:nvSpPr>
        <p:spPr>
          <a:xfrm>
            <a:off x="6455664" y="4041648"/>
            <a:ext cx="2121408" cy="1051560"/>
          </a:xfrm>
          <a:prstGeom prst="rect">
            <a:avLst/>
          </a:prstGeom>
          <a:noFill/>
          <a:ln/>
        </p:spPr>
        <p:txBody>
          <a:bodyPr wrap="square" lIns="0" tIns="0" rIns="0" bIns="0" rtlCol="0" anchor="ctr"/>
          <a:lstStyle/>
          <a:p>
            <a:pPr indent="0" marL="0">
              <a:lnSpc>
                <a:spcPts val="1600"/>
              </a:lnSpc>
              <a:buNone/>
            </a:pPr>
            <a:r>
              <a:rPr lang="en-US" sz="1250" dirty="0">
                <a:solidFill>
                  <a:srgbClr val="35474F"/>
                </a:solidFill>
                <a:latin typeface="Calibri" pitchFamily="34" charset="0"/>
                <a:ea typeface="Calibri" pitchFamily="34" charset="-122"/>
                <a:cs typeface="Calibri" pitchFamily="34" charset="-120"/>
              </a:rPr>
              <a:t>Granite suggests matches for attacker behaviour we have not seen before.</a:t>
            </a:r>
            <a:endParaRPr lang="en-US" sz="1250" dirty="0"/>
          </a:p>
        </p:txBody>
      </p:sp>
      <p:sp>
        <p:nvSpPr>
          <p:cNvPr id="43" name="Text 41"/>
          <p:cNvSpPr txBox="1"/>
          <p:nvPr/>
        </p:nvSpPr>
        <p:spPr>
          <a:xfrm>
            <a:off x="10131552" y="3712464"/>
            <a:ext cx="457200" cy="274320"/>
          </a:xfrm>
          <a:prstGeom prst="rect">
            <a:avLst/>
          </a:prstGeom>
          <a:noFill/>
          <a:ln/>
        </p:spPr>
        <p:txBody>
          <a:bodyPr wrap="square" lIns="0" tIns="0" rIns="0" bIns="0" rtlCol="0" anchor="ctr"/>
          <a:lstStyle/>
          <a:p>
            <a:pPr algn="ctr" indent="0" marL="0">
              <a:buNone/>
            </a:pPr>
            <a:r>
              <a:rPr lang="en-US" sz="1800" b="1" dirty="0">
                <a:solidFill>
                  <a:srgbClr val="B5781F"/>
                </a:solidFill>
                <a:latin typeface="Calibri" pitchFamily="34" charset="0"/>
                <a:ea typeface="Calibri" pitchFamily="34" charset="-122"/>
                <a:cs typeface="Calibri" pitchFamily="34" charset="-120"/>
              </a:rPr>
              <a:t>↑</a:t>
            </a:r>
            <a:endParaRPr lang="en-US" sz="1800" dirty="0"/>
          </a:p>
        </p:txBody>
      </p:sp>
      <p:sp>
        <p:nvSpPr>
          <p:cNvPr id="44" name="Shape 42"/>
          <p:cNvSpPr/>
          <p:nvPr/>
        </p:nvSpPr>
        <p:spPr>
          <a:xfrm>
            <a:off x="9098280" y="4041648"/>
            <a:ext cx="2523744" cy="1051560"/>
          </a:xfrm>
          <a:prstGeom prst="roundRect">
            <a:avLst>
              <a:gd name="adj" fmla="val 5217"/>
            </a:avLst>
          </a:prstGeom>
          <a:solidFill>
            <a:srgbClr val="FFFFFF"/>
          </a:solidFill>
          <a:ln w="15875">
            <a:solidFill>
              <a:srgbClr val="DDE4E4"/>
            </a:solidFill>
            <a:prstDash val="solid"/>
          </a:ln>
        </p:spPr>
      </p:sp>
      <p:sp>
        <p:nvSpPr>
          <p:cNvPr id="45" name="Text 43"/>
          <p:cNvSpPr txBox="1"/>
          <p:nvPr/>
        </p:nvSpPr>
        <p:spPr>
          <a:xfrm>
            <a:off x="9299448" y="4041648"/>
            <a:ext cx="2121408" cy="1051560"/>
          </a:xfrm>
          <a:prstGeom prst="rect">
            <a:avLst/>
          </a:prstGeom>
          <a:noFill/>
          <a:ln/>
        </p:spPr>
        <p:txBody>
          <a:bodyPr wrap="square" lIns="0" tIns="0" rIns="0" bIns="0" rtlCol="0" anchor="ctr"/>
          <a:lstStyle/>
          <a:p>
            <a:pPr indent="0" marL="0">
              <a:lnSpc>
                <a:spcPts val="1600"/>
              </a:lnSpc>
              <a:buNone/>
            </a:pPr>
            <a:r>
              <a:rPr lang="en-US" sz="1250" dirty="0">
                <a:solidFill>
                  <a:srgbClr val="35474F"/>
                </a:solidFill>
                <a:latin typeface="Calibri" pitchFamily="34" charset="0"/>
                <a:ea typeface="Calibri" pitchFamily="34" charset="-122"/>
                <a:cs typeface="Calibri" pitchFamily="34" charset="-120"/>
              </a:rPr>
              <a:t>Granite writes the brief. Guardian checks every claim against the evidence.</a:t>
            </a:r>
            <a:endParaRPr lang="en-US" sz="1250" dirty="0"/>
          </a:p>
        </p:txBody>
      </p:sp>
      <p:sp>
        <p:nvSpPr>
          <p:cNvPr id="46" name="Shape 44"/>
          <p:cNvSpPr/>
          <p:nvPr/>
        </p:nvSpPr>
        <p:spPr>
          <a:xfrm>
            <a:off x="566928" y="5193792"/>
            <a:ext cx="2377440" cy="329184"/>
          </a:xfrm>
          <a:prstGeom prst="roundRect">
            <a:avLst>
              <a:gd name="adj" fmla="val 138889"/>
            </a:avLst>
          </a:prstGeom>
          <a:solidFill>
            <a:srgbClr val="E8A33D"/>
          </a:solidFill>
          <a:ln w="12700">
            <a:solidFill>
              <a:srgbClr val="E8A33D"/>
            </a:solidFill>
            <a:prstDash val="solid"/>
          </a:ln>
        </p:spPr>
      </p:sp>
      <p:sp>
        <p:nvSpPr>
          <p:cNvPr id="47" name="Text 45"/>
          <p:cNvSpPr txBox="1"/>
          <p:nvPr/>
        </p:nvSpPr>
        <p:spPr>
          <a:xfrm>
            <a:off x="566928" y="5193792"/>
            <a:ext cx="2377440" cy="329184"/>
          </a:xfrm>
          <a:prstGeom prst="rect">
            <a:avLst/>
          </a:prstGeom>
          <a:noFill/>
          <a:ln/>
        </p:spPr>
        <p:txBody>
          <a:bodyPr wrap="square" lIns="0" tIns="0" rIns="0" bIns="0" rtlCol="0" anchor="ctr"/>
          <a:lstStyle/>
          <a:p>
            <a:pPr algn="ctr" indent="0" marL="0">
              <a:buNone/>
            </a:pPr>
            <a:r>
              <a:rPr lang="en-US" sz="1250" b="1" dirty="0">
                <a:solidFill>
                  <a:srgbClr val="10212A"/>
                </a:solidFill>
                <a:latin typeface="Calibri" pitchFamily="34" charset="0"/>
                <a:ea typeface="Calibri" pitchFamily="34" charset="-122"/>
                <a:cs typeface="Calibri" pitchFamily="34" charset="-120"/>
              </a:rPr>
              <a:t>watsonx — running it</a:t>
            </a:r>
            <a:endParaRPr lang="en-US" sz="1250" dirty="0"/>
          </a:p>
        </p:txBody>
      </p:sp>
      <p:sp>
        <p:nvSpPr>
          <p:cNvPr id="48" name="Shape 46"/>
          <p:cNvSpPr/>
          <p:nvPr/>
        </p:nvSpPr>
        <p:spPr>
          <a:xfrm>
            <a:off x="566928" y="5650992"/>
            <a:ext cx="11055096" cy="713232"/>
          </a:xfrm>
          <a:prstGeom prst="roundRect">
            <a:avLst>
              <a:gd name="adj" fmla="val 7692"/>
            </a:avLst>
          </a:prstGeom>
          <a:solidFill>
            <a:srgbClr val="EAF3F4"/>
          </a:solidFill>
          <a:ln w="15875">
            <a:solidFill>
              <a:srgbClr val="3E8695"/>
            </a:solidFill>
            <a:prstDash val="solid"/>
          </a:ln>
        </p:spPr>
      </p:sp>
      <p:sp>
        <p:nvSpPr>
          <p:cNvPr id="49" name="Text 47"/>
          <p:cNvSpPr txBox="1"/>
          <p:nvPr/>
        </p:nvSpPr>
        <p:spPr>
          <a:xfrm>
            <a:off x="978408" y="5650992"/>
            <a:ext cx="10232136" cy="713232"/>
          </a:xfrm>
          <a:prstGeom prst="rect">
            <a:avLst/>
          </a:prstGeom>
          <a:noFill/>
          <a:ln/>
        </p:spPr>
        <p:txBody>
          <a:bodyPr wrap="square" lIns="0" tIns="0" rIns="0" bIns="0" rtlCol="0" anchor="ctr"/>
          <a:lstStyle/>
          <a:p>
            <a:pPr indent="0" marL="0">
              <a:lnSpc>
                <a:spcPts val="2400"/>
              </a:lnSpc>
              <a:buNone/>
            </a:pPr>
            <a:r>
              <a:rPr lang="en-US" sz="1700" b="1" dirty="0">
                <a:solidFill>
                  <a:srgbClr val="10212A"/>
                </a:solidFill>
                <a:latin typeface="Cambria" pitchFamily="34" charset="0"/>
                <a:ea typeface="Cambria" pitchFamily="34" charset="-122"/>
                <a:cs typeface="Cambria" pitchFamily="34" charset="-120"/>
              </a:rPr>
              <a:t>AI never sets the priority. It reads reports in, and writes the brief out. The ranking is fixed rules.</a:t>
            </a:r>
            <a:endParaRPr lang="en-US" sz="17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66928" y="237744"/>
            <a:ext cx="11055096" cy="256032"/>
          </a:xfrm>
          <a:prstGeom prst="rect">
            <a:avLst/>
          </a:prstGeom>
          <a:noFill/>
          <a:ln/>
        </p:spPr>
        <p:txBody>
          <a:bodyPr wrap="square" lIns="0" tIns="0" rIns="0" bIns="0" rtlCol="0" anchor="ctr"/>
          <a:lstStyle/>
          <a:p>
            <a:pPr indent="0" marL="0">
              <a:buNone/>
            </a:pPr>
            <a:r>
              <a:rPr lang="en-US" sz="1300" b="1" spc="140" kern="0" dirty="0">
                <a:solidFill>
                  <a:srgbClr val="3E8695"/>
                </a:solidFill>
                <a:latin typeface="Calibri" pitchFamily="34" charset="0"/>
                <a:ea typeface="Calibri" pitchFamily="34" charset="-122"/>
                <a:cs typeface="Calibri" pitchFamily="34" charset="-120"/>
              </a:rPr>
              <a:t>IMPACT</a:t>
            </a:r>
            <a:endParaRPr lang="en-US" sz="1300" dirty="0"/>
          </a:p>
        </p:txBody>
      </p:sp>
      <p:sp>
        <p:nvSpPr>
          <p:cNvPr id="3" name="Text 1"/>
          <p:cNvSpPr txBox="1"/>
          <p:nvPr/>
        </p:nvSpPr>
        <p:spPr>
          <a:xfrm>
            <a:off x="566928" y="457200"/>
            <a:ext cx="11055096" cy="713232"/>
          </a:xfrm>
          <a:prstGeom prst="rect">
            <a:avLst/>
          </a:prstGeom>
          <a:noFill/>
          <a:ln/>
        </p:spPr>
        <p:txBody>
          <a:bodyPr wrap="square" lIns="0" tIns="0" rIns="0" bIns="0" rtlCol="0" anchor="ctr"/>
          <a:lstStyle/>
          <a:p>
            <a:pPr indent="0" marL="0">
              <a:buNone/>
            </a:pPr>
            <a:r>
              <a:rPr lang="en-US" sz="3600" b="1" dirty="0">
                <a:solidFill>
                  <a:srgbClr val="10212A"/>
                </a:solidFill>
                <a:latin typeface="Cambria" pitchFamily="34" charset="0"/>
                <a:ea typeface="Cambria" pitchFamily="34" charset="-122"/>
                <a:cs typeface="Cambria" pitchFamily="34" charset="-120"/>
              </a:rPr>
              <a:t>Where this goes next</a:t>
            </a:r>
            <a:endParaRPr lang="en-US" sz="3600" dirty="0"/>
          </a:p>
        </p:txBody>
      </p:sp>
      <p:sp>
        <p:nvSpPr>
          <p:cNvPr id="4" name="Shape 2"/>
          <p:cNvSpPr/>
          <p:nvPr/>
        </p:nvSpPr>
        <p:spPr>
          <a:xfrm>
            <a:off x="566928" y="1325880"/>
            <a:ext cx="3380232" cy="2240280"/>
          </a:xfrm>
          <a:prstGeom prst="roundRect">
            <a:avLst>
              <a:gd name="adj" fmla="val 2449"/>
            </a:avLst>
          </a:prstGeom>
          <a:solidFill>
            <a:srgbClr val="FFFFFF"/>
          </a:solidFill>
          <a:ln w="15875">
            <a:solidFill>
              <a:srgbClr val="DDE4E4"/>
            </a:solidFill>
            <a:prstDash val="solid"/>
          </a:ln>
        </p:spPr>
      </p:sp>
      <p:sp>
        <p:nvSpPr>
          <p:cNvPr id="5" name="Shape 3"/>
          <p:cNvSpPr/>
          <p:nvPr/>
        </p:nvSpPr>
        <p:spPr>
          <a:xfrm>
            <a:off x="859536" y="1554480"/>
            <a:ext cx="1051560" cy="292608"/>
          </a:xfrm>
          <a:prstGeom prst="roundRect">
            <a:avLst>
              <a:gd name="adj" fmla="val 156250"/>
            </a:avLst>
          </a:prstGeom>
          <a:solidFill>
            <a:srgbClr val="4E9AA8"/>
          </a:solidFill>
          <a:ln w="12700">
            <a:solidFill>
              <a:srgbClr val="4E9AA8"/>
            </a:solidFill>
            <a:prstDash val="solid"/>
          </a:ln>
        </p:spPr>
      </p:sp>
      <p:sp>
        <p:nvSpPr>
          <p:cNvPr id="6" name="Text 4"/>
          <p:cNvSpPr txBox="1"/>
          <p:nvPr/>
        </p:nvSpPr>
        <p:spPr>
          <a:xfrm>
            <a:off x="859536" y="1554480"/>
            <a:ext cx="1051560" cy="292608"/>
          </a:xfrm>
          <a:prstGeom prst="rect">
            <a:avLst/>
          </a:prstGeom>
          <a:noFill/>
          <a:ln/>
        </p:spPr>
        <p:txBody>
          <a:bodyPr wrap="square" lIns="0" tIns="0" rIns="0" bIns="0" rtlCol="0" anchor="ctr"/>
          <a:lstStyle/>
          <a:p>
            <a:pPr algn="ctr" indent="0" marL="0">
              <a:buNone/>
            </a:pPr>
            <a:r>
              <a:rPr lang="en-US" sz="1150" b="1" dirty="0">
                <a:solidFill>
                  <a:srgbClr val="FFFFFF"/>
                </a:solidFill>
                <a:latin typeface="Calibri" pitchFamily="34" charset="0"/>
                <a:ea typeface="Calibri" pitchFamily="34" charset="-122"/>
                <a:cs typeface="Calibri" pitchFamily="34" charset="-120"/>
              </a:rPr>
              <a:t>NOW</a:t>
            </a:r>
            <a:endParaRPr lang="en-US" sz="1150" dirty="0"/>
          </a:p>
        </p:txBody>
      </p:sp>
      <p:sp>
        <p:nvSpPr>
          <p:cNvPr id="7" name="Text 5"/>
          <p:cNvSpPr txBox="1"/>
          <p:nvPr/>
        </p:nvSpPr>
        <p:spPr>
          <a:xfrm>
            <a:off x="859536" y="1975104"/>
            <a:ext cx="2795016" cy="365760"/>
          </a:xfrm>
          <a:prstGeom prst="rect">
            <a:avLst/>
          </a:prstGeom>
          <a:noFill/>
          <a:ln/>
        </p:spPr>
        <p:txBody>
          <a:bodyPr wrap="square" lIns="0" tIns="0" rIns="0" bIns="0" rtlCol="0" anchor="ctr"/>
          <a:lstStyle/>
          <a:p>
            <a:pPr indent="0" marL="0">
              <a:buNone/>
            </a:pPr>
            <a:r>
              <a:rPr lang="en-US" sz="2000" b="1" dirty="0">
                <a:solidFill>
                  <a:srgbClr val="10212A"/>
                </a:solidFill>
                <a:latin typeface="Cambria" pitchFamily="34" charset="0"/>
                <a:ea typeface="Cambria" pitchFamily="34" charset="-122"/>
                <a:cs typeface="Cambria" pitchFamily="34" charset="-120"/>
              </a:rPr>
              <a:t>Defence watch floor</a:t>
            </a:r>
            <a:endParaRPr lang="en-US" sz="2000" dirty="0"/>
          </a:p>
        </p:txBody>
      </p:sp>
      <p:sp>
        <p:nvSpPr>
          <p:cNvPr id="8" name="Text 6"/>
          <p:cNvSpPr txBox="1"/>
          <p:nvPr/>
        </p:nvSpPr>
        <p:spPr>
          <a:xfrm>
            <a:off x="859536" y="2395728"/>
            <a:ext cx="2795016" cy="1005840"/>
          </a:xfrm>
          <a:prstGeom prst="rect">
            <a:avLst/>
          </a:prstGeom>
          <a:noFill/>
          <a:ln/>
        </p:spPr>
        <p:txBody>
          <a:bodyPr wrap="square" lIns="0" tIns="0" rIns="0" bIns="0" rtlCol="0" anchor="ctr"/>
          <a:lstStyle/>
          <a:p>
            <a:pPr indent="0" marL="0">
              <a:lnSpc>
                <a:spcPts val="1900"/>
              </a:lnSpc>
              <a:buNone/>
            </a:pPr>
            <a:r>
              <a:rPr lang="en-US" sz="1400" dirty="0">
                <a:solidFill>
                  <a:srgbClr val="35474F"/>
                </a:solidFill>
                <a:latin typeface="Calibri" pitchFamily="34" charset="0"/>
                <a:ea typeface="Calibri" pitchFamily="34" charset="-122"/>
                <a:cs typeface="Calibri" pitchFamily="34" charset="-120"/>
              </a:rPr>
              <a:t>Sits next to the systems a unit already has. Nothing is replaced.</a:t>
            </a:r>
            <a:endParaRPr lang="en-US" sz="1400" dirty="0"/>
          </a:p>
        </p:txBody>
      </p:sp>
      <p:sp>
        <p:nvSpPr>
          <p:cNvPr id="9" name="Text 7"/>
          <p:cNvSpPr txBox="1"/>
          <p:nvPr/>
        </p:nvSpPr>
        <p:spPr>
          <a:xfrm>
            <a:off x="3947160" y="2286000"/>
            <a:ext cx="457200" cy="274320"/>
          </a:xfrm>
          <a:prstGeom prst="rect">
            <a:avLst/>
          </a:prstGeom>
          <a:noFill/>
          <a:ln/>
        </p:spPr>
        <p:txBody>
          <a:bodyPr wrap="square" lIns="0" tIns="0" rIns="0" bIns="0" rtlCol="0" anchor="ctr"/>
          <a:lstStyle/>
          <a:p>
            <a:pPr algn="ctr" indent="0" marL="0">
              <a:buNone/>
            </a:pPr>
            <a:r>
              <a:rPr lang="en-US" sz="2000" b="1" dirty="0">
                <a:solidFill>
                  <a:srgbClr val="B9C6C6"/>
                </a:solidFill>
                <a:latin typeface="Calibri" pitchFamily="34" charset="0"/>
                <a:ea typeface="Calibri" pitchFamily="34" charset="-122"/>
                <a:cs typeface="Calibri" pitchFamily="34" charset="-120"/>
              </a:rPr>
              <a:t>→</a:t>
            </a:r>
            <a:endParaRPr lang="en-US" sz="2000" dirty="0"/>
          </a:p>
        </p:txBody>
      </p:sp>
      <p:sp>
        <p:nvSpPr>
          <p:cNvPr id="10" name="Shape 8"/>
          <p:cNvSpPr/>
          <p:nvPr/>
        </p:nvSpPr>
        <p:spPr>
          <a:xfrm>
            <a:off x="4404360" y="1325880"/>
            <a:ext cx="3380232" cy="2240280"/>
          </a:xfrm>
          <a:prstGeom prst="roundRect">
            <a:avLst>
              <a:gd name="adj" fmla="val 2449"/>
            </a:avLst>
          </a:prstGeom>
          <a:solidFill>
            <a:srgbClr val="FFFFFF"/>
          </a:solidFill>
          <a:ln w="15875">
            <a:solidFill>
              <a:srgbClr val="DDE4E4"/>
            </a:solidFill>
            <a:prstDash val="solid"/>
          </a:ln>
        </p:spPr>
      </p:sp>
      <p:sp>
        <p:nvSpPr>
          <p:cNvPr id="11" name="Shape 9"/>
          <p:cNvSpPr/>
          <p:nvPr/>
        </p:nvSpPr>
        <p:spPr>
          <a:xfrm>
            <a:off x="4696968" y="1554480"/>
            <a:ext cx="1051560" cy="292608"/>
          </a:xfrm>
          <a:prstGeom prst="roundRect">
            <a:avLst>
              <a:gd name="adj" fmla="val 156250"/>
            </a:avLst>
          </a:prstGeom>
          <a:solidFill>
            <a:srgbClr val="E8A33D"/>
          </a:solidFill>
          <a:ln w="12700">
            <a:solidFill>
              <a:srgbClr val="E8A33D"/>
            </a:solidFill>
            <a:prstDash val="solid"/>
          </a:ln>
        </p:spPr>
      </p:sp>
      <p:sp>
        <p:nvSpPr>
          <p:cNvPr id="12" name="Text 10"/>
          <p:cNvSpPr txBox="1"/>
          <p:nvPr/>
        </p:nvSpPr>
        <p:spPr>
          <a:xfrm>
            <a:off x="4696968" y="1554480"/>
            <a:ext cx="1051560" cy="292608"/>
          </a:xfrm>
          <a:prstGeom prst="rect">
            <a:avLst/>
          </a:prstGeom>
          <a:noFill/>
          <a:ln/>
        </p:spPr>
        <p:txBody>
          <a:bodyPr wrap="square" lIns="0" tIns="0" rIns="0" bIns="0" rtlCol="0" anchor="ctr"/>
          <a:lstStyle/>
          <a:p>
            <a:pPr algn="ctr" indent="0" marL="0">
              <a:buNone/>
            </a:pPr>
            <a:r>
              <a:rPr lang="en-US" sz="1150" b="1" dirty="0">
                <a:solidFill>
                  <a:srgbClr val="10212A"/>
                </a:solidFill>
                <a:latin typeface="Calibri" pitchFamily="34" charset="0"/>
                <a:ea typeface="Calibri" pitchFamily="34" charset="-122"/>
                <a:cs typeface="Calibri" pitchFamily="34" charset="-120"/>
              </a:rPr>
              <a:t>NEXT</a:t>
            </a:r>
            <a:endParaRPr lang="en-US" sz="1150" dirty="0"/>
          </a:p>
        </p:txBody>
      </p:sp>
      <p:sp>
        <p:nvSpPr>
          <p:cNvPr id="13" name="Text 11"/>
          <p:cNvSpPr txBox="1"/>
          <p:nvPr/>
        </p:nvSpPr>
        <p:spPr>
          <a:xfrm>
            <a:off x="4696968" y="1975104"/>
            <a:ext cx="2795016" cy="365760"/>
          </a:xfrm>
          <a:prstGeom prst="rect">
            <a:avLst/>
          </a:prstGeom>
          <a:noFill/>
          <a:ln/>
        </p:spPr>
        <p:txBody>
          <a:bodyPr wrap="square" lIns="0" tIns="0" rIns="0" bIns="0" rtlCol="0" anchor="ctr"/>
          <a:lstStyle/>
          <a:p>
            <a:pPr indent="0" marL="0">
              <a:buNone/>
            </a:pPr>
            <a:r>
              <a:rPr lang="en-US" sz="2000" b="1" dirty="0">
                <a:solidFill>
                  <a:srgbClr val="10212A"/>
                </a:solidFill>
                <a:latin typeface="Cambria" pitchFamily="34" charset="0"/>
                <a:ea typeface="Cambria" pitchFamily="34" charset="-122"/>
                <a:cs typeface="Cambria" pitchFamily="34" charset="-120"/>
              </a:rPr>
              <a:t>Working with allies</a:t>
            </a:r>
            <a:endParaRPr lang="en-US" sz="2000" dirty="0"/>
          </a:p>
        </p:txBody>
      </p:sp>
      <p:sp>
        <p:nvSpPr>
          <p:cNvPr id="14" name="Text 12"/>
          <p:cNvSpPr txBox="1"/>
          <p:nvPr/>
        </p:nvSpPr>
        <p:spPr>
          <a:xfrm>
            <a:off x="4696968" y="2395728"/>
            <a:ext cx="2795016" cy="1005840"/>
          </a:xfrm>
          <a:prstGeom prst="rect">
            <a:avLst/>
          </a:prstGeom>
          <a:noFill/>
          <a:ln/>
        </p:spPr>
        <p:txBody>
          <a:bodyPr wrap="square" lIns="0" tIns="0" rIns="0" bIns="0" rtlCol="0" anchor="ctr"/>
          <a:lstStyle/>
          <a:p>
            <a:pPr indent="0" marL="0">
              <a:lnSpc>
                <a:spcPts val="1900"/>
              </a:lnSpc>
              <a:buNone/>
            </a:pPr>
            <a:r>
              <a:rPr lang="en-US" sz="1400" dirty="0">
                <a:solidFill>
                  <a:srgbClr val="35474F"/>
                </a:solidFill>
                <a:latin typeface="Calibri" pitchFamily="34" charset="0"/>
                <a:ea typeface="Calibri" pitchFamily="34" charset="-122"/>
                <a:cs typeface="Calibri" pitchFamily="34" charset="-120"/>
              </a:rPr>
              <a:t>One shared language for attacker behaviour. One incident, different briefs for different partners.</a:t>
            </a:r>
            <a:endParaRPr lang="en-US" sz="1400" dirty="0"/>
          </a:p>
        </p:txBody>
      </p:sp>
      <p:sp>
        <p:nvSpPr>
          <p:cNvPr id="15" name="Text 13"/>
          <p:cNvSpPr txBox="1"/>
          <p:nvPr/>
        </p:nvSpPr>
        <p:spPr>
          <a:xfrm>
            <a:off x="7784592" y="2286000"/>
            <a:ext cx="457200" cy="274320"/>
          </a:xfrm>
          <a:prstGeom prst="rect">
            <a:avLst/>
          </a:prstGeom>
          <a:noFill/>
          <a:ln/>
        </p:spPr>
        <p:txBody>
          <a:bodyPr wrap="square" lIns="0" tIns="0" rIns="0" bIns="0" rtlCol="0" anchor="ctr"/>
          <a:lstStyle/>
          <a:p>
            <a:pPr algn="ctr" indent="0" marL="0">
              <a:buNone/>
            </a:pPr>
            <a:r>
              <a:rPr lang="en-US" sz="2000" b="1" dirty="0">
                <a:solidFill>
                  <a:srgbClr val="B9C6C6"/>
                </a:solidFill>
                <a:latin typeface="Calibri" pitchFamily="34" charset="0"/>
                <a:ea typeface="Calibri" pitchFamily="34" charset="-122"/>
                <a:cs typeface="Calibri" pitchFamily="34" charset="-120"/>
              </a:rPr>
              <a:t>→</a:t>
            </a:r>
            <a:endParaRPr lang="en-US" sz="2000" dirty="0"/>
          </a:p>
        </p:txBody>
      </p:sp>
      <p:sp>
        <p:nvSpPr>
          <p:cNvPr id="16" name="Shape 14"/>
          <p:cNvSpPr/>
          <p:nvPr/>
        </p:nvSpPr>
        <p:spPr>
          <a:xfrm>
            <a:off x="8241792" y="1325880"/>
            <a:ext cx="3380232" cy="2240280"/>
          </a:xfrm>
          <a:prstGeom prst="roundRect">
            <a:avLst>
              <a:gd name="adj" fmla="val 2449"/>
            </a:avLst>
          </a:prstGeom>
          <a:solidFill>
            <a:srgbClr val="FFFFFF"/>
          </a:solidFill>
          <a:ln w="15875">
            <a:solidFill>
              <a:srgbClr val="DDE4E4"/>
            </a:solidFill>
            <a:prstDash val="solid"/>
          </a:ln>
        </p:spPr>
      </p:sp>
      <p:sp>
        <p:nvSpPr>
          <p:cNvPr id="17" name="Shape 15"/>
          <p:cNvSpPr/>
          <p:nvPr/>
        </p:nvSpPr>
        <p:spPr>
          <a:xfrm>
            <a:off x="8534400" y="1554480"/>
            <a:ext cx="1051560" cy="292608"/>
          </a:xfrm>
          <a:prstGeom prst="roundRect">
            <a:avLst>
              <a:gd name="adj" fmla="val 156250"/>
            </a:avLst>
          </a:prstGeom>
          <a:solidFill>
            <a:srgbClr val="D64545"/>
          </a:solidFill>
          <a:ln w="12700">
            <a:solidFill>
              <a:srgbClr val="D64545"/>
            </a:solidFill>
            <a:prstDash val="solid"/>
          </a:ln>
        </p:spPr>
      </p:sp>
      <p:sp>
        <p:nvSpPr>
          <p:cNvPr id="18" name="Text 16"/>
          <p:cNvSpPr txBox="1"/>
          <p:nvPr/>
        </p:nvSpPr>
        <p:spPr>
          <a:xfrm>
            <a:off x="8534400" y="1554480"/>
            <a:ext cx="1051560" cy="292608"/>
          </a:xfrm>
          <a:prstGeom prst="rect">
            <a:avLst/>
          </a:prstGeom>
          <a:noFill/>
          <a:ln/>
        </p:spPr>
        <p:txBody>
          <a:bodyPr wrap="square" lIns="0" tIns="0" rIns="0" bIns="0" rtlCol="0" anchor="ctr"/>
          <a:lstStyle/>
          <a:p>
            <a:pPr algn="ctr" indent="0" marL="0">
              <a:buNone/>
            </a:pPr>
            <a:r>
              <a:rPr lang="en-US" sz="1150" b="1" dirty="0">
                <a:solidFill>
                  <a:srgbClr val="FFFFFF"/>
                </a:solidFill>
                <a:latin typeface="Calibri" pitchFamily="34" charset="0"/>
                <a:ea typeface="Calibri" pitchFamily="34" charset="-122"/>
                <a:cs typeface="Calibri" pitchFamily="34" charset="-120"/>
              </a:rPr>
              <a:t>BEYOND</a:t>
            </a:r>
            <a:endParaRPr lang="en-US" sz="1150" dirty="0"/>
          </a:p>
        </p:txBody>
      </p:sp>
      <p:sp>
        <p:nvSpPr>
          <p:cNvPr id="19" name="Text 17"/>
          <p:cNvSpPr txBox="1"/>
          <p:nvPr/>
        </p:nvSpPr>
        <p:spPr>
          <a:xfrm>
            <a:off x="8534400" y="1975104"/>
            <a:ext cx="2795016" cy="365760"/>
          </a:xfrm>
          <a:prstGeom prst="rect">
            <a:avLst/>
          </a:prstGeom>
          <a:noFill/>
          <a:ln/>
        </p:spPr>
        <p:txBody>
          <a:bodyPr wrap="square" lIns="0" tIns="0" rIns="0" bIns="0" rtlCol="0" anchor="ctr"/>
          <a:lstStyle/>
          <a:p>
            <a:pPr indent="0" marL="0">
              <a:buNone/>
            </a:pPr>
            <a:r>
              <a:rPr lang="en-US" sz="2000" b="1" dirty="0">
                <a:solidFill>
                  <a:srgbClr val="10212A"/>
                </a:solidFill>
                <a:latin typeface="Cambria" pitchFamily="34" charset="0"/>
                <a:ea typeface="Cambria" pitchFamily="34" charset="-122"/>
                <a:cs typeface="Cambria" pitchFamily="34" charset="-120"/>
              </a:rPr>
              <a:t>Any control room</a:t>
            </a:r>
            <a:endParaRPr lang="en-US" sz="2000" dirty="0"/>
          </a:p>
        </p:txBody>
      </p:sp>
      <p:sp>
        <p:nvSpPr>
          <p:cNvPr id="20" name="Text 18"/>
          <p:cNvSpPr txBox="1"/>
          <p:nvPr/>
        </p:nvSpPr>
        <p:spPr>
          <a:xfrm>
            <a:off x="8534400" y="2395728"/>
            <a:ext cx="2795016" cy="1005840"/>
          </a:xfrm>
          <a:prstGeom prst="rect">
            <a:avLst/>
          </a:prstGeom>
          <a:noFill/>
          <a:ln/>
        </p:spPr>
        <p:txBody>
          <a:bodyPr wrap="square" lIns="0" tIns="0" rIns="0" bIns="0" rtlCol="0" anchor="ctr"/>
          <a:lstStyle/>
          <a:p>
            <a:pPr indent="0" marL="0">
              <a:lnSpc>
                <a:spcPts val="1900"/>
              </a:lnSpc>
              <a:buNone/>
            </a:pPr>
            <a:r>
              <a:rPr lang="en-US" sz="1400" dirty="0">
                <a:solidFill>
                  <a:srgbClr val="35474F"/>
                </a:solidFill>
                <a:latin typeface="Calibri" pitchFamily="34" charset="0"/>
                <a:ea typeface="Calibri" pitchFamily="34" charset="-122"/>
                <a:cs typeface="Calibri" pitchFamily="34" charset="-120"/>
              </a:rPr>
              <a:t>Ports, power grids, railways, borders, disaster response. Only the feed readers change.</a:t>
            </a:r>
            <a:endParaRPr lang="en-US" sz="1400" dirty="0"/>
          </a:p>
        </p:txBody>
      </p:sp>
      <p:sp>
        <p:nvSpPr>
          <p:cNvPr id="21" name="Text 19"/>
          <p:cNvSpPr txBox="1"/>
          <p:nvPr/>
        </p:nvSpPr>
        <p:spPr>
          <a:xfrm>
            <a:off x="566928" y="3749040"/>
            <a:ext cx="11055096" cy="274320"/>
          </a:xfrm>
          <a:prstGeom prst="rect">
            <a:avLst/>
          </a:prstGeom>
          <a:noFill/>
          <a:ln/>
        </p:spPr>
        <p:txBody>
          <a:bodyPr wrap="square" lIns="0" tIns="0" rIns="0" bIns="0" rtlCol="0" anchor="ctr"/>
          <a:lstStyle/>
          <a:p>
            <a:pPr indent="0" marL="0">
              <a:buNone/>
            </a:pPr>
            <a:r>
              <a:rPr lang="en-US" sz="1300" b="1" spc="120" kern="0" dirty="0">
                <a:solidFill>
                  <a:srgbClr val="3E8695"/>
                </a:solidFill>
                <a:latin typeface="Calibri" pitchFamily="34" charset="0"/>
                <a:ea typeface="Calibri" pitchFamily="34" charset="-122"/>
                <a:cs typeface="Calibri" pitchFamily="34" charset="-120"/>
              </a:rPr>
              <a:t>What has to stay true</a:t>
            </a:r>
            <a:endParaRPr lang="en-US" sz="1300" dirty="0"/>
          </a:p>
        </p:txBody>
      </p:sp>
      <p:sp>
        <p:nvSpPr>
          <p:cNvPr id="22" name="Text 20"/>
          <p:cNvSpPr txBox="1"/>
          <p:nvPr/>
        </p:nvSpPr>
        <p:spPr>
          <a:xfrm>
            <a:off x="566928" y="4041648"/>
            <a:ext cx="3380232" cy="274320"/>
          </a:xfrm>
          <a:prstGeom prst="rect">
            <a:avLst/>
          </a:prstGeom>
          <a:noFill/>
          <a:ln/>
        </p:spPr>
        <p:txBody>
          <a:bodyPr wrap="square" lIns="0" tIns="0" rIns="0" bIns="0" rtlCol="0" anchor="ctr"/>
          <a:lstStyle/>
          <a:p>
            <a:pPr indent="0" marL="0">
              <a:buNone/>
            </a:pPr>
            <a:r>
              <a:rPr lang="en-US" sz="1400" b="1" dirty="0">
                <a:solidFill>
                  <a:srgbClr val="10212A"/>
                </a:solidFill>
                <a:latin typeface="Calibri" pitchFamily="34" charset="0"/>
                <a:ea typeface="Calibri" pitchFamily="34" charset="-122"/>
                <a:cs typeface="Calibri" pitchFamily="34" charset="-120"/>
              </a:rPr>
              <a:t>Analysts can argue with it</a:t>
            </a:r>
            <a:endParaRPr lang="en-US" sz="1400" dirty="0"/>
          </a:p>
        </p:txBody>
      </p:sp>
      <p:sp>
        <p:nvSpPr>
          <p:cNvPr id="23" name="Text 21"/>
          <p:cNvSpPr txBox="1"/>
          <p:nvPr/>
        </p:nvSpPr>
        <p:spPr>
          <a:xfrm>
            <a:off x="566928" y="4334256"/>
            <a:ext cx="3197352" cy="548640"/>
          </a:xfrm>
          <a:prstGeom prst="rect">
            <a:avLst/>
          </a:prstGeom>
          <a:noFill/>
          <a:ln/>
        </p:spPr>
        <p:txBody>
          <a:bodyPr wrap="square" lIns="0" tIns="0" rIns="0" bIns="0" rtlCol="0" anchor="ctr"/>
          <a:lstStyle/>
          <a:p>
            <a:pPr indent="0" marL="0">
              <a:lnSpc>
                <a:spcPts val="1600"/>
              </a:lnSpc>
              <a:buNone/>
            </a:pPr>
            <a:r>
              <a:rPr lang="en-US" sz="1250" dirty="0">
                <a:solidFill>
                  <a:srgbClr val="35474F"/>
                </a:solidFill>
                <a:latin typeface="Calibri" pitchFamily="34" charset="0"/>
                <a:ea typeface="Calibri" pitchFamily="34" charset="-122"/>
                <a:cs typeface="Calibri" pitchFamily="34" charset="-120"/>
              </a:rPr>
              <a:t>Every score and every dismissal can be challenged and overturned.</a:t>
            </a:r>
            <a:endParaRPr lang="en-US" sz="1250" dirty="0"/>
          </a:p>
        </p:txBody>
      </p:sp>
      <p:sp>
        <p:nvSpPr>
          <p:cNvPr id="24" name="Text 22"/>
          <p:cNvSpPr txBox="1"/>
          <p:nvPr/>
        </p:nvSpPr>
        <p:spPr>
          <a:xfrm>
            <a:off x="4404360" y="4041648"/>
            <a:ext cx="3380232" cy="274320"/>
          </a:xfrm>
          <a:prstGeom prst="rect">
            <a:avLst/>
          </a:prstGeom>
          <a:noFill/>
          <a:ln/>
        </p:spPr>
        <p:txBody>
          <a:bodyPr wrap="square" lIns="0" tIns="0" rIns="0" bIns="0" rtlCol="0" anchor="ctr"/>
          <a:lstStyle/>
          <a:p>
            <a:pPr indent="0" marL="0">
              <a:buNone/>
            </a:pPr>
            <a:r>
              <a:rPr lang="en-US" sz="1400" b="1" dirty="0">
                <a:solidFill>
                  <a:srgbClr val="10212A"/>
                </a:solidFill>
                <a:latin typeface="Calibri" pitchFamily="34" charset="0"/>
                <a:ea typeface="Calibri" pitchFamily="34" charset="-122"/>
                <a:cs typeface="Calibri" pitchFamily="34" charset="-120"/>
              </a:rPr>
              <a:t>Adding a feed stays cheap</a:t>
            </a:r>
            <a:endParaRPr lang="en-US" sz="1400" dirty="0"/>
          </a:p>
        </p:txBody>
      </p:sp>
      <p:sp>
        <p:nvSpPr>
          <p:cNvPr id="25" name="Text 23"/>
          <p:cNvSpPr txBox="1"/>
          <p:nvPr/>
        </p:nvSpPr>
        <p:spPr>
          <a:xfrm>
            <a:off x="4404360" y="4334256"/>
            <a:ext cx="3197352" cy="548640"/>
          </a:xfrm>
          <a:prstGeom prst="rect">
            <a:avLst/>
          </a:prstGeom>
          <a:noFill/>
          <a:ln/>
        </p:spPr>
        <p:txBody>
          <a:bodyPr wrap="square" lIns="0" tIns="0" rIns="0" bIns="0" rtlCol="0" anchor="ctr"/>
          <a:lstStyle/>
          <a:p>
            <a:pPr indent="0" marL="0">
              <a:lnSpc>
                <a:spcPts val="1600"/>
              </a:lnSpc>
              <a:buNone/>
            </a:pPr>
            <a:r>
              <a:rPr lang="en-US" sz="1250" dirty="0">
                <a:solidFill>
                  <a:srgbClr val="35474F"/>
                </a:solidFill>
                <a:latin typeface="Calibri" pitchFamily="34" charset="0"/>
                <a:ea typeface="Calibri" pitchFamily="34" charset="-122"/>
                <a:cs typeface="Calibri" pitchFamily="34" charset="-120"/>
              </a:rPr>
              <a:t>One new source is one new reader.</a:t>
            </a:r>
            <a:endParaRPr lang="en-US" sz="1250" dirty="0"/>
          </a:p>
        </p:txBody>
      </p:sp>
      <p:sp>
        <p:nvSpPr>
          <p:cNvPr id="26" name="Text 24"/>
          <p:cNvSpPr txBox="1"/>
          <p:nvPr/>
        </p:nvSpPr>
        <p:spPr>
          <a:xfrm>
            <a:off x="8241792" y="4041648"/>
            <a:ext cx="3380232" cy="274320"/>
          </a:xfrm>
          <a:prstGeom prst="rect">
            <a:avLst/>
          </a:prstGeom>
          <a:noFill/>
          <a:ln/>
        </p:spPr>
        <p:txBody>
          <a:bodyPr wrap="square" lIns="0" tIns="0" rIns="0" bIns="0" rtlCol="0" anchor="ctr"/>
          <a:lstStyle/>
          <a:p>
            <a:pPr indent="0" marL="0">
              <a:buNone/>
            </a:pPr>
            <a:r>
              <a:rPr lang="en-US" sz="1400" b="1" dirty="0">
                <a:solidFill>
                  <a:srgbClr val="10212A"/>
                </a:solidFill>
                <a:latin typeface="Calibri" pitchFamily="34" charset="0"/>
                <a:ea typeface="Calibri" pitchFamily="34" charset="-122"/>
                <a:cs typeface="Calibri" pitchFamily="34" charset="-120"/>
              </a:rPr>
              <a:t>It can be certified</a:t>
            </a:r>
            <a:endParaRPr lang="en-US" sz="1400" dirty="0"/>
          </a:p>
        </p:txBody>
      </p:sp>
      <p:sp>
        <p:nvSpPr>
          <p:cNvPr id="27" name="Text 25"/>
          <p:cNvSpPr txBox="1"/>
          <p:nvPr/>
        </p:nvSpPr>
        <p:spPr>
          <a:xfrm>
            <a:off x="8241792" y="4334256"/>
            <a:ext cx="3197352" cy="548640"/>
          </a:xfrm>
          <a:prstGeom prst="rect">
            <a:avLst/>
          </a:prstGeom>
          <a:noFill/>
          <a:ln/>
        </p:spPr>
        <p:txBody>
          <a:bodyPr wrap="square" lIns="0" tIns="0" rIns="0" bIns="0" rtlCol="0" anchor="ctr"/>
          <a:lstStyle/>
          <a:p>
            <a:pPr indent="0" marL="0">
              <a:lnSpc>
                <a:spcPts val="1600"/>
              </a:lnSpc>
              <a:buNone/>
            </a:pPr>
            <a:r>
              <a:rPr lang="en-US" sz="1250" dirty="0">
                <a:solidFill>
                  <a:srgbClr val="35474F"/>
                </a:solidFill>
                <a:latin typeface="Calibri" pitchFamily="34" charset="0"/>
                <a:ea typeface="Calibri" pitchFamily="34" charset="-122"/>
                <a:cs typeface="Calibri" pitchFamily="34" charset="-120"/>
              </a:rPr>
              <a:t>Fixed rules and a full log are the price of running on a secure network.</a:t>
            </a:r>
            <a:endParaRPr lang="en-US" sz="1250" dirty="0"/>
          </a:p>
        </p:txBody>
      </p:sp>
      <p:sp>
        <p:nvSpPr>
          <p:cNvPr id="28" name="Text 26"/>
          <p:cNvSpPr txBox="1"/>
          <p:nvPr/>
        </p:nvSpPr>
        <p:spPr>
          <a:xfrm>
            <a:off x="566928" y="5029200"/>
            <a:ext cx="10058400" cy="594360"/>
          </a:xfrm>
          <a:prstGeom prst="rect">
            <a:avLst/>
          </a:prstGeom>
          <a:noFill/>
          <a:ln/>
        </p:spPr>
        <p:txBody>
          <a:bodyPr wrap="square" lIns="0" tIns="0" rIns="0" bIns="0" rtlCol="0" anchor="ctr"/>
          <a:lstStyle/>
          <a:p>
            <a:pPr indent="0" marL="0">
              <a:buNone/>
            </a:pPr>
            <a:r>
              <a:rPr lang="en-US" sz="3400" b="1" dirty="0">
                <a:solidFill>
                  <a:srgbClr val="10212A"/>
                </a:solidFill>
                <a:latin typeface="Cambria" pitchFamily="34" charset="0"/>
                <a:ea typeface="Cambria" pitchFamily="34" charset="-122"/>
                <a:cs typeface="Cambria" pitchFamily="34" charset="-120"/>
              </a:rPr>
              <a:t>4,812 alerts in. Six decisions out.</a:t>
            </a:r>
            <a:endParaRPr lang="en-US" sz="3400" dirty="0"/>
          </a:p>
        </p:txBody>
      </p:sp>
      <p:sp>
        <p:nvSpPr>
          <p:cNvPr id="29" name="Text 27"/>
          <p:cNvSpPr txBox="1"/>
          <p:nvPr/>
        </p:nvSpPr>
        <p:spPr>
          <a:xfrm>
            <a:off x="566928" y="5623560"/>
            <a:ext cx="10058400" cy="365760"/>
          </a:xfrm>
          <a:prstGeom prst="rect">
            <a:avLst/>
          </a:prstGeom>
          <a:noFill/>
          <a:ln/>
        </p:spPr>
        <p:txBody>
          <a:bodyPr wrap="square" lIns="0" tIns="0" rIns="0" bIns="0" rtlCol="0" anchor="ctr"/>
          <a:lstStyle/>
          <a:p>
            <a:pPr indent="0" marL="0">
              <a:buNone/>
            </a:pPr>
            <a:r>
              <a:rPr lang="en-US" sz="1800" i="1" dirty="0">
                <a:solidFill>
                  <a:srgbClr val="B5781F"/>
                </a:solidFill>
                <a:latin typeface="Cambria" pitchFamily="34" charset="0"/>
                <a:ea typeface="Cambria" pitchFamily="34" charset="-122"/>
                <a:cs typeface="Cambria" pitchFamily="34" charset="-120"/>
              </a:rPr>
              <a:t>And every one of them can be traced back to the alert that caused it.</a:t>
            </a:r>
            <a:endParaRPr lang="en-US" sz="1800" dirty="0"/>
          </a:p>
        </p:txBody>
      </p:sp>
      <p:sp>
        <p:nvSpPr>
          <p:cNvPr id="30" name="Text 28"/>
          <p:cNvSpPr txBox="1"/>
          <p:nvPr/>
        </p:nvSpPr>
        <p:spPr>
          <a:xfrm>
            <a:off x="566928" y="6144768"/>
            <a:ext cx="10058400" cy="274320"/>
          </a:xfrm>
          <a:prstGeom prst="rect">
            <a:avLst/>
          </a:prstGeom>
          <a:noFill/>
          <a:ln/>
        </p:spPr>
        <p:txBody>
          <a:bodyPr wrap="square" lIns="0" tIns="0" rIns="0" bIns="0" rtlCol="0" anchor="ctr"/>
          <a:lstStyle/>
          <a:p>
            <a:pPr indent="0" marL="0">
              <a:buNone/>
            </a:pPr>
            <a:r>
              <a:rPr lang="en-US" sz="1300" b="1" dirty="0">
                <a:solidFill>
                  <a:srgbClr val="3E8695"/>
                </a:solidFill>
                <a:latin typeface="Calibri" pitchFamily="34" charset="0"/>
                <a:ea typeface="Calibri" pitchFamily="34" charset="-122"/>
                <a:cs typeface="Calibri" pitchFamily="34" charset="-120"/>
              </a:rPr>
              <a:t>[ Team name  ·  members  ·  repository link ]</a:t>
            </a:r>
            <a:endParaRPr lang="en-US" sz="13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66928" y="2148840"/>
            <a:ext cx="8229600" cy="1005840"/>
          </a:xfrm>
          <a:prstGeom prst="rect">
            <a:avLst/>
          </a:prstGeom>
          <a:noFill/>
          <a:ln/>
        </p:spPr>
        <p:txBody>
          <a:bodyPr wrap="square" lIns="0" tIns="0" rIns="0" bIns="0" rtlCol="0" anchor="ctr"/>
          <a:lstStyle/>
          <a:p>
            <a:pPr indent="0" marL="0">
              <a:buNone/>
            </a:pPr>
            <a:r>
              <a:rPr lang="en-US" sz="6000" b="1" dirty="0">
                <a:solidFill>
                  <a:srgbClr val="10212A"/>
                </a:solidFill>
                <a:latin typeface="Cambria" pitchFamily="34" charset="0"/>
                <a:ea typeface="Cambria" pitchFamily="34" charset="-122"/>
                <a:cs typeface="Cambria" pitchFamily="34" charset="-120"/>
              </a:rPr>
              <a:t>Thank you</a:t>
            </a:r>
            <a:endParaRPr lang="en-US" sz="6000" dirty="0"/>
          </a:p>
        </p:txBody>
      </p:sp>
      <p:sp>
        <p:nvSpPr>
          <p:cNvPr id="3" name="Text 1"/>
          <p:cNvSpPr txBox="1"/>
          <p:nvPr/>
        </p:nvSpPr>
        <p:spPr>
          <a:xfrm>
            <a:off x="566928" y="3200400"/>
            <a:ext cx="8229600" cy="457200"/>
          </a:xfrm>
          <a:prstGeom prst="rect">
            <a:avLst/>
          </a:prstGeom>
          <a:noFill/>
          <a:ln/>
        </p:spPr>
        <p:txBody>
          <a:bodyPr wrap="square" lIns="0" tIns="0" rIns="0" bIns="0" rtlCol="0" anchor="ctr"/>
          <a:lstStyle/>
          <a:p>
            <a:pPr indent="0" marL="0">
              <a:buNone/>
            </a:pPr>
            <a:r>
              <a:rPr lang="en-US" sz="2000" i="1" dirty="0">
                <a:solidFill>
                  <a:srgbClr val="B5781F"/>
                </a:solidFill>
                <a:latin typeface="Cambria" pitchFamily="34" charset="0"/>
                <a:ea typeface="Cambria" pitchFamily="34" charset="-122"/>
                <a:cs typeface="Cambria" pitchFamily="34" charset="-120"/>
              </a:rPr>
              <a:t>Questions welcome — including the hard ones about the scoring.</a:t>
            </a:r>
            <a:endParaRPr lang="en-US" sz="2000" dirty="0"/>
          </a:p>
        </p:txBody>
      </p:sp>
      <p:sp>
        <p:nvSpPr>
          <p:cNvPr id="4" name="Shape 2"/>
          <p:cNvSpPr/>
          <p:nvPr/>
        </p:nvSpPr>
        <p:spPr>
          <a:xfrm>
            <a:off x="566928" y="3977640"/>
            <a:ext cx="6766560" cy="1508760"/>
          </a:xfrm>
          <a:prstGeom prst="roundRect">
            <a:avLst>
              <a:gd name="adj" fmla="val 3636"/>
            </a:avLst>
          </a:prstGeom>
          <a:solidFill>
            <a:srgbClr val="FFFFFF"/>
          </a:solidFill>
          <a:ln w="15875">
            <a:solidFill>
              <a:srgbClr val="DDE4E4"/>
            </a:solidFill>
            <a:prstDash val="solid"/>
          </a:ln>
        </p:spPr>
      </p:sp>
      <p:sp>
        <p:nvSpPr>
          <p:cNvPr id="5" name="Text 3"/>
          <p:cNvSpPr txBox="1"/>
          <p:nvPr/>
        </p:nvSpPr>
        <p:spPr>
          <a:xfrm>
            <a:off x="932688" y="4160520"/>
            <a:ext cx="6035040" cy="274320"/>
          </a:xfrm>
          <a:prstGeom prst="rect">
            <a:avLst/>
          </a:prstGeom>
          <a:noFill/>
          <a:ln/>
        </p:spPr>
        <p:txBody>
          <a:bodyPr wrap="square" lIns="0" tIns="0" rIns="0" bIns="0" rtlCol="0" anchor="ctr"/>
          <a:lstStyle/>
          <a:p>
            <a:pPr indent="0" marL="0">
              <a:buNone/>
            </a:pPr>
            <a:r>
              <a:rPr lang="en-US" sz="1300" b="1" spc="120" kern="0" dirty="0">
                <a:solidFill>
                  <a:srgbClr val="B5781F"/>
                </a:solidFill>
                <a:latin typeface="Calibri" pitchFamily="34" charset="0"/>
                <a:ea typeface="Calibri" pitchFamily="34" charset="-122"/>
                <a:cs typeface="Calibri" pitchFamily="34" charset="-120"/>
              </a:rPr>
              <a:t>TEAM [TEAM NAME]</a:t>
            </a:r>
            <a:endParaRPr lang="en-US" sz="1300" dirty="0"/>
          </a:p>
        </p:txBody>
      </p:sp>
      <p:sp>
        <p:nvSpPr>
          <p:cNvPr id="6" name="Text 4"/>
          <p:cNvSpPr txBox="1"/>
          <p:nvPr/>
        </p:nvSpPr>
        <p:spPr>
          <a:xfrm>
            <a:off x="932688" y="4480560"/>
            <a:ext cx="6035040" cy="274320"/>
          </a:xfrm>
          <a:prstGeom prst="rect">
            <a:avLst/>
          </a:prstGeom>
          <a:noFill/>
          <a:ln/>
        </p:spPr>
        <p:txBody>
          <a:bodyPr wrap="square" lIns="0" tIns="0" rIns="0" bIns="0" rtlCol="0" anchor="ctr"/>
          <a:lstStyle/>
          <a:p>
            <a:pPr indent="0" marL="0">
              <a:buNone/>
            </a:pPr>
            <a:r>
              <a:rPr lang="en-US" sz="1400" dirty="0">
                <a:solidFill>
                  <a:srgbClr val="10212A"/>
                </a:solidFill>
                <a:latin typeface="Calibri" pitchFamily="34" charset="0"/>
                <a:ea typeface="Calibri" pitchFamily="34" charset="-122"/>
                <a:cs typeface="Calibri" pitchFamily="34" charset="-120"/>
              </a:rPr>
              <a:t>[Member 1]  ·  [Member 2]  ·  [Member 3]  ·  [Member 4]</a:t>
            </a:r>
            <a:endParaRPr lang="en-US" sz="1400" dirty="0"/>
          </a:p>
        </p:txBody>
      </p:sp>
      <p:sp>
        <p:nvSpPr>
          <p:cNvPr id="7" name="Text 5"/>
          <p:cNvSpPr txBox="1"/>
          <p:nvPr/>
        </p:nvSpPr>
        <p:spPr>
          <a:xfrm>
            <a:off x="932688" y="4846320"/>
            <a:ext cx="6035040" cy="274320"/>
          </a:xfrm>
          <a:prstGeom prst="rect">
            <a:avLst/>
          </a:prstGeom>
          <a:noFill/>
          <a:ln/>
        </p:spPr>
        <p:txBody>
          <a:bodyPr wrap="square" lIns="0" tIns="0" rIns="0" bIns="0" rtlCol="0" anchor="ctr"/>
          <a:lstStyle/>
          <a:p>
            <a:pPr indent="0" marL="0">
              <a:buNone/>
            </a:pPr>
            <a:r>
              <a:rPr lang="en-US" sz="1300" dirty="0">
                <a:solidFill>
                  <a:srgbClr val="3E8695"/>
                </a:solidFill>
                <a:latin typeface="Courier New" pitchFamily="34" charset="0"/>
                <a:ea typeface="Courier New" pitchFamily="34" charset="-122"/>
                <a:cs typeface="Courier New" pitchFamily="34" charset="-120"/>
              </a:rPr>
              <a:t>github.com/[org]/clarion</a:t>
            </a:r>
            <a:endParaRPr lang="en-US" sz="1300" dirty="0"/>
          </a:p>
        </p:txBody>
      </p:sp>
      <p:sp>
        <p:nvSpPr>
          <p:cNvPr id="8" name="Text 6"/>
          <p:cNvSpPr txBox="1"/>
          <p:nvPr/>
        </p:nvSpPr>
        <p:spPr>
          <a:xfrm>
            <a:off x="7680960" y="3977640"/>
            <a:ext cx="1097280" cy="457200"/>
          </a:xfrm>
          <a:prstGeom prst="rect">
            <a:avLst/>
          </a:prstGeom>
          <a:noFill/>
          <a:ln/>
        </p:spPr>
        <p:txBody>
          <a:bodyPr wrap="square" lIns="0" tIns="0" rIns="0" bIns="0" rtlCol="0" anchor="ctr"/>
          <a:lstStyle/>
          <a:p>
            <a:pPr algn="r" indent="0" marL="0">
              <a:buNone/>
            </a:pPr>
            <a:r>
              <a:rPr lang="en-US" sz="3000" b="1" dirty="0">
                <a:solidFill>
                  <a:srgbClr val="3E8695"/>
                </a:solidFill>
                <a:latin typeface="Cambria" pitchFamily="34" charset="0"/>
                <a:ea typeface="Cambria" pitchFamily="34" charset="-122"/>
                <a:cs typeface="Cambria" pitchFamily="34" charset="-120"/>
              </a:rPr>
              <a:t>6</a:t>
            </a:r>
            <a:endParaRPr lang="en-US" sz="3000" dirty="0"/>
          </a:p>
        </p:txBody>
      </p:sp>
      <p:sp>
        <p:nvSpPr>
          <p:cNvPr id="9" name="Text 7"/>
          <p:cNvSpPr txBox="1"/>
          <p:nvPr/>
        </p:nvSpPr>
        <p:spPr>
          <a:xfrm>
            <a:off x="8915400" y="4069080"/>
            <a:ext cx="2194560" cy="310896"/>
          </a:xfrm>
          <a:prstGeom prst="rect">
            <a:avLst/>
          </a:prstGeom>
          <a:noFill/>
          <a:ln/>
        </p:spPr>
        <p:txBody>
          <a:bodyPr wrap="square" lIns="0" tIns="0" rIns="0" bIns="0" rtlCol="0" anchor="ctr"/>
          <a:lstStyle/>
          <a:p>
            <a:pPr indent="0" marL="0">
              <a:buNone/>
            </a:pPr>
            <a:r>
              <a:rPr lang="en-US" sz="1300" dirty="0">
                <a:solidFill>
                  <a:srgbClr val="35474F"/>
                </a:solidFill>
                <a:latin typeface="Calibri" pitchFamily="34" charset="0"/>
                <a:ea typeface="Calibri" pitchFamily="34" charset="-122"/>
                <a:cs typeface="Calibri" pitchFamily="34" charset="-120"/>
              </a:rPr>
              <a:t>feeds fused</a:t>
            </a:r>
            <a:endParaRPr lang="en-US" sz="1300" dirty="0"/>
          </a:p>
        </p:txBody>
      </p:sp>
      <p:sp>
        <p:nvSpPr>
          <p:cNvPr id="10" name="Text 8"/>
          <p:cNvSpPr txBox="1"/>
          <p:nvPr/>
        </p:nvSpPr>
        <p:spPr>
          <a:xfrm>
            <a:off x="7680960" y="4507992"/>
            <a:ext cx="1097280" cy="457200"/>
          </a:xfrm>
          <a:prstGeom prst="rect">
            <a:avLst/>
          </a:prstGeom>
          <a:noFill/>
          <a:ln/>
        </p:spPr>
        <p:txBody>
          <a:bodyPr wrap="square" lIns="0" tIns="0" rIns="0" bIns="0" rtlCol="0" anchor="ctr"/>
          <a:lstStyle/>
          <a:p>
            <a:pPr algn="r" indent="0" marL="0">
              <a:buNone/>
            </a:pPr>
            <a:r>
              <a:rPr lang="en-US" sz="3000" b="1" dirty="0">
                <a:solidFill>
                  <a:srgbClr val="B5781F"/>
                </a:solidFill>
                <a:latin typeface="Cambria" pitchFamily="34" charset="0"/>
                <a:ea typeface="Cambria" pitchFamily="34" charset="-122"/>
                <a:cs typeface="Cambria" pitchFamily="34" charset="-120"/>
              </a:rPr>
              <a:t>34</a:t>
            </a:r>
            <a:endParaRPr lang="en-US" sz="3000" dirty="0"/>
          </a:p>
        </p:txBody>
      </p:sp>
      <p:sp>
        <p:nvSpPr>
          <p:cNvPr id="11" name="Text 9"/>
          <p:cNvSpPr txBox="1"/>
          <p:nvPr/>
        </p:nvSpPr>
        <p:spPr>
          <a:xfrm>
            <a:off x="8915400" y="4599432"/>
            <a:ext cx="2194560" cy="310896"/>
          </a:xfrm>
          <a:prstGeom prst="rect">
            <a:avLst/>
          </a:prstGeom>
          <a:noFill/>
          <a:ln/>
        </p:spPr>
        <p:txBody>
          <a:bodyPr wrap="square" lIns="0" tIns="0" rIns="0" bIns="0" rtlCol="0" anchor="ctr"/>
          <a:lstStyle/>
          <a:p>
            <a:pPr indent="0" marL="0">
              <a:buNone/>
            </a:pPr>
            <a:r>
              <a:rPr lang="en-US" sz="1300" dirty="0">
                <a:solidFill>
                  <a:srgbClr val="35474F"/>
                </a:solidFill>
                <a:latin typeface="Calibri" pitchFamily="34" charset="0"/>
                <a:ea typeface="Calibri" pitchFamily="34" charset="-122"/>
                <a:cs typeface="Calibri" pitchFamily="34" charset="-120"/>
              </a:rPr>
              <a:t>incidents found</a:t>
            </a:r>
            <a:endParaRPr lang="en-US" sz="1300" dirty="0"/>
          </a:p>
        </p:txBody>
      </p:sp>
      <p:sp>
        <p:nvSpPr>
          <p:cNvPr id="12" name="Text 10"/>
          <p:cNvSpPr txBox="1"/>
          <p:nvPr/>
        </p:nvSpPr>
        <p:spPr>
          <a:xfrm>
            <a:off x="7680960" y="5038344"/>
            <a:ext cx="1097280" cy="457200"/>
          </a:xfrm>
          <a:prstGeom prst="rect">
            <a:avLst/>
          </a:prstGeom>
          <a:noFill/>
          <a:ln/>
        </p:spPr>
        <p:txBody>
          <a:bodyPr wrap="square" lIns="0" tIns="0" rIns="0" bIns="0" rtlCol="0" anchor="ctr"/>
          <a:lstStyle/>
          <a:p>
            <a:pPr algn="r" indent="0" marL="0">
              <a:buNone/>
            </a:pPr>
            <a:r>
              <a:rPr lang="en-US" sz="3000" b="1" dirty="0">
                <a:solidFill>
                  <a:srgbClr val="D64545"/>
                </a:solidFill>
                <a:latin typeface="Cambria" pitchFamily="34" charset="0"/>
                <a:ea typeface="Cambria" pitchFamily="34" charset="-122"/>
                <a:cs typeface="Cambria" pitchFamily="34" charset="-120"/>
              </a:rPr>
              <a:t>6</a:t>
            </a:r>
            <a:endParaRPr lang="en-US" sz="3000" dirty="0"/>
          </a:p>
        </p:txBody>
      </p:sp>
      <p:sp>
        <p:nvSpPr>
          <p:cNvPr id="13" name="Text 11"/>
          <p:cNvSpPr txBox="1"/>
          <p:nvPr/>
        </p:nvSpPr>
        <p:spPr>
          <a:xfrm>
            <a:off x="8915400" y="5129784"/>
            <a:ext cx="2194560" cy="310896"/>
          </a:xfrm>
          <a:prstGeom prst="rect">
            <a:avLst/>
          </a:prstGeom>
          <a:noFill/>
          <a:ln/>
        </p:spPr>
        <p:txBody>
          <a:bodyPr wrap="square" lIns="0" tIns="0" rIns="0" bIns="0" rtlCol="0" anchor="ctr"/>
          <a:lstStyle/>
          <a:p>
            <a:pPr indent="0" marL="0">
              <a:buNone/>
            </a:pPr>
            <a:r>
              <a:rPr lang="en-US" sz="1300" dirty="0">
                <a:solidFill>
                  <a:srgbClr val="35474F"/>
                </a:solidFill>
                <a:latin typeface="Calibri" pitchFamily="34" charset="0"/>
                <a:ea typeface="Calibri" pitchFamily="34" charset="-122"/>
                <a:cs typeface="Calibri" pitchFamily="34" charset="-120"/>
              </a:rPr>
              <a:t>need a decision</a:t>
            </a:r>
            <a:endParaRPr lang="en-US" sz="1300" dirty="0"/>
          </a:p>
        </p:txBody>
      </p:sp>
      <p:sp>
        <p:nvSpPr>
          <p:cNvPr id="14" name="Text 12"/>
          <p:cNvSpPr txBox="1"/>
          <p:nvPr/>
        </p:nvSpPr>
        <p:spPr>
          <a:xfrm>
            <a:off x="566928" y="5806440"/>
            <a:ext cx="10972800" cy="274320"/>
          </a:xfrm>
          <a:prstGeom prst="rect">
            <a:avLst/>
          </a:prstGeom>
          <a:noFill/>
          <a:ln/>
        </p:spPr>
        <p:txBody>
          <a:bodyPr wrap="square" lIns="0" tIns="0" rIns="0" bIns="0" rtlCol="0" anchor="ctr"/>
          <a:lstStyle/>
          <a:p>
            <a:pPr indent="0" marL="0">
              <a:buNone/>
            </a:pPr>
            <a:r>
              <a:rPr lang="en-US" sz="1200" dirty="0">
                <a:solidFill>
                  <a:srgbClr val="6A8087"/>
                </a:solidFill>
                <a:latin typeface="Calibri" pitchFamily="34" charset="0"/>
                <a:ea typeface="Calibri" pitchFamily="34" charset="-122"/>
                <a:cs typeface="Calibri" pitchFamily="34" charset="-120"/>
              </a:rPr>
              <a:t>CLARION  ·  Challenge D2  ·  Built with IBM Bob, watsonx.ai (Granite) and watsonx Orchestrate</a:t>
            </a:r>
            <a:endParaRPr lang="en-US" sz="12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8</Slides>
  <Notes>8</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8</vt:i4>
      </vt:variant>
    </vt:vector>
  </HeadingPairs>
  <TitlesOfParts>
    <vt:vector size="11" baseType="lpstr">
      <vt:lpstr>Arial</vt:lpstr>
      <vt:lpstr>Calibri</vt:lpstr>
      <vt:lpstr>Office Theme</vt:lpstr>
      <vt:lpstr>Slide 1</vt:lpstr>
      <vt:lpstr>Slide 2</vt:lpstr>
      <vt:lpstr>Slide 3</vt:lpstr>
      <vt:lpstr>Slide 4</vt:lpstr>
      <vt:lpstr>Slide 5</vt:lpstr>
      <vt:lpstr>Slide 6</vt:lpstr>
      <vt:lpstr>Slide 7</vt:lpstr>
      <vt:lpstr>Slide 8</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CLARION — Threat Intelligence Correlation &amp; Alert Prioritisation</dc:title>
  <dc:subject>PptxGenJS Presentation</dc:subject>
  <dc:creator>CLARION</dc:creator>
  <cp:lastModifiedBy>CLARION</cp:lastModifiedBy>
  <cp:revision>1</cp:revision>
  <dcterms:created xsi:type="dcterms:W3CDTF">2026-09-14T16:01:08Z</dcterms:created>
  <dcterms:modified xsi:type="dcterms:W3CDTF">2026-09-14T16:01:08Z</dcterms:modified>
</cp:coreProperties>
</file>